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presProps" Target="presProps.xml" /><Relationship Id="rId25" Type="http://schemas.openxmlformats.org/officeDocument/2006/relationships/tableStyles" Target="tableStyles.xml" /><Relationship Id="rId2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068341867"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06995899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693112749"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751344443"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7035213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00370543"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8484376" name="Slide Image Placeholder 1"/>
          <p:cNvSpPr>
            <a:spLocks noChangeAspect="1" noGrp="1" noRot="1"/>
          </p:cNvSpPr>
          <p:nvPr>
            <p:ph type="sldImg"/>
          </p:nvPr>
        </p:nvSpPr>
        <p:spPr bwMode="auto"/>
      </p:sp>
      <p:sp>
        <p:nvSpPr>
          <p:cNvPr id="129845924" name="Notes Placeholder 2"/>
          <p:cNvSpPr>
            <a:spLocks noGrp="1"/>
          </p:cNvSpPr>
          <p:nvPr>
            <p:ph type="body" idx="1"/>
          </p:nvPr>
        </p:nvSpPr>
        <p:spPr bwMode="auto"/>
        <p:txBody>
          <a:bodyPr/>
          <a:lstStyle/>
          <a:p>
            <a:pPr>
              <a:defRPr/>
            </a:pPr>
            <a:r>
              <a:rPr/>
              <a:t>[PHẦN MỞ ĐẦU - TỔNG QUAN ĐỀ TÀI]</a:t>
            </a:r>
            <a:endParaRPr/>
          </a:p>
          <a:p>
            <a:pPr>
              <a:defRPr/>
            </a:pPr>
            <a:r>
              <a:rPr/>
              <a:t>- Nhóm WNC.G01 xin chào thầy và các bạn.</a:t>
            </a:r>
            <a:endParaRPr/>
          </a:p>
          <a:p>
            <a:pPr>
              <a:defRPr/>
            </a:pPr>
            <a:r>
              <a:rPr/>
              <a:t>- Báo cáo thực nghiệm chuyên đề an toàn ứng dụng Web (OWASP Top 10) gắn liền trực tiếp với bài toán đề tài BTL: "Website cung cấp dịch vụ tư vấn trực tuyến".</a:t>
            </a:r>
            <a:endParaRPr/>
          </a:p>
          <a:p>
            <a:pPr>
              <a:defRPr/>
            </a:pPr>
            <a:r>
              <a:rPr/>
              <a:t>- Hệ thống phân định 3 bề mặt nguy cơ trọng yếu:</a:t>
            </a:r>
            <a:endParaRPr/>
          </a:p>
          <a:p>
            <a:pPr>
              <a:defRPr/>
            </a:pPr>
            <a:r>
              <a:rPr/>
              <a:t>  1. Tầng CSDL (Database Engine): Nguy cơ SQL Injection khi đăng nhập/truy vấn. Phụ trách: Nguyễn Danh Học.</a:t>
            </a:r>
            <a:endParaRPr/>
          </a:p>
          <a:p>
            <a:pPr>
              <a:defRPr/>
            </a:pPr>
            <a:r>
              <a:rPr/>
              <a:t>  2. Tầng Trình duyệt (Client DOM &amp; Cookie): Nguy cơ Stored XSS trong chức năng nhận xét/đánh giá chuyên gia. Phụ trách: Nguyễn Thanh Bình.</a:t>
            </a:r>
            <a:endParaRPr/>
          </a:p>
          <a:p>
            <a:pPr>
              <a:defRPr/>
            </a:pPr>
            <a:r>
              <a:rPr/>
              <a:t>  3. Tầng Ứng dụng &amp; Giao dịch (Web Server &amp; Session): Nguy cơ CSRF trong chức năng chuyển tiền ví &amp; đặt lịch tư vấn trực tuyến. Phụ trách: Nguyễn Minh Cường.</a:t>
            </a:r>
            <a:endParaRPr/>
          </a:p>
        </p:txBody>
      </p:sp>
      <p:sp>
        <p:nvSpPr>
          <p:cNvPr id="481847510" name="Slide Number Placeholder 3"/>
          <p:cNvSpPr>
            <a:spLocks noGrp="1"/>
          </p:cNvSpPr>
          <p:nvPr>
            <p:ph type="sldNum" sz="quarter" idx="10"/>
          </p:nvPr>
        </p:nvSpPr>
        <p:spPr bwMode="auto"/>
        <p:txBody>
          <a:bodyPr/>
          <a:lstStyle/>
          <a:p>
            <a:pPr>
              <a:defRPr/>
            </a:pPr>
            <a:fld id="{28198F09-80BB-6638-4964-5F18AEFD24A9}"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451202" name="Slide Image Placeholder 1"/>
          <p:cNvSpPr>
            <a:spLocks noChangeAspect="1" noGrp="1" noRot="1"/>
          </p:cNvSpPr>
          <p:nvPr>
            <p:ph type="sldImg"/>
          </p:nvPr>
        </p:nvSpPr>
        <p:spPr bwMode="auto"/>
      </p:sp>
      <p:sp>
        <p:nvSpPr>
          <p:cNvPr id="996725615" name="Notes Placeholder 2"/>
          <p:cNvSpPr>
            <a:spLocks noGrp="1"/>
          </p:cNvSpPr>
          <p:nvPr>
            <p:ph type="body" idx="1"/>
          </p:nvPr>
        </p:nvSpPr>
        <p:spPr bwMode="auto"/>
        <p:txBody>
          <a:bodyPr/>
          <a:lstStyle/>
          <a:p>
            <a:pPr>
              <a:defRPr/>
            </a:pPr>
            <a:r>
              <a:rPr/>
              <a:t>[BỐI CẢNH &amp; MÔI TRƯỜNG THỰC NGHIỆM]</a:t>
            </a:r>
            <a:endParaRPr/>
          </a:p>
          <a:p>
            <a:pPr>
              <a:defRPr/>
            </a:pPr>
            <a:r>
              <a:rPr/>
              <a:t>- Môi trường kỹ thuật: Linux Ubuntu 24.04 LTS, máy chủ CSDL Microsoft SQL Server 2025 Developer kết nối qua EF Core 10.0 Code-First, giao diện Razor View Engine.</a:t>
            </a:r>
            <a:endParaRPr/>
          </a:p>
          <a:p>
            <a:pPr>
              <a:defRPr/>
            </a:pPr>
            <a:r>
              <a:rPr/>
              <a:t>- Lab Scope: Thực nghiệm hoàn toàn khép kín trên ứng dụng do nhóm tự xây dựng (http://localhost:5076).</a:t>
            </a:r>
            <a:endParaRPr/>
          </a:p>
          <a:p>
            <a:pPr>
              <a:defRPr/>
            </a:pPr>
            <a:r>
              <a:rPr/>
              <a:t>- Mọi dữ liệu tài khoản, số dư ví và bình luận đều là dữ liệu giả lập có kiểm soát nhằm chứng minh tính rủi ro và hiệu quả của các biện pháp phòng vệ.</a:t>
            </a:r>
            <a:endParaRPr/>
          </a:p>
        </p:txBody>
      </p:sp>
      <p:sp>
        <p:nvSpPr>
          <p:cNvPr id="2064796700" name="Slide Number Placeholder 3"/>
          <p:cNvSpPr>
            <a:spLocks noGrp="1"/>
          </p:cNvSpPr>
          <p:nvPr>
            <p:ph type="sldNum" sz="quarter" idx="10"/>
          </p:nvPr>
        </p:nvSpPr>
        <p:spPr bwMode="auto"/>
        <p:txBody>
          <a:bodyPr/>
          <a:lstStyle/>
          <a:p>
            <a:pPr>
              <a:defRPr/>
            </a:pPr>
            <a:fld id="{7FC1AD92-A823-B423-5B82-E7CE91506C7B}"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9447980" name="Slide Image Placeholder 1"/>
          <p:cNvSpPr>
            <a:spLocks noChangeAspect="1" noGrp="1" noRot="1"/>
          </p:cNvSpPr>
          <p:nvPr>
            <p:ph type="sldImg"/>
          </p:nvPr>
        </p:nvSpPr>
        <p:spPr bwMode="auto"/>
      </p:sp>
      <p:sp>
        <p:nvSpPr>
          <p:cNvPr id="26742220" name="Notes Placeholder 2"/>
          <p:cNvSpPr>
            <a:spLocks noGrp="1"/>
          </p:cNvSpPr>
          <p:nvPr>
            <p:ph type="body" idx="1"/>
          </p:nvPr>
        </p:nvSpPr>
        <p:spPr bwMode="auto"/>
        <p:txBody>
          <a:bodyPr/>
          <a:lstStyle/>
          <a:p>
            <a:pPr>
              <a:defRPr/>
            </a:pPr>
            <a:r>
              <a:rPr/>
              <a:t>[CHỦ ĐỀ 1 - SQL INJECTION: BẢN CHẤT LỖ HỔNG (HỌC)]</a:t>
            </a:r>
            <a:endParaRPr/>
          </a:p>
          <a:p>
            <a:pPr>
              <a:defRPr/>
            </a:pPr>
            <a:r>
              <a:rPr/>
              <a:t>- Lỗi xảy ra ở đâu trong BTL: Chức năng Đăng nhập hệ thống (cho cả 3 Role: Customer, Specialist, Admin).</a:t>
            </a:r>
            <a:endParaRPr/>
          </a:p>
          <a:p>
            <a:pPr>
              <a:defRPr/>
            </a:pPr>
            <a:r>
              <a:rPr/>
              <a:t>- Luồng dữ liệu: Input từ trình duyệt -&gt; Controller nhận tham số -&gt; Ghép chuỗi SQL thô bằng string interpolation -&gt; SQL Server 2025 thực thi.</a:t>
            </a:r>
            <a:endParaRPr/>
          </a:p>
          <a:p>
            <a:pPr>
              <a:defRPr/>
            </a:pPr>
            <a:r>
              <a:rPr/>
              <a:t>- Root Cause: Dữ liệu người dùng không được phân tách ranh giới với cú pháp lệnh (Data vs Code). Ký tự nháy đơn (') đóng chuỗi sớm, biến vế mật khẩu thành chú thích (--).</a:t>
            </a:r>
            <a:endParaRPr/>
          </a:p>
        </p:txBody>
      </p:sp>
      <p:sp>
        <p:nvSpPr>
          <p:cNvPr id="127515470" name="Slide Number Placeholder 3"/>
          <p:cNvSpPr>
            <a:spLocks noGrp="1"/>
          </p:cNvSpPr>
          <p:nvPr>
            <p:ph type="sldNum" sz="quarter" idx="10"/>
          </p:nvPr>
        </p:nvSpPr>
        <p:spPr bwMode="auto"/>
        <p:txBody>
          <a:bodyPr/>
          <a:lstStyle/>
          <a:p>
            <a:pPr>
              <a:defRPr/>
            </a:pPr>
            <a:fld id="{FCAECD7C-59C7-00B9-0818-83A020BF820A}"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749338" name="Slide Image Placeholder 1"/>
          <p:cNvSpPr>
            <a:spLocks noChangeAspect="1" noGrp="1" noRot="1"/>
          </p:cNvSpPr>
          <p:nvPr>
            <p:ph type="sldImg"/>
          </p:nvPr>
        </p:nvSpPr>
        <p:spPr bwMode="auto"/>
      </p:sp>
      <p:sp>
        <p:nvSpPr>
          <p:cNvPr id="1312833336" name="Notes Placeholder 2"/>
          <p:cNvSpPr>
            <a:spLocks noGrp="1"/>
          </p:cNvSpPr>
          <p:nvPr>
            <p:ph type="body" idx="1"/>
          </p:nvPr>
        </p:nvSpPr>
        <p:spPr bwMode="auto"/>
        <p:txBody>
          <a:bodyPr/>
          <a:lstStyle/>
          <a:p>
            <a:pPr>
              <a:defRPr/>
            </a:pPr>
            <a:r>
              <a:rPr/>
              <a:t>[CHỦ ĐỀ 1 - SQL INJECTION: 3 KỊCH BẢN KHAI THÁC (HỌC)]</a:t>
            </a:r>
            <a:endParaRPr/>
          </a:p>
          <a:p>
            <a:pPr>
              <a:defRPr/>
            </a:pPr>
            <a:r>
              <a:rPr/>
              <a:t>- Kịch bản 1 (' OR '1'='1' --): Bypass tổng quát, mệnh đề OR 1=1 luôn đúng với mọi bản ghi, đăng nhập vào tài khoản đầu tiên (Admin).</a:t>
            </a:r>
            <a:endParaRPr/>
          </a:p>
          <a:p>
            <a:pPr>
              <a:defRPr/>
            </a:pPr>
            <a:r>
              <a:rPr/>
              <a:t>- Kịch bản 2 (admin' --): Tấn công có chủ đích (Targeted Attack), chỉ định đích danh tài khoản Admin, bỏ qua hoàn toàn bước kiểm tra mật khẩu.</a:t>
            </a:r>
            <a:endParaRPr/>
          </a:p>
          <a:p>
            <a:pPr>
              <a:defRPr/>
            </a:pPr>
            <a:r>
              <a:rPr/>
              <a:t>- Kịch bản 3 (admin / AdminPassword@2026): Kịch bản chuẩn đối chứng, chứng minh cả 2 nhánh (Lỗi và Phòng thủ) đều xác thực đúng khi người dùng nhập dữ liệu chuẩn.</a:t>
            </a:r>
            <a:endParaRPr/>
          </a:p>
        </p:txBody>
      </p:sp>
      <p:sp>
        <p:nvSpPr>
          <p:cNvPr id="1498312064" name="Slide Number Placeholder 3"/>
          <p:cNvSpPr>
            <a:spLocks noGrp="1"/>
          </p:cNvSpPr>
          <p:nvPr>
            <p:ph type="sldNum" sz="quarter" idx="10"/>
          </p:nvPr>
        </p:nvSpPr>
        <p:spPr bwMode="auto"/>
        <p:txBody>
          <a:bodyPr/>
          <a:lstStyle/>
          <a:p>
            <a:pPr>
              <a:defRPr/>
            </a:pPr>
            <a:fld id="{B3A50569-7F0D-48C8-1367-025AB68BBA3E}"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2450716" name="Slide Image Placeholder 1"/>
          <p:cNvSpPr>
            <a:spLocks noChangeAspect="1" noGrp="1" noRot="1"/>
          </p:cNvSpPr>
          <p:nvPr>
            <p:ph type="sldImg"/>
          </p:nvPr>
        </p:nvSpPr>
        <p:spPr bwMode="auto"/>
      </p:sp>
      <p:sp>
        <p:nvSpPr>
          <p:cNvPr id="1482275297" name="Notes Placeholder 2"/>
          <p:cNvSpPr>
            <a:spLocks noGrp="1"/>
          </p:cNvSpPr>
          <p:nvPr>
            <p:ph type="body" idx="1"/>
          </p:nvPr>
        </p:nvSpPr>
        <p:spPr bwMode="auto"/>
        <p:txBody>
          <a:bodyPr/>
          <a:lstStyle/>
          <a:p>
            <a:pPr>
              <a:defRPr/>
            </a:pPr>
            <a:r>
              <a:rPr/>
              <a:t>[CHỦ ĐỀ 1 - SQL INJECTION: MINH CHỨNG WEB UI (HỌC)]</a:t>
            </a:r>
            <a:endParaRPr/>
          </a:p>
          <a:p>
            <a:pPr>
              <a:defRPr/>
            </a:pPr>
            <a:r>
              <a:rPr/>
              <a:t>- Trực quan trên giao diện:</a:t>
            </a:r>
            <a:endParaRPr/>
          </a:p>
          <a:p>
            <a:pPr>
              <a:defRPr/>
            </a:pPr>
            <a:r>
              <a:rPr/>
              <a:t>  + Nhánh dính lỗi (Trái): Nhập payload ' OR '1'='1' --, máy chủ xác thực thành công, làm rò rỉ toàn bộ 4 tài khoản gồm Admin, Chuyên gia và Khách hàng kèm số dư ví và thông tin nhạy cảm.</a:t>
            </a:r>
            <a:endParaRPr/>
          </a:p>
          <a:p>
            <a:pPr>
              <a:defRPr/>
            </a:pPr>
            <a:r>
              <a:rPr/>
              <a:t>  + Nhánh phòng thủ (Phải): Hệ thống áp dụng EF Core LINQ, từ chối truy cập vì coi toàn bộ payload là chuỗi văn bản thuần (0 kết quả).</a:t>
            </a:r>
            <a:endParaRPr/>
          </a:p>
        </p:txBody>
      </p:sp>
      <p:sp>
        <p:nvSpPr>
          <p:cNvPr id="585519341" name="Slide Number Placeholder 3"/>
          <p:cNvSpPr>
            <a:spLocks noGrp="1"/>
          </p:cNvSpPr>
          <p:nvPr>
            <p:ph type="sldNum" sz="quarter" idx="10"/>
          </p:nvPr>
        </p:nvSpPr>
        <p:spPr bwMode="auto"/>
        <p:txBody>
          <a:bodyPr/>
          <a:lstStyle/>
          <a:p>
            <a:pPr>
              <a:defRPr/>
            </a:pPr>
            <a:fld id="{43D22DEF-3DDF-FF62-C453-389016F78385}"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1484236" name="Slide Image Placeholder 1"/>
          <p:cNvSpPr>
            <a:spLocks noChangeAspect="1" noGrp="1" noRot="1"/>
          </p:cNvSpPr>
          <p:nvPr>
            <p:ph type="sldImg"/>
          </p:nvPr>
        </p:nvSpPr>
        <p:spPr bwMode="auto"/>
      </p:sp>
      <p:sp>
        <p:nvSpPr>
          <p:cNvPr id="1030856887" name="Notes Placeholder 2"/>
          <p:cNvSpPr>
            <a:spLocks noGrp="1"/>
          </p:cNvSpPr>
          <p:nvPr>
            <p:ph type="body" idx="1"/>
          </p:nvPr>
        </p:nvSpPr>
        <p:spPr bwMode="auto"/>
        <p:txBody>
          <a:bodyPr/>
          <a:lstStyle/>
          <a:p>
            <a:pPr>
              <a:defRPr/>
            </a:pPr>
            <a:r>
              <a:rPr/>
              <a:t>[CHỦ ĐỀ 1 - SQL INJECTION: MINH CHỨNG DEVTOOLS NETWORK (HỌC)]</a:t>
            </a:r>
            <a:endParaRPr/>
          </a:p>
          <a:p>
            <a:pPr>
              <a:defRPr/>
            </a:pPr>
            <a:r>
              <a:rPr/>
              <a:t>- Soi gói tin mạng thực tế:</a:t>
            </a:r>
            <a:endParaRPr/>
          </a:p>
          <a:p>
            <a:pPr>
              <a:defRPr/>
            </a:pPr>
            <a:r>
              <a:rPr/>
              <a:t>  + Request POST gửi lên /SqlInjection/LoginVulnerable mang payload username=' OR '1'='1' --.</a:t>
            </a:r>
            <a:endParaRPr/>
          </a:p>
          <a:p>
            <a:pPr>
              <a:defRPr/>
            </a:pPr>
            <a:r>
              <a:rPr/>
              <a:t>  + Phản hồi JSON từ Server: Trả về HTTP 200 OK với danh sách 4 tài khoản CSDL. Điều này chứng minh lỗ hổng nằm ở tầng C# Backend chứ không phụ thuộc vào giao diện.</a:t>
            </a:r>
            <a:endParaRPr/>
          </a:p>
        </p:txBody>
      </p:sp>
      <p:sp>
        <p:nvSpPr>
          <p:cNvPr id="1695538905" name="Slide Number Placeholder 3"/>
          <p:cNvSpPr>
            <a:spLocks noGrp="1"/>
          </p:cNvSpPr>
          <p:nvPr>
            <p:ph type="sldNum" sz="quarter" idx="10"/>
          </p:nvPr>
        </p:nvSpPr>
        <p:spPr bwMode="auto"/>
        <p:txBody>
          <a:bodyPr/>
          <a:lstStyle/>
          <a:p>
            <a:pPr>
              <a:defRPr/>
            </a:pPr>
            <a:fld id="{768AE2A2-4650-0ABD-55A4-410AFDE9D2D8}"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3252901" name="Slide Image Placeholder 1"/>
          <p:cNvSpPr>
            <a:spLocks noChangeAspect="1" noGrp="1" noRot="1"/>
          </p:cNvSpPr>
          <p:nvPr>
            <p:ph type="sldImg"/>
          </p:nvPr>
        </p:nvSpPr>
        <p:spPr bwMode="auto"/>
      </p:sp>
      <p:sp>
        <p:nvSpPr>
          <p:cNvPr id="1110002444" name="Notes Placeholder 2"/>
          <p:cNvSpPr>
            <a:spLocks noGrp="1"/>
          </p:cNvSpPr>
          <p:nvPr>
            <p:ph type="body" idx="1"/>
          </p:nvPr>
        </p:nvSpPr>
        <p:spPr bwMode="auto"/>
        <p:txBody>
          <a:bodyPr/>
          <a:lstStyle/>
          <a:p>
            <a:pPr>
              <a:defRPr/>
            </a:pPr>
            <a:r>
              <a:rPr/>
              <a:t>[CHỦ ĐỀ 1 - SQL INJECTION: PHÒNG THỦ CHUẨN TRONG BTL (HỌC)]</a:t>
            </a:r>
            <a:endParaRPr/>
          </a:p>
          <a:p>
            <a:pPr>
              <a:defRPr/>
            </a:pPr>
            <a:r>
              <a:rPr/>
              <a:t>- Giải pháp cốt lõi: Áp dụng Parameterized Query với EF Core LINQ (FirstOrDefault(a =&gt; a.Username == user &amp;&amp; a.Password == pass)). SQL Server biên dịch Execution Plan trước khi gán tham số @p0, @p1.</a:t>
            </a:r>
            <a:endParaRPr/>
          </a:p>
          <a:p>
            <a:pPr>
              <a:defRPr/>
            </a:pPr>
            <a:r>
              <a:rPr/>
              <a:t>- Bảo vệ mật khẩu (Defense-in-Depth): Tách biệt rõ ràng với SQLi. Dùng ASP.NET Core Identity băm mật khẩu 1 chiều (PBKDF2) kèm Salt ngẫu nhiên để bảo vệ người dùng kể cả khi CSDL bị lộ.</a:t>
            </a:r>
            <a:endParaRPr/>
          </a:p>
          <a:p>
            <a:pPr>
              <a:defRPr/>
            </a:pPr>
            <a:r>
              <a:rPr/>
              <a:t>- Áp dụng quyền tối thiểu (Least Privilege) cho tài khoản kết nối CSDL.</a:t>
            </a:r>
            <a:endParaRPr/>
          </a:p>
        </p:txBody>
      </p:sp>
      <p:sp>
        <p:nvSpPr>
          <p:cNvPr id="1673347213" name="Slide Number Placeholder 3"/>
          <p:cNvSpPr>
            <a:spLocks noGrp="1"/>
          </p:cNvSpPr>
          <p:nvPr>
            <p:ph type="sldNum" sz="quarter" idx="10"/>
          </p:nvPr>
        </p:nvSpPr>
        <p:spPr bwMode="auto"/>
        <p:txBody>
          <a:bodyPr/>
          <a:lstStyle/>
          <a:p>
            <a:pPr>
              <a:defRPr/>
            </a:pPr>
            <a:fld id="{8913D28B-E3E9-D751-058F-4050704A88C3}"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3840262" name="Slide Image Placeholder 1"/>
          <p:cNvSpPr>
            <a:spLocks noChangeAspect="1" noGrp="1" noRot="1"/>
          </p:cNvSpPr>
          <p:nvPr>
            <p:ph type="sldImg"/>
          </p:nvPr>
        </p:nvSpPr>
        <p:spPr bwMode="auto"/>
      </p:sp>
      <p:sp>
        <p:nvSpPr>
          <p:cNvPr id="1190532006" name="Notes Placeholder 2"/>
          <p:cNvSpPr>
            <a:spLocks noGrp="1"/>
          </p:cNvSpPr>
          <p:nvPr>
            <p:ph type="body" idx="1"/>
          </p:nvPr>
        </p:nvSpPr>
        <p:spPr bwMode="auto"/>
        <p:txBody>
          <a:bodyPr/>
          <a:lstStyle/>
          <a:p>
            <a:pPr>
              <a:defRPr/>
            </a:pPr>
            <a:r>
              <a:rPr/>
              <a:t>[CHỦ ĐỀ 2 - STORED XSS: BẢN CHẤT LỖ HỔNG (BÌNH)]</a:t>
            </a:r>
            <a:endParaRPr/>
          </a:p>
          <a:p>
            <a:pPr>
              <a:defRPr/>
            </a:pPr>
            <a:r>
              <a:rPr/>
              <a:t>- Lỗi xảy ra ở đâu trong BTL: Chức năng Đánh giá / Nhận xét chất lượng chuyên gia sau buổi tư vấn.</a:t>
            </a:r>
            <a:endParaRPr/>
          </a:p>
          <a:p>
            <a:pPr>
              <a:defRPr/>
            </a:pPr>
            <a:r>
              <a:rPr/>
              <a:t>- Luồng phát tán: Kẻ tấn công tiêm script -&gt; Server lưu trực tiếp vào bảng dbo.Comments -&gt; Nạn nhân (khách hàng khác hoặc chuyên gia) truy cập trang xem nhận xét -&gt; Trình duyệt nạn nhân tự động thực thi script.</a:t>
            </a:r>
            <a:endParaRPr/>
          </a:p>
          <a:p>
            <a:pPr>
              <a:defRPr/>
            </a:pPr>
            <a:r>
              <a:rPr/>
              <a:t>- Root Cause: Sử dụng @Html.Raw(content) vô hiệu hóa cơ chế phòng thủ mã hóa tự động của Razor View.</a:t>
            </a:r>
            <a:endParaRPr/>
          </a:p>
        </p:txBody>
      </p:sp>
      <p:sp>
        <p:nvSpPr>
          <p:cNvPr id="815651565" name="Slide Number Placeholder 3"/>
          <p:cNvSpPr>
            <a:spLocks noGrp="1"/>
          </p:cNvSpPr>
          <p:nvPr>
            <p:ph type="sldNum" sz="quarter" idx="10"/>
          </p:nvPr>
        </p:nvSpPr>
        <p:spPr bwMode="auto"/>
        <p:txBody>
          <a:bodyPr/>
          <a:lstStyle/>
          <a:p>
            <a:pPr>
              <a:defRPr/>
            </a:pPr>
            <a:fld id="{90EF81A4-2350-36D7-5119-58A6E0EABB5C}"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4633489" name="Slide Image Placeholder 1"/>
          <p:cNvSpPr>
            <a:spLocks noChangeAspect="1" noGrp="1" noRot="1"/>
          </p:cNvSpPr>
          <p:nvPr>
            <p:ph type="sldImg"/>
          </p:nvPr>
        </p:nvSpPr>
        <p:spPr bwMode="auto"/>
      </p:sp>
      <p:sp>
        <p:nvSpPr>
          <p:cNvPr id="1590813720" name="Notes Placeholder 2"/>
          <p:cNvSpPr>
            <a:spLocks noGrp="1"/>
          </p:cNvSpPr>
          <p:nvPr>
            <p:ph type="body" idx="1"/>
          </p:nvPr>
        </p:nvSpPr>
        <p:spPr bwMode="auto"/>
        <p:txBody>
          <a:bodyPr/>
          <a:lstStyle/>
          <a:p>
            <a:pPr>
              <a:defRPr/>
            </a:pPr>
            <a:r>
              <a:rPr/>
              <a:t>[CHỦ ĐỀ 2 - STORED XSS: 3 KỊCH BẢN KHAI THÁC (BÌNH)]</a:t>
            </a:r>
            <a:endParaRPr/>
          </a:p>
          <a:p>
            <a:pPr>
              <a:defRPr/>
            </a:pPr>
            <a:r>
              <a:rPr/>
              <a:t>- Kịch bản 1 (&lt;script&gt;alert(document.cookie)&lt;/script&gt;): Đánh cắp Session Cookie (Cookie Stealing) để chiếm đoạt phiên làm việc của chuyên gia/quản trị viên.</a:t>
            </a:r>
            <a:endParaRPr/>
          </a:p>
          <a:p>
            <a:pPr>
              <a:defRPr/>
            </a:pPr>
            <a:r>
              <a:rPr/>
              <a:t>- Kịch bản 2 (&lt;img src=x onerror=...&gt;): Vượt qua bộ lọc từ khóa đơn giản (Filter Bypass) bằng sự kiện HTML khi đường dẫn ảnh lỗi.</a:t>
            </a:r>
            <a:endParaRPr/>
          </a:p>
          <a:p>
            <a:pPr>
              <a:defRPr/>
            </a:pPr>
            <a:r>
              <a:rPr/>
              <a:t>- Kịch bản 3: Bình luận văn bản hợp lệ đối chứng, hiển thị an toàn trên cả 2 nhánh.</a:t>
            </a:r>
            <a:endParaRPr/>
          </a:p>
        </p:txBody>
      </p:sp>
      <p:sp>
        <p:nvSpPr>
          <p:cNvPr id="1929973309" name="Slide Number Placeholder 3"/>
          <p:cNvSpPr>
            <a:spLocks noGrp="1"/>
          </p:cNvSpPr>
          <p:nvPr>
            <p:ph type="sldNum" sz="quarter" idx="10"/>
          </p:nvPr>
        </p:nvSpPr>
        <p:spPr bwMode="auto"/>
        <p:txBody>
          <a:bodyPr/>
          <a:lstStyle/>
          <a:p>
            <a:pPr>
              <a:defRPr/>
            </a:pPr>
            <a:fld id="{DDB90004-5FF0-BF95-E76F-B68C8C10F5FB}"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3424390" name="Slide Image Placeholder 1"/>
          <p:cNvSpPr>
            <a:spLocks noChangeAspect="1" noGrp="1" noRot="1"/>
          </p:cNvSpPr>
          <p:nvPr>
            <p:ph type="sldImg"/>
          </p:nvPr>
        </p:nvSpPr>
        <p:spPr bwMode="auto"/>
      </p:sp>
      <p:sp>
        <p:nvSpPr>
          <p:cNvPr id="1550611424" name="Notes Placeholder 2"/>
          <p:cNvSpPr>
            <a:spLocks noGrp="1"/>
          </p:cNvSpPr>
          <p:nvPr>
            <p:ph type="body" idx="1"/>
          </p:nvPr>
        </p:nvSpPr>
        <p:spPr bwMode="auto"/>
        <p:txBody>
          <a:bodyPr/>
          <a:lstStyle/>
          <a:p>
            <a:pPr>
              <a:defRPr/>
            </a:pPr>
            <a:r>
              <a:rPr/>
              <a:t>[CHỦ ĐỀ 2 - STORED XSS: MINH CHỨNG WEB UI (BÌNH)]</a:t>
            </a:r>
            <a:endParaRPr/>
          </a:p>
          <a:p>
            <a:pPr>
              <a:defRPr/>
            </a:pPr>
            <a:r>
              <a:rPr/>
              <a:t>- Trực quan trên giao diện:</a:t>
            </a:r>
            <a:endParaRPr/>
          </a:p>
          <a:p>
            <a:pPr>
              <a:defRPr/>
            </a:pPr>
            <a:r>
              <a:rPr/>
              <a:t>  + Nhánh dính lỗi (Trái): Khi tải trang, đoạn script nằm sẵn trong CSDL lập tức kích hoạt hộp thoại Alert hiển thị Cookie AuthSessionToken.</a:t>
            </a:r>
            <a:endParaRPr/>
          </a:p>
          <a:p>
            <a:pPr>
              <a:defRPr/>
            </a:pPr>
            <a:r>
              <a:rPr/>
              <a:t>  + Nhánh phòng thủ (Phải): Razor Engine tự động mã hóa chuỗi thành văn bản an toàn (&amp;lt;script&amp;gt;), triệt tiêu hoàn toàn khả năng thực thi mã.</a:t>
            </a:r>
            <a:endParaRPr/>
          </a:p>
        </p:txBody>
      </p:sp>
      <p:sp>
        <p:nvSpPr>
          <p:cNvPr id="168118165" name="Slide Number Placeholder 3"/>
          <p:cNvSpPr>
            <a:spLocks noGrp="1"/>
          </p:cNvSpPr>
          <p:nvPr>
            <p:ph type="sldNum" sz="quarter" idx="10"/>
          </p:nvPr>
        </p:nvSpPr>
        <p:spPr bwMode="auto"/>
        <p:txBody>
          <a:bodyPr/>
          <a:lstStyle/>
          <a:p>
            <a:pPr>
              <a:defRPr/>
            </a:pPr>
            <a:fld id="{842B69B4-39C0-A9D8-AA68-5A699E33D12E}"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6875035" name="Slide Image Placeholder 1"/>
          <p:cNvSpPr>
            <a:spLocks noChangeAspect="1" noGrp="1" noRot="1"/>
          </p:cNvSpPr>
          <p:nvPr>
            <p:ph type="sldImg"/>
          </p:nvPr>
        </p:nvSpPr>
        <p:spPr bwMode="auto"/>
      </p:sp>
      <p:sp>
        <p:nvSpPr>
          <p:cNvPr id="1308763429" name="Notes Placeholder 2"/>
          <p:cNvSpPr>
            <a:spLocks noGrp="1"/>
          </p:cNvSpPr>
          <p:nvPr>
            <p:ph type="body" idx="1"/>
          </p:nvPr>
        </p:nvSpPr>
        <p:spPr bwMode="auto"/>
        <p:txBody>
          <a:bodyPr/>
          <a:lstStyle/>
          <a:p>
            <a:pPr>
              <a:defRPr/>
            </a:pPr>
            <a:r>
              <a:rPr/>
              <a:t>[CHỦ ĐỀ 2 - STORED XSS: MINH CHỨNG DEVTOOLS COOKIE &amp; CONSOLE (BÌNH)]</a:t>
            </a:r>
            <a:endParaRPr/>
          </a:p>
          <a:p>
            <a:pPr>
              <a:defRPr/>
            </a:pPr>
            <a:r>
              <a:rPr/>
              <a:t>- Soi bộ nhớ trình duyệt &amp; Console:</a:t>
            </a:r>
            <a:endParaRPr/>
          </a:p>
          <a:p>
            <a:pPr>
              <a:defRPr/>
            </a:pPr>
            <a:r>
              <a:rPr/>
              <a:t>  + Cửa sổ Application &gt; Cookies: Cookie AuthSessionToken bị để cờ HttpOnly = false (cấu hình mô phỏng lab có chủ đích để minh chứng lỗ hổng).</a:t>
            </a:r>
            <a:endParaRPr/>
          </a:p>
          <a:p>
            <a:pPr>
              <a:defRPr/>
            </a:pPr>
            <a:r>
              <a:rPr/>
              <a:t>  + Cửa sổ Console: Lệnh document.cookie đọc trọn vẹn chuỗi token nhạy cảm. Đây là cách hacker trích xuất phiên và gửi ngầm về server điều khiển.</a:t>
            </a:r>
            <a:endParaRPr/>
          </a:p>
        </p:txBody>
      </p:sp>
      <p:sp>
        <p:nvSpPr>
          <p:cNvPr id="1689778934" name="Slide Number Placeholder 3"/>
          <p:cNvSpPr>
            <a:spLocks noGrp="1"/>
          </p:cNvSpPr>
          <p:nvPr>
            <p:ph type="sldNum" sz="quarter" idx="10"/>
          </p:nvPr>
        </p:nvSpPr>
        <p:spPr bwMode="auto"/>
        <p:txBody>
          <a:bodyPr/>
          <a:lstStyle/>
          <a:p>
            <a:pPr>
              <a:defRPr/>
            </a:pPr>
            <a:fld id="{908ED372-A86A-B0AA-9B7F-DD3B83C79440}"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5006518" name="Slide Image Placeholder 1"/>
          <p:cNvSpPr>
            <a:spLocks noChangeAspect="1" noGrp="1" noRot="1"/>
          </p:cNvSpPr>
          <p:nvPr>
            <p:ph type="sldImg"/>
          </p:nvPr>
        </p:nvSpPr>
        <p:spPr bwMode="auto"/>
      </p:sp>
      <p:sp>
        <p:nvSpPr>
          <p:cNvPr id="381149838" name="Notes Placeholder 2"/>
          <p:cNvSpPr>
            <a:spLocks noGrp="1"/>
          </p:cNvSpPr>
          <p:nvPr>
            <p:ph type="body" idx="1"/>
          </p:nvPr>
        </p:nvSpPr>
        <p:spPr bwMode="auto"/>
        <p:txBody>
          <a:bodyPr/>
          <a:lstStyle/>
          <a:p>
            <a:pPr>
              <a:defRPr/>
            </a:pPr>
            <a:r>
              <a:rPr/>
              <a:t>[CHỦ ĐỀ 2 - STORED XSS: PHÒNG THỦ CHUẨN TRONG BTL (BÌNH)]</a:t>
            </a:r>
            <a:endParaRPr/>
          </a:p>
          <a:p>
            <a:pPr>
              <a:defRPr/>
            </a:pPr>
            <a:r>
              <a:rPr/>
              <a:t>- Phòng thủ tầng View: Luôn sử dụng cú pháp Razor mặc định @comment.Content (tự động HTML Encode biến đổi &lt;, &gt; thành &amp;lt;, &amp;gt;).</a:t>
            </a:r>
            <a:endParaRPr/>
          </a:p>
          <a:p>
            <a:pPr>
              <a:defRPr/>
            </a:pPr>
            <a:r>
              <a:rPr/>
              <a:t>- Phòng thủ tầng Cookie: Trong sản phẩm thực tế, bắt buộc cấu hình HttpOnly = true, Secure = true, SameSite = Strict để cấm JavaScript đọc Cookie.</a:t>
            </a:r>
            <a:endParaRPr/>
          </a:p>
          <a:p>
            <a:pPr>
              <a:defRPr/>
            </a:pPr>
            <a:r>
              <a:rPr/>
              <a:t>- Bổ sung Content Security Policy (CSP Header) với directive script-src 'self'.</a:t>
            </a:r>
            <a:endParaRPr/>
          </a:p>
        </p:txBody>
      </p:sp>
      <p:sp>
        <p:nvSpPr>
          <p:cNvPr id="675958736" name="Slide Number Placeholder 3"/>
          <p:cNvSpPr>
            <a:spLocks noGrp="1"/>
          </p:cNvSpPr>
          <p:nvPr>
            <p:ph type="sldNum" sz="quarter" idx="10"/>
          </p:nvPr>
        </p:nvSpPr>
        <p:spPr bwMode="auto"/>
        <p:txBody>
          <a:bodyPr/>
          <a:lstStyle/>
          <a:p>
            <a:pPr>
              <a:defRPr/>
            </a:pPr>
            <a:fld id="{A23D3422-75C6-C811-7752-8A9DD1F1243E}"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3693250" name="Slide Image Placeholder 1"/>
          <p:cNvSpPr>
            <a:spLocks noChangeAspect="1" noGrp="1" noRot="1"/>
          </p:cNvSpPr>
          <p:nvPr>
            <p:ph type="sldImg"/>
          </p:nvPr>
        </p:nvSpPr>
        <p:spPr bwMode="auto"/>
      </p:sp>
      <p:sp>
        <p:nvSpPr>
          <p:cNvPr id="1479200465" name="Notes Placeholder 2"/>
          <p:cNvSpPr>
            <a:spLocks noGrp="1"/>
          </p:cNvSpPr>
          <p:nvPr>
            <p:ph type="body" idx="1"/>
          </p:nvPr>
        </p:nvSpPr>
        <p:spPr bwMode="auto"/>
        <p:txBody>
          <a:bodyPr/>
          <a:lstStyle/>
          <a:p>
            <a:pPr>
              <a:defRPr/>
            </a:pPr>
            <a:r>
              <a:rPr/>
              <a:t>[CHỦ ĐỀ 3 - CSRF: BẢN CHẤT LỖ HỔNG (CƯỜNG)]</a:t>
            </a:r>
            <a:endParaRPr/>
          </a:p>
          <a:p>
            <a:pPr>
              <a:defRPr/>
            </a:pPr>
            <a:r>
              <a:rPr/>
              <a:t>- Lỗi xảy ra ở đâu trong BTL: Chức năng Giao dịch Ví tiền tư vấn &amp; Đặt lịch hẹn trực tuyến.</a:t>
            </a:r>
            <a:endParaRPr/>
          </a:p>
          <a:p>
            <a:pPr>
              <a:defRPr/>
            </a:pPr>
            <a:r>
              <a:rPr/>
              <a:t>- Luồng tấn công: Nạn nhân có phiên đăng nhập hợp lệ -&gt; Bị dẫn dụ mở trang web bẫy của hacker ở tab bên cạnh -&gt; Trang bẫy gửi POST ngầm sang hệ thống -&gt; Trình duyệt tự động đính kèm Cookie của nạn nhân -&gt; Hệ thống thực hiện lệnh chuyển tiền.</a:t>
            </a:r>
            <a:endParaRPr/>
          </a:p>
          <a:p>
            <a:pPr>
              <a:defRPr/>
            </a:pPr>
            <a:r>
              <a:rPr/>
              <a:t>- Phân loại chuẩn OWASP: CSRF liên quan trực tiếp đến A01:2021 – Broken Access Control và cơ chế bảo toàn yêu cầu phiên.</a:t>
            </a:r>
            <a:endParaRPr/>
          </a:p>
        </p:txBody>
      </p:sp>
      <p:sp>
        <p:nvSpPr>
          <p:cNvPr id="1225839827" name="Slide Number Placeholder 3"/>
          <p:cNvSpPr>
            <a:spLocks noGrp="1"/>
          </p:cNvSpPr>
          <p:nvPr>
            <p:ph type="sldNum" sz="quarter" idx="10"/>
          </p:nvPr>
        </p:nvSpPr>
        <p:spPr bwMode="auto"/>
        <p:txBody>
          <a:bodyPr/>
          <a:lstStyle/>
          <a:p>
            <a:pPr>
              <a:defRPr/>
            </a:pPr>
            <a:fld id="{9F535E58-7A1B-9492-C2BE-73B4F573C3D8}"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9262418" name="Slide Image Placeholder 1"/>
          <p:cNvSpPr>
            <a:spLocks noChangeAspect="1" noGrp="1" noRot="1"/>
          </p:cNvSpPr>
          <p:nvPr>
            <p:ph type="sldImg"/>
          </p:nvPr>
        </p:nvSpPr>
        <p:spPr bwMode="auto"/>
      </p:sp>
      <p:sp>
        <p:nvSpPr>
          <p:cNvPr id="1091832921" name="Notes Placeholder 2"/>
          <p:cNvSpPr>
            <a:spLocks noGrp="1"/>
          </p:cNvSpPr>
          <p:nvPr>
            <p:ph type="body" idx="1"/>
          </p:nvPr>
        </p:nvSpPr>
        <p:spPr bwMode="auto"/>
        <p:txBody>
          <a:bodyPr/>
          <a:lstStyle/>
          <a:p>
            <a:pPr>
              <a:defRPr/>
            </a:pPr>
            <a:r>
              <a:rPr/>
              <a:t>[CHỦ ĐỀ 3 - CSRF: KỊCH BẢN KHAI THÁC FORM ẨN (CƯỜNG)]</a:t>
            </a:r>
            <a:endParaRPr/>
          </a:p>
          <a:p>
            <a:pPr>
              <a:defRPr/>
            </a:pPr>
            <a:r>
              <a:rPr/>
              <a:t>- Kịch bản lừa đảo: Nạn nhân được dẫn dụ vào trang bẫy trúng thưởng (AttackerSite.cshtml).</a:t>
            </a:r>
            <a:endParaRPr/>
          </a:p>
          <a:p>
            <a:pPr>
              <a:defRPr/>
            </a:pPr>
            <a:r>
              <a:rPr/>
              <a:t>- Kỹ thuật khai thác: Trang bẫy chứa biểu mẫu ẩn &lt;form action="/Csrf/TransferVulnerable" method="POST"&gt; kèm giá trị amount=20.000.000. Đoạn script tự động submit form mà nạn nhân không hề hay biết.</a:t>
            </a:r>
            <a:endParaRPr/>
          </a:p>
          <a:p>
            <a:pPr>
              <a:defRPr/>
            </a:pPr>
            <a:r>
              <a:rPr/>
              <a:t>- Hậu quả: Tiền trong ví nạn nhân bị rút sạch sang tài khoản hacker.</a:t>
            </a:r>
            <a:endParaRPr/>
          </a:p>
        </p:txBody>
      </p:sp>
      <p:sp>
        <p:nvSpPr>
          <p:cNvPr id="1681719675" name="Slide Number Placeholder 3"/>
          <p:cNvSpPr>
            <a:spLocks noGrp="1"/>
          </p:cNvSpPr>
          <p:nvPr>
            <p:ph type="sldNum" sz="quarter" idx="10"/>
          </p:nvPr>
        </p:nvSpPr>
        <p:spPr bwMode="auto"/>
        <p:txBody>
          <a:bodyPr/>
          <a:lstStyle/>
          <a:p>
            <a:pPr>
              <a:defRPr/>
            </a:pPr>
            <a:fld id="{302E84C7-5318-60A7-9C59-E5E443D92ED5}"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0136842" name="Slide Image Placeholder 1"/>
          <p:cNvSpPr>
            <a:spLocks noChangeAspect="1" noGrp="1" noRot="1"/>
          </p:cNvSpPr>
          <p:nvPr>
            <p:ph type="sldImg"/>
          </p:nvPr>
        </p:nvSpPr>
        <p:spPr bwMode="auto"/>
      </p:sp>
      <p:sp>
        <p:nvSpPr>
          <p:cNvPr id="1615887659" name="Notes Placeholder 2"/>
          <p:cNvSpPr>
            <a:spLocks noGrp="1"/>
          </p:cNvSpPr>
          <p:nvPr>
            <p:ph type="body" idx="1"/>
          </p:nvPr>
        </p:nvSpPr>
        <p:spPr bwMode="auto"/>
        <p:txBody>
          <a:bodyPr/>
          <a:lstStyle/>
          <a:p>
            <a:pPr>
              <a:defRPr/>
            </a:pPr>
            <a:r>
              <a:rPr/>
              <a:t>[CHỦ ĐỀ 3 - CSRF: MINH CHỨNG WEB UI (CƯỜNG)]</a:t>
            </a:r>
            <a:endParaRPr/>
          </a:p>
          <a:p>
            <a:pPr>
              <a:defRPr/>
            </a:pPr>
            <a:r>
              <a:rPr/>
              <a:t>- Trực quan trên giao diện:</a:t>
            </a:r>
            <a:endParaRPr/>
          </a:p>
          <a:p>
            <a:pPr>
              <a:defRPr/>
            </a:pPr>
            <a:r>
              <a:rPr/>
              <a:t>  + Nhánh dính lỗi: Mở Attacker Site và nhấn nhận quà -&gt; Quay lại trang hệ thống thấy số dư ví nạn nhân bị trừ từ 50.000.000 VNĐ xuống 30.000.000 VNĐ, ví hacker tăng lên 20.000.000 VNĐ.</a:t>
            </a:r>
            <a:endParaRPr/>
          </a:p>
          <a:p>
            <a:pPr>
              <a:defRPr/>
            </a:pPr>
            <a:r>
              <a:rPr/>
              <a:t>  + Nhánh phòng thủ: Form chuyển tiền chính chủ có tích hợp Token bảo vệ -&gt; Chặn đứng mọi yêu cầu giả mạo từ trang web khác.</a:t>
            </a:r>
            <a:endParaRPr/>
          </a:p>
        </p:txBody>
      </p:sp>
      <p:sp>
        <p:nvSpPr>
          <p:cNvPr id="21120152" name="Slide Number Placeholder 3"/>
          <p:cNvSpPr>
            <a:spLocks noGrp="1"/>
          </p:cNvSpPr>
          <p:nvPr>
            <p:ph type="sldNum" sz="quarter" idx="10"/>
          </p:nvPr>
        </p:nvSpPr>
        <p:spPr bwMode="auto"/>
        <p:txBody>
          <a:bodyPr/>
          <a:lstStyle/>
          <a:p>
            <a:pPr>
              <a:defRPr/>
            </a:pPr>
            <a:fld id="{97CA3E5F-A720-5677-A250-63E23F39026E}"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1359582" name="Slide Image Placeholder 1"/>
          <p:cNvSpPr>
            <a:spLocks noChangeAspect="1" noGrp="1" noRot="1"/>
          </p:cNvSpPr>
          <p:nvPr>
            <p:ph type="sldImg"/>
          </p:nvPr>
        </p:nvSpPr>
        <p:spPr bwMode="auto"/>
      </p:sp>
      <p:sp>
        <p:nvSpPr>
          <p:cNvPr id="912605918" name="Notes Placeholder 2"/>
          <p:cNvSpPr>
            <a:spLocks noGrp="1"/>
          </p:cNvSpPr>
          <p:nvPr>
            <p:ph type="body" idx="1"/>
          </p:nvPr>
        </p:nvSpPr>
        <p:spPr bwMode="auto"/>
        <p:txBody>
          <a:bodyPr/>
          <a:lstStyle/>
          <a:p>
            <a:pPr>
              <a:defRPr/>
            </a:pPr>
            <a:r>
              <a:rPr/>
              <a:t>[CHỦ ĐỀ 3 - CSRF: MINH CHỨNG DEVTOOLS HEADERS (CƯỜNG)]</a:t>
            </a:r>
            <a:endParaRPr/>
          </a:p>
          <a:p>
            <a:pPr>
              <a:defRPr/>
            </a:pPr>
            <a:r>
              <a:rPr/>
              <a:t>- Soi gói tin HTTP POST gửi ngầm:</a:t>
            </a:r>
            <a:endParaRPr/>
          </a:p>
          <a:p>
            <a:pPr>
              <a:defRPr/>
            </a:pPr>
            <a:r>
              <a:rPr/>
              <a:t>  + Request Headers: Header Origin là tên miền hacker (http://attacker-site.com), nhưng Cookie xác thực phiên vẫn được trình duyệt tự động đính kèm.</a:t>
            </a:r>
            <a:endParaRPr/>
          </a:p>
          <a:p>
            <a:pPr>
              <a:defRPr/>
            </a:pPr>
            <a:r>
              <a:rPr/>
              <a:t>  + Điểm mù mấu chốt: Form hoàn toàn KHÔNG CÓ trường __RequestVerificationToken. Vì Action thiếu [ValidateAntiForgeryToken], máy chủ chỉ kiểm tra Cookie hợp lệ rồi trừ tiền ngay mà không xác thực nguồn gốc request.</a:t>
            </a:r>
            <a:endParaRPr/>
          </a:p>
        </p:txBody>
      </p:sp>
      <p:sp>
        <p:nvSpPr>
          <p:cNvPr id="557323024" name="Slide Number Placeholder 3"/>
          <p:cNvSpPr>
            <a:spLocks noGrp="1"/>
          </p:cNvSpPr>
          <p:nvPr>
            <p:ph type="sldNum" sz="quarter" idx="10"/>
          </p:nvPr>
        </p:nvSpPr>
        <p:spPr bwMode="auto"/>
        <p:txBody>
          <a:bodyPr/>
          <a:lstStyle/>
          <a:p>
            <a:pPr>
              <a:defRPr/>
            </a:pPr>
            <a:fld id="{0C0B4F47-366B-7388-6210-761238E8A0E5}"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0060403" name="Slide Image Placeholder 1"/>
          <p:cNvSpPr>
            <a:spLocks noChangeAspect="1" noGrp="1" noRot="1"/>
          </p:cNvSpPr>
          <p:nvPr>
            <p:ph type="sldImg"/>
          </p:nvPr>
        </p:nvSpPr>
        <p:spPr bwMode="auto"/>
      </p:sp>
      <p:sp>
        <p:nvSpPr>
          <p:cNvPr id="892232861" name="Notes Placeholder 2"/>
          <p:cNvSpPr>
            <a:spLocks noGrp="1"/>
          </p:cNvSpPr>
          <p:nvPr>
            <p:ph type="body" idx="1"/>
          </p:nvPr>
        </p:nvSpPr>
        <p:spPr bwMode="auto"/>
        <p:txBody>
          <a:bodyPr/>
          <a:lstStyle/>
          <a:p>
            <a:pPr>
              <a:defRPr/>
            </a:pPr>
            <a:r>
              <a:rPr/>
              <a:t>[CHỦ ĐỀ 3 - CSRF: PHÒNG THỦ CHUẨN TRONG BTL (CƯỜNG)]</a:t>
            </a:r>
            <a:endParaRPr/>
          </a:p>
          <a:p>
            <a:pPr>
              <a:defRPr/>
            </a:pPr>
            <a:r>
              <a:rPr/>
              <a:t>- Phòng thủ Form truyền thống: Áp dụng Synchronizer Token Pattern bằng @Html.AntiForgeryToken() trong View và kiểm tra [ValidateAntiForgeryToken] trên Controller. Máy chủ phát hành cặp token ngẫu nhiên, trang web ngoài không thể đọc trộm do chính sách Same-Origin Policy (SOP).</a:t>
            </a:r>
            <a:endParaRPr/>
          </a:p>
          <a:p>
            <a:pPr>
              <a:defRPr/>
            </a:pPr>
            <a:r>
              <a:rPr/>
              <a:t>- Phòng thủ AJAX Fetch API (Slide Buổi 9): Đọc token từ trường ẩn và đính kèm vào HTTP Header RequestVerificationToken cho mọi thao tác đặt lịch/thanh toán không reload trang.</a:t>
            </a:r>
            <a:endParaRPr/>
          </a:p>
        </p:txBody>
      </p:sp>
      <p:sp>
        <p:nvSpPr>
          <p:cNvPr id="1974814852" name="Slide Number Placeholder 3"/>
          <p:cNvSpPr>
            <a:spLocks noGrp="1"/>
          </p:cNvSpPr>
          <p:nvPr>
            <p:ph type="sldNum" sz="quarter" idx="10"/>
          </p:nvPr>
        </p:nvSpPr>
        <p:spPr bwMode="auto"/>
        <p:txBody>
          <a:bodyPr/>
          <a:lstStyle/>
          <a:p>
            <a:pPr>
              <a:defRPr/>
            </a:pPr>
            <a:fld id="{883BA612-5E0A-8D62-3FC8-AE718BD51BA6}"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798584" name="Slide Image Placeholder 1"/>
          <p:cNvSpPr>
            <a:spLocks noChangeAspect="1" noGrp="1" noRot="1"/>
          </p:cNvSpPr>
          <p:nvPr>
            <p:ph type="sldImg"/>
          </p:nvPr>
        </p:nvSpPr>
        <p:spPr bwMode="auto"/>
      </p:sp>
      <p:sp>
        <p:nvSpPr>
          <p:cNvPr id="642523760" name="Notes Placeholder 2"/>
          <p:cNvSpPr>
            <a:spLocks noGrp="1"/>
          </p:cNvSpPr>
          <p:nvPr>
            <p:ph type="body" idx="1"/>
          </p:nvPr>
        </p:nvSpPr>
        <p:spPr bwMode="auto"/>
        <p:txBody>
          <a:bodyPr/>
          <a:lstStyle/>
          <a:p>
            <a:pPr>
              <a:defRPr/>
            </a:pPr>
            <a:r>
              <a:rPr/>
              <a:t>[TỔNG HỢP: BÀI HỌC KỸ THUẬT &amp; MA TRẬN ĐỐI CHIẾU]</a:t>
            </a:r>
            <a:endParaRPr/>
          </a:p>
          <a:p>
            <a:pPr>
              <a:defRPr/>
            </a:pPr>
            <a:r>
              <a:rPr/>
              <a:t>- Bảng tổng hợp đối chiếu 3 chiều cho cả 3 thành viên:</a:t>
            </a:r>
            <a:endParaRPr/>
          </a:p>
          <a:p>
            <a:pPr>
              <a:defRPr/>
            </a:pPr>
            <a:r>
              <a:rPr/>
              <a:t>  1. SQL Injection (Học): Root Cause = Ghép chuỗi SQL -&gt; Phòng thủ = Parameterized Query (EF Core LINQ).</a:t>
            </a:r>
            <a:endParaRPr/>
          </a:p>
          <a:p>
            <a:pPr>
              <a:defRPr/>
            </a:pPr>
            <a:r>
              <a:rPr/>
              <a:t>  2. Stored XSS (Bình): Root Cause = Render script thô qua @Html.Raw() -&gt; Phòng thủ = Context-Aware HTML Encoding + HttpOnly Cookie.</a:t>
            </a:r>
            <a:endParaRPr/>
          </a:p>
          <a:p>
            <a:pPr>
              <a:defRPr/>
            </a:pPr>
            <a:r>
              <a:rPr/>
              <a:t>  3. CSRF (Cường): Root Cause = Thiếu xác thực nguồn gốc request -&gt; Phòng thủ = Synchronizer Token Pattern (@Html.AntiForgeryToken / Header).</a:t>
            </a:r>
            <a:endParaRPr/>
          </a:p>
        </p:txBody>
      </p:sp>
      <p:sp>
        <p:nvSpPr>
          <p:cNvPr id="1184022125" name="Slide Number Placeholder 3"/>
          <p:cNvSpPr>
            <a:spLocks noGrp="1"/>
          </p:cNvSpPr>
          <p:nvPr>
            <p:ph type="sldNum" sz="quarter" idx="10"/>
          </p:nvPr>
        </p:nvSpPr>
        <p:spPr bwMode="auto"/>
        <p:txBody>
          <a:bodyPr/>
          <a:lstStyle/>
          <a:p>
            <a:pPr>
              <a:defRPr/>
            </a:pPr>
            <a:fld id="{7C1A4AD3-B407-A64F-F42A-AFA0ABD30413}"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6981359" name="Slide Image Placeholder 1"/>
          <p:cNvSpPr>
            <a:spLocks noChangeAspect="1" noGrp="1" noRot="1"/>
          </p:cNvSpPr>
          <p:nvPr>
            <p:ph type="sldImg"/>
          </p:nvPr>
        </p:nvSpPr>
        <p:spPr bwMode="auto"/>
      </p:sp>
      <p:sp>
        <p:nvSpPr>
          <p:cNvPr id="1421414220" name="Notes Placeholder 2"/>
          <p:cNvSpPr>
            <a:spLocks noGrp="1"/>
          </p:cNvSpPr>
          <p:nvPr>
            <p:ph type="body" idx="1"/>
          </p:nvPr>
        </p:nvSpPr>
        <p:spPr bwMode="auto"/>
        <p:txBody>
          <a:bodyPr/>
          <a:lstStyle/>
          <a:p>
            <a:pPr>
              <a:defRPr/>
            </a:pPr>
            <a:r>
              <a:rPr/>
              <a:t>[KẾT LUẬN &amp; CAM KẾT CHUẨN BẢO MẬT BTL]</a:t>
            </a:r>
            <a:endParaRPr/>
          </a:p>
          <a:p>
            <a:pPr>
              <a:defRPr/>
            </a:pPr>
            <a:r>
              <a:rPr/>
              <a:t>- Kết luận thực nghiệm: Tái lập thành công lỗ hổng trên cả 3 bề mặt (UI, DevTools, Database) và kiểm chứng giải pháp phòng thủ triệt để.</a:t>
            </a:r>
            <a:endParaRPr/>
          </a:p>
          <a:p>
            <a:pPr>
              <a:defRPr/>
            </a:pPr>
            <a:r>
              <a:rPr/>
              <a:t>- Triết lý an ninh cốt lõi:</a:t>
            </a:r>
            <a:endParaRPr/>
          </a:p>
          <a:p>
            <a:pPr>
              <a:defRPr/>
            </a:pPr>
            <a:r>
              <a:rPr/>
              <a:t>  1. Never trust user-controlled input (Không bao giờ tin tưởng dữ liệu người dùng).</a:t>
            </a:r>
            <a:endParaRPr/>
          </a:p>
          <a:p>
            <a:pPr>
              <a:defRPr/>
            </a:pPr>
            <a:r>
              <a:rPr/>
              <a:t>  2. Separate data from executable instructions (Luôn phân tách dữ liệu khỏi cú pháp lệnh).</a:t>
            </a:r>
            <a:endParaRPr/>
          </a:p>
          <a:p>
            <a:pPr>
              <a:defRPr/>
            </a:pPr>
            <a:r>
              <a:rPr/>
              <a:t>- Cam kết áp dụng: Toàn bộ các cơ chế phòng thủ đã được tích hợp thành Security View trong kiến trúc Đồ án BTL Website Tư Vấn Trực Tuyến của nhóm WNC.G01.</a:t>
            </a:r>
            <a:endParaRPr/>
          </a:p>
          <a:p>
            <a:pPr>
              <a:defRPr/>
            </a:pPr>
            <a:r>
              <a:rPr/>
              <a:t>- Nhóm xin trân trọng cảm ơn thầy và sẵn sàng bước vào phần Q&amp;A!</a:t>
            </a:r>
            <a:endParaRPr/>
          </a:p>
        </p:txBody>
      </p:sp>
      <p:sp>
        <p:nvSpPr>
          <p:cNvPr id="1296692378" name="Slide Number Placeholder 3"/>
          <p:cNvSpPr>
            <a:spLocks noGrp="1"/>
          </p:cNvSpPr>
          <p:nvPr>
            <p:ph type="sldNum" sz="quarter" idx="10"/>
          </p:nvPr>
        </p:nvSpPr>
        <p:spPr bwMode="auto"/>
        <p:txBody>
          <a:bodyPr/>
          <a:lstStyle/>
          <a:p>
            <a:pPr>
              <a:defRPr/>
            </a:pPr>
            <a:fld id="{67D47094-350D-289D-BABB-441F331EAABE}"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586913308"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761726651"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74667826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70880183" name="Footer Placeholder 4"/>
          <p:cNvSpPr>
            <a:spLocks noGrp="1"/>
          </p:cNvSpPr>
          <p:nvPr>
            <p:ph type="ftr" sz="quarter" idx="11"/>
          </p:nvPr>
        </p:nvSpPr>
        <p:spPr bwMode="auto"/>
        <p:txBody>
          <a:bodyPr/>
          <a:lstStyle/>
          <a:p>
            <a:pPr>
              <a:defRPr/>
            </a:pPr>
            <a:endParaRPr lang="en-US"/>
          </a:p>
        </p:txBody>
      </p:sp>
      <p:sp>
        <p:nvSpPr>
          <p:cNvPr id="64223536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144293210" name="Title 1"/>
          <p:cNvSpPr>
            <a:spLocks noGrp="1"/>
          </p:cNvSpPr>
          <p:nvPr>
            <p:ph type="title"/>
          </p:nvPr>
        </p:nvSpPr>
        <p:spPr bwMode="auto"/>
        <p:txBody>
          <a:bodyPr/>
          <a:lstStyle/>
          <a:p>
            <a:pPr>
              <a:defRPr/>
            </a:pPr>
            <a:r>
              <a:rPr lang="en-US"/>
              <a:t>Click to edit Master title style</a:t>
            </a:r>
            <a:endParaRPr lang="en-US"/>
          </a:p>
        </p:txBody>
      </p:sp>
      <p:sp>
        <p:nvSpPr>
          <p:cNvPr id="18047927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4424327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525674527" name="Footer Placeholder 4"/>
          <p:cNvSpPr>
            <a:spLocks noGrp="1"/>
          </p:cNvSpPr>
          <p:nvPr>
            <p:ph type="ftr" sz="quarter" idx="11"/>
          </p:nvPr>
        </p:nvSpPr>
        <p:spPr bwMode="auto"/>
        <p:txBody>
          <a:bodyPr/>
          <a:lstStyle/>
          <a:p>
            <a:pPr>
              <a:defRPr/>
            </a:pPr>
            <a:endParaRPr lang="en-US"/>
          </a:p>
        </p:txBody>
      </p:sp>
      <p:sp>
        <p:nvSpPr>
          <p:cNvPr id="180925375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833144814"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583522711"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80032310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566261918" name="Footer Placeholder 4"/>
          <p:cNvSpPr>
            <a:spLocks noGrp="1"/>
          </p:cNvSpPr>
          <p:nvPr>
            <p:ph type="ftr" sz="quarter" idx="11"/>
          </p:nvPr>
        </p:nvSpPr>
        <p:spPr bwMode="auto"/>
        <p:txBody>
          <a:bodyPr/>
          <a:lstStyle/>
          <a:p>
            <a:pPr>
              <a:defRPr/>
            </a:pPr>
            <a:endParaRPr lang="en-US"/>
          </a:p>
        </p:txBody>
      </p:sp>
      <p:sp>
        <p:nvSpPr>
          <p:cNvPr id="205041701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00207217" name="Title 1"/>
          <p:cNvSpPr>
            <a:spLocks noGrp="1"/>
          </p:cNvSpPr>
          <p:nvPr>
            <p:ph type="title"/>
          </p:nvPr>
        </p:nvSpPr>
        <p:spPr bwMode="auto"/>
        <p:txBody>
          <a:bodyPr/>
          <a:lstStyle/>
          <a:p>
            <a:pPr>
              <a:defRPr/>
            </a:pPr>
            <a:r>
              <a:rPr lang="en-US"/>
              <a:t>Click to edit Master title style</a:t>
            </a:r>
            <a:endParaRPr lang="en-US"/>
          </a:p>
        </p:txBody>
      </p:sp>
      <p:sp>
        <p:nvSpPr>
          <p:cNvPr id="195656039"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78258340"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73758333"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52005839" name="Footer Placeholder 5"/>
          <p:cNvSpPr>
            <a:spLocks noGrp="1"/>
          </p:cNvSpPr>
          <p:nvPr>
            <p:ph type="ftr" sz="quarter" idx="11"/>
          </p:nvPr>
        </p:nvSpPr>
        <p:spPr bwMode="auto"/>
        <p:txBody>
          <a:bodyPr/>
          <a:lstStyle/>
          <a:p>
            <a:pPr>
              <a:defRPr/>
            </a:pPr>
            <a:endParaRPr lang="en-US"/>
          </a:p>
        </p:txBody>
      </p:sp>
      <p:sp>
        <p:nvSpPr>
          <p:cNvPr id="1940417116"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912745568"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823608143"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097498501"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28059805"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51557068"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05581238"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74139525" name="Footer Placeholder 7"/>
          <p:cNvSpPr>
            <a:spLocks noGrp="1"/>
          </p:cNvSpPr>
          <p:nvPr>
            <p:ph type="ftr" sz="quarter" idx="11"/>
          </p:nvPr>
        </p:nvSpPr>
        <p:spPr bwMode="auto"/>
        <p:txBody>
          <a:bodyPr/>
          <a:lstStyle/>
          <a:p>
            <a:pPr>
              <a:defRPr/>
            </a:pPr>
            <a:endParaRPr lang="en-US"/>
          </a:p>
        </p:txBody>
      </p:sp>
      <p:sp>
        <p:nvSpPr>
          <p:cNvPr id="1248699682"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775293765" name="Title 1"/>
          <p:cNvSpPr>
            <a:spLocks noGrp="1"/>
          </p:cNvSpPr>
          <p:nvPr>
            <p:ph type="title"/>
          </p:nvPr>
        </p:nvSpPr>
        <p:spPr bwMode="auto"/>
        <p:txBody>
          <a:bodyPr/>
          <a:lstStyle/>
          <a:p>
            <a:pPr>
              <a:defRPr/>
            </a:pPr>
            <a:r>
              <a:rPr lang="en-US"/>
              <a:t>Click to edit Master title style</a:t>
            </a:r>
            <a:endParaRPr lang="en-US"/>
          </a:p>
        </p:txBody>
      </p:sp>
      <p:sp>
        <p:nvSpPr>
          <p:cNvPr id="95881638"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77570807" name="Footer Placeholder 3"/>
          <p:cNvSpPr>
            <a:spLocks noGrp="1"/>
          </p:cNvSpPr>
          <p:nvPr>
            <p:ph type="ftr" sz="quarter" idx="11"/>
          </p:nvPr>
        </p:nvSpPr>
        <p:spPr bwMode="auto"/>
        <p:txBody>
          <a:bodyPr/>
          <a:lstStyle/>
          <a:p>
            <a:pPr>
              <a:defRPr/>
            </a:pPr>
            <a:endParaRPr lang="en-US"/>
          </a:p>
        </p:txBody>
      </p:sp>
      <p:sp>
        <p:nvSpPr>
          <p:cNvPr id="685167536"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936046128"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96064478" name="Footer Placeholder 2"/>
          <p:cNvSpPr>
            <a:spLocks noGrp="1"/>
          </p:cNvSpPr>
          <p:nvPr>
            <p:ph type="ftr" sz="quarter" idx="11"/>
          </p:nvPr>
        </p:nvSpPr>
        <p:spPr bwMode="auto"/>
        <p:txBody>
          <a:bodyPr/>
          <a:lstStyle/>
          <a:p>
            <a:pPr>
              <a:defRPr/>
            </a:pPr>
            <a:endParaRPr lang="en-US"/>
          </a:p>
        </p:txBody>
      </p:sp>
      <p:sp>
        <p:nvSpPr>
          <p:cNvPr id="1659599119"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67000066"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2029966516"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006501"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332604412"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29681027" name="Footer Placeholder 5"/>
          <p:cNvSpPr>
            <a:spLocks noGrp="1"/>
          </p:cNvSpPr>
          <p:nvPr>
            <p:ph type="ftr" sz="quarter" idx="11"/>
          </p:nvPr>
        </p:nvSpPr>
        <p:spPr bwMode="auto"/>
        <p:txBody>
          <a:bodyPr/>
          <a:lstStyle/>
          <a:p>
            <a:pPr>
              <a:defRPr/>
            </a:pPr>
            <a:endParaRPr lang="en-US"/>
          </a:p>
        </p:txBody>
      </p:sp>
      <p:sp>
        <p:nvSpPr>
          <p:cNvPr id="175802649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746983974"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08595001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30331171"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092021822"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99753153" name="Footer Placeholder 5"/>
          <p:cNvSpPr>
            <a:spLocks noGrp="1"/>
          </p:cNvSpPr>
          <p:nvPr>
            <p:ph type="ftr" sz="quarter" idx="11"/>
          </p:nvPr>
        </p:nvSpPr>
        <p:spPr bwMode="auto"/>
        <p:txBody>
          <a:bodyPr/>
          <a:lstStyle/>
          <a:p>
            <a:pPr>
              <a:defRPr/>
            </a:pPr>
            <a:endParaRPr lang="en-US"/>
          </a:p>
        </p:txBody>
      </p:sp>
      <p:sp>
        <p:nvSpPr>
          <p:cNvPr id="491786610"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292581689" name="Title 1"/>
          <p:cNvSpPr>
            <a:spLocks noGrp="1"/>
          </p:cNvSpPr>
          <p:nvPr>
            <p:ph type="title"/>
          </p:nvPr>
        </p:nvSpPr>
        <p:spPr bwMode="auto"/>
        <p:txBody>
          <a:bodyPr/>
          <a:lstStyle/>
          <a:p>
            <a:pPr>
              <a:defRPr/>
            </a:pPr>
            <a:r>
              <a:rPr lang="en-US"/>
              <a:t>Click to edit Master title style</a:t>
            </a:r>
            <a:endParaRPr lang="en-US"/>
          </a:p>
        </p:txBody>
      </p:sp>
      <p:sp>
        <p:nvSpPr>
          <p:cNvPr id="964687547"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24003894"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22064130" name="Footer Placeholder 4"/>
          <p:cNvSpPr>
            <a:spLocks noGrp="1"/>
          </p:cNvSpPr>
          <p:nvPr>
            <p:ph type="ftr" sz="quarter" idx="11"/>
          </p:nvPr>
        </p:nvSpPr>
        <p:spPr bwMode="auto"/>
        <p:txBody>
          <a:bodyPr/>
          <a:lstStyle/>
          <a:p>
            <a:pPr>
              <a:defRPr/>
            </a:pPr>
            <a:endParaRPr lang="en-US"/>
          </a:p>
        </p:txBody>
      </p:sp>
      <p:sp>
        <p:nvSpPr>
          <p:cNvPr id="25091209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896179078"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602585030"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44921632"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59112009" name="Footer Placeholder 4"/>
          <p:cNvSpPr>
            <a:spLocks noGrp="1"/>
          </p:cNvSpPr>
          <p:nvPr>
            <p:ph type="ftr" sz="quarter" idx="11"/>
          </p:nvPr>
        </p:nvSpPr>
        <p:spPr bwMode="auto"/>
        <p:txBody>
          <a:bodyPr/>
          <a:lstStyle/>
          <a:p>
            <a:pPr>
              <a:defRPr/>
            </a:pPr>
            <a:endParaRPr lang="en-US"/>
          </a:p>
        </p:txBody>
      </p:sp>
      <p:sp>
        <p:nvSpPr>
          <p:cNvPr id="131021220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47535275"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19584897"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22907642"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491427912"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105065943"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61189160" name="Rectangle 1"/>
          <p:cNvSpPr/>
          <p:nvPr/>
        </p:nvSpPr>
        <p:spPr bwMode="auto">
          <a:xfrm>
            <a:off x="502920" y="502920"/>
            <a:ext cx="109728" cy="5806440"/>
          </a:xfrm>
          <a:prstGeom prst="rect">
            <a:avLst/>
          </a:prstGeom>
          <a:solidFill>
            <a:srgbClr val="4191FF"/>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4622234" name="TextBox 2"/>
          <p:cNvSpPr txBox="1"/>
          <p:nvPr/>
        </p:nvSpPr>
        <p:spPr bwMode="auto">
          <a:xfrm>
            <a:off x="822960" y="658368"/>
            <a:ext cx="6309360" cy="320040"/>
          </a:xfrm>
          <a:prstGeom prst="rect">
            <a:avLst/>
          </a:prstGeom>
          <a:noFill/>
        </p:spPr>
        <p:txBody>
          <a:bodyPr wrap="none" lIns="45720" rIns="45720" anchor="t">
            <a:spAutoFit/>
          </a:bodyPr>
          <a:lstStyle/>
          <a:p>
            <a:pPr algn="l">
              <a:lnSpc>
                <a:spcPct val="100000"/>
              </a:lnSpc>
              <a:defRPr/>
            </a:pPr>
            <a:r>
              <a:rPr sz="1200" b="1">
                <a:solidFill>
                  <a:srgbClr val="4191FF"/>
                </a:solidFill>
                <a:latin typeface="Aptos"/>
              </a:rPr>
              <a:t>OWASP TOP 10  •  THỰC NGHIỆM AN TOÀN WEB</a:t>
            </a:r>
            <a:endParaRPr/>
          </a:p>
        </p:txBody>
      </p:sp>
      <p:sp>
        <p:nvSpPr>
          <p:cNvPr id="891203305" name="TextBox 3"/>
          <p:cNvSpPr txBox="1"/>
          <p:nvPr/>
        </p:nvSpPr>
        <p:spPr bwMode="auto">
          <a:xfrm>
            <a:off x="822960" y="1143000"/>
            <a:ext cx="6583680" cy="1097280"/>
          </a:xfrm>
          <a:prstGeom prst="rect">
            <a:avLst/>
          </a:prstGeom>
          <a:noFill/>
        </p:spPr>
        <p:txBody>
          <a:bodyPr wrap="none" lIns="45720" rIns="45720" anchor="t">
            <a:spAutoFit/>
          </a:bodyPr>
          <a:lstStyle/>
          <a:p>
            <a:pPr algn="l">
              <a:lnSpc>
                <a:spcPct val="100000"/>
              </a:lnSpc>
              <a:defRPr/>
            </a:pPr>
            <a:r>
              <a:rPr sz="3100" b="1">
                <a:solidFill>
                  <a:srgbClr val="121F34"/>
                </a:solidFill>
                <a:latin typeface="Aptos"/>
              </a:rPr>
              <a:t>Nghiên cứu lỗ hổng Web</a:t>
            </a:r>
            <a:br>
              <a:rPr sz="3100" b="1">
                <a:solidFill>
                  <a:srgbClr val="121F34"/>
                </a:solidFill>
                <a:latin typeface="Aptos"/>
              </a:rPr>
            </a:br>
            <a:r>
              <a:rPr sz="3100" b="1">
                <a:solidFill>
                  <a:srgbClr val="121F34"/>
                </a:solidFill>
                <a:latin typeface="Aptos"/>
              </a:rPr>
              <a:t>&amp; cơ chế phòng thủ đa tầng</a:t>
            </a:r>
            <a:endParaRPr/>
          </a:p>
        </p:txBody>
      </p:sp>
      <p:sp>
        <p:nvSpPr>
          <p:cNvPr id="1330558464" name="TextBox 4"/>
          <p:cNvSpPr txBox="1"/>
          <p:nvPr/>
        </p:nvSpPr>
        <p:spPr bwMode="auto">
          <a:xfrm>
            <a:off x="822960" y="2514600"/>
            <a:ext cx="6309360" cy="411480"/>
          </a:xfrm>
          <a:prstGeom prst="rect">
            <a:avLst/>
          </a:prstGeom>
          <a:noFill/>
        </p:spPr>
        <p:txBody>
          <a:bodyPr wrap="none" lIns="45720" rIns="45720" anchor="t">
            <a:spAutoFit/>
          </a:bodyPr>
          <a:lstStyle/>
          <a:p>
            <a:pPr algn="l">
              <a:lnSpc>
                <a:spcPct val="100000"/>
              </a:lnSpc>
              <a:defRPr/>
            </a:pPr>
            <a:r>
              <a:rPr sz="1600" b="1">
                <a:solidFill>
                  <a:srgbClr val="5D6C82"/>
                </a:solidFill>
                <a:latin typeface="Aptos"/>
              </a:rPr>
              <a:t>SQL Injection  •  Stored XSS  •  CSRF Attack</a:t>
            </a:r>
            <a:endParaRPr/>
          </a:p>
        </p:txBody>
      </p:sp>
      <p:sp>
        <p:nvSpPr>
          <p:cNvPr id="388579528" name="Rounded Rectangle 5"/>
          <p:cNvSpPr/>
          <p:nvPr/>
        </p:nvSpPr>
        <p:spPr bwMode="auto">
          <a:xfrm>
            <a:off x="822960" y="3246120"/>
            <a:ext cx="5394960" cy="658368"/>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71472685" name="TextBox 6"/>
          <p:cNvSpPr txBox="1"/>
          <p:nvPr/>
        </p:nvSpPr>
        <p:spPr bwMode="auto">
          <a:xfrm>
            <a:off x="1051560" y="3401568"/>
            <a:ext cx="4937760" cy="347472"/>
          </a:xfrm>
          <a:prstGeom prst="rect">
            <a:avLst/>
          </a:prstGeom>
          <a:noFill/>
        </p:spPr>
        <p:txBody>
          <a:bodyPr wrap="none" lIns="45720" rIns="45720" anchor="t">
            <a:spAutoFit/>
          </a:bodyPr>
          <a:lstStyle/>
          <a:p>
            <a:pPr algn="l">
              <a:lnSpc>
                <a:spcPct val="100000"/>
              </a:lnSpc>
              <a:defRPr/>
            </a:pPr>
            <a:r>
              <a:rPr sz="1300" b="1">
                <a:solidFill>
                  <a:srgbClr val="121F34"/>
                </a:solidFill>
                <a:latin typeface="Aptos"/>
              </a:rPr>
              <a:t>Mô hình: 3 bề mặt nguy cơ → 3 cơ chế phòng thủ</a:t>
            </a:r>
            <a:endParaRPr/>
          </a:p>
        </p:txBody>
      </p:sp>
      <p:sp>
        <p:nvSpPr>
          <p:cNvPr id="111522332" name="Rounded Rectangle 7"/>
          <p:cNvSpPr/>
          <p:nvPr/>
        </p:nvSpPr>
        <p:spPr bwMode="auto">
          <a:xfrm>
            <a:off x="822960" y="4251960"/>
            <a:ext cx="1600200" cy="566928"/>
          </a:xfrm>
          <a:prstGeom prst="roundRect">
            <a:avLst>
              <a:gd name="adj" fmla="val 8000"/>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83186721" name="TextBox 8"/>
          <p:cNvSpPr txBox="1"/>
          <p:nvPr/>
        </p:nvSpPr>
        <p:spPr bwMode="auto">
          <a:xfrm>
            <a:off x="896112" y="4370832"/>
            <a:ext cx="1453896" cy="274320"/>
          </a:xfrm>
          <a:prstGeom prst="rect">
            <a:avLst/>
          </a:prstGeom>
          <a:noFill/>
        </p:spPr>
        <p:txBody>
          <a:bodyPr wrap="none" lIns="45720" rIns="45720" anchor="t">
            <a:spAutoFit/>
          </a:bodyPr>
          <a:lstStyle/>
          <a:p>
            <a:pPr algn="ctr">
              <a:lnSpc>
                <a:spcPct val="100000"/>
              </a:lnSpc>
              <a:defRPr/>
            </a:pPr>
            <a:r>
              <a:rPr sz="1000" b="1">
                <a:solidFill>
                  <a:srgbClr val="0A1223"/>
                </a:solidFill>
                <a:latin typeface="Aptos"/>
              </a:rPr>
              <a:t>SQL INJECTION</a:t>
            </a:r>
            <a:endParaRPr/>
          </a:p>
        </p:txBody>
      </p:sp>
      <p:sp>
        <p:nvSpPr>
          <p:cNvPr id="1827948625" name="Rounded Rectangle 9"/>
          <p:cNvSpPr/>
          <p:nvPr/>
        </p:nvSpPr>
        <p:spPr bwMode="auto">
          <a:xfrm>
            <a:off x="2651760" y="4251960"/>
            <a:ext cx="1600200" cy="566928"/>
          </a:xfrm>
          <a:prstGeom prst="roundRect">
            <a:avLst>
              <a:gd name="adj" fmla="val 8000"/>
            </a:avLst>
          </a:prstGeom>
          <a:solidFill>
            <a:srgbClr val="F1BE48"/>
          </a:solidFill>
          <a:ln>
            <a:solidFill>
              <a:srgbClr val="F1B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9243484" name="TextBox 10"/>
          <p:cNvSpPr txBox="1"/>
          <p:nvPr/>
        </p:nvSpPr>
        <p:spPr bwMode="auto">
          <a:xfrm>
            <a:off x="2724911" y="4370832"/>
            <a:ext cx="1453896" cy="274320"/>
          </a:xfrm>
          <a:prstGeom prst="rect">
            <a:avLst/>
          </a:prstGeom>
          <a:noFill/>
        </p:spPr>
        <p:txBody>
          <a:bodyPr wrap="none" lIns="45720" rIns="45720" anchor="t">
            <a:spAutoFit/>
          </a:bodyPr>
          <a:lstStyle/>
          <a:p>
            <a:pPr algn="ctr">
              <a:lnSpc>
                <a:spcPct val="100000"/>
              </a:lnSpc>
              <a:defRPr/>
            </a:pPr>
            <a:r>
              <a:rPr sz="1000" b="1">
                <a:solidFill>
                  <a:srgbClr val="0A1223"/>
                </a:solidFill>
                <a:latin typeface="Aptos"/>
              </a:rPr>
              <a:t>STORED XSS</a:t>
            </a:r>
            <a:endParaRPr/>
          </a:p>
        </p:txBody>
      </p:sp>
      <p:sp>
        <p:nvSpPr>
          <p:cNvPr id="2096457910" name="Rounded Rectangle 11"/>
          <p:cNvSpPr/>
          <p:nvPr/>
        </p:nvSpPr>
        <p:spPr bwMode="auto">
          <a:xfrm>
            <a:off x="4480560" y="4251960"/>
            <a:ext cx="1600200" cy="566928"/>
          </a:xfrm>
          <a:prstGeom prst="roundRect">
            <a:avLst>
              <a:gd name="adj" fmla="val 8000"/>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9825866" name="TextBox 12"/>
          <p:cNvSpPr txBox="1"/>
          <p:nvPr/>
        </p:nvSpPr>
        <p:spPr bwMode="auto">
          <a:xfrm>
            <a:off x="4553712" y="4370832"/>
            <a:ext cx="1453896" cy="274320"/>
          </a:xfrm>
          <a:prstGeom prst="rect">
            <a:avLst/>
          </a:prstGeom>
          <a:noFill/>
        </p:spPr>
        <p:txBody>
          <a:bodyPr wrap="none" lIns="45720" rIns="45720" anchor="t">
            <a:spAutoFit/>
          </a:bodyPr>
          <a:lstStyle/>
          <a:p>
            <a:pPr algn="ctr">
              <a:lnSpc>
                <a:spcPct val="100000"/>
              </a:lnSpc>
              <a:defRPr/>
            </a:pPr>
            <a:r>
              <a:rPr sz="1000" b="1">
                <a:solidFill>
                  <a:srgbClr val="0A1223"/>
                </a:solidFill>
                <a:latin typeface="Aptos"/>
              </a:rPr>
              <a:t>CSRF</a:t>
            </a:r>
            <a:endParaRPr/>
          </a:p>
        </p:txBody>
      </p:sp>
      <p:sp>
        <p:nvSpPr>
          <p:cNvPr id="20377395" name="TextBox 13"/>
          <p:cNvSpPr txBox="1"/>
          <p:nvPr/>
        </p:nvSpPr>
        <p:spPr bwMode="auto">
          <a:xfrm>
            <a:off x="822960" y="5166360"/>
            <a:ext cx="6675120" cy="274320"/>
          </a:xfrm>
          <a:prstGeom prst="rect">
            <a:avLst/>
          </a:prstGeom>
          <a:noFill/>
        </p:spPr>
        <p:txBody>
          <a:bodyPr wrap="none" lIns="45720" rIns="45720" anchor="t">
            <a:spAutoFit/>
          </a:bodyPr>
          <a:lstStyle/>
          <a:p>
            <a:pPr algn="l">
              <a:lnSpc>
                <a:spcPct val="100000"/>
              </a:lnSpc>
              <a:defRPr/>
            </a:pPr>
            <a:r>
              <a:rPr sz="1100" b="0">
                <a:solidFill>
                  <a:srgbClr val="5D6C82"/>
                </a:solidFill>
                <a:latin typeface="Aptos"/>
              </a:rPr>
              <a:t>GVHD: ThS. Lê Hữu Dũng  •  Khoa CNTT — Trường Đại học Mở Hà Nội</a:t>
            </a:r>
            <a:endParaRPr/>
          </a:p>
        </p:txBody>
      </p:sp>
      <p:sp>
        <p:nvSpPr>
          <p:cNvPr id="1858323575" name="TextBox 14"/>
          <p:cNvSpPr txBox="1"/>
          <p:nvPr/>
        </p:nvSpPr>
        <p:spPr bwMode="auto">
          <a:xfrm>
            <a:off x="8046720" y="960120"/>
            <a:ext cx="3291840" cy="320040"/>
          </a:xfrm>
          <a:prstGeom prst="rect">
            <a:avLst/>
          </a:prstGeom>
          <a:noFill/>
        </p:spPr>
        <p:txBody>
          <a:bodyPr wrap="none" lIns="45720" rIns="45720" anchor="t">
            <a:spAutoFit/>
          </a:bodyPr>
          <a:lstStyle/>
          <a:p>
            <a:pPr algn="r">
              <a:lnSpc>
                <a:spcPct val="100000"/>
              </a:lnSpc>
              <a:defRPr/>
            </a:pPr>
            <a:r>
              <a:rPr sz="1200" b="1">
                <a:solidFill>
                  <a:srgbClr val="47CDDC"/>
                </a:solidFill>
                <a:latin typeface="Aptos"/>
              </a:rPr>
              <a:t>NHÓM WNC.G01</a:t>
            </a:r>
            <a:endParaRPr/>
          </a:p>
        </p:txBody>
      </p:sp>
      <p:sp>
        <p:nvSpPr>
          <p:cNvPr id="1580530627" name="Rounded Rectangle 15"/>
          <p:cNvSpPr/>
          <p:nvPr/>
        </p:nvSpPr>
        <p:spPr bwMode="auto">
          <a:xfrm>
            <a:off x="8001000" y="1508759"/>
            <a:ext cx="3337560" cy="9601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3086183" name="TextBox 16"/>
          <p:cNvSpPr txBox="1"/>
          <p:nvPr/>
        </p:nvSpPr>
        <p:spPr bwMode="auto">
          <a:xfrm>
            <a:off x="8229600" y="1655063"/>
            <a:ext cx="2834640" cy="256032"/>
          </a:xfrm>
          <a:prstGeom prst="rect">
            <a:avLst/>
          </a:prstGeom>
          <a:noFill/>
        </p:spPr>
        <p:txBody>
          <a:bodyPr wrap="none" lIns="45720" rIns="45720" anchor="t">
            <a:spAutoFit/>
          </a:bodyPr>
          <a:lstStyle/>
          <a:p>
            <a:pPr algn="l">
              <a:lnSpc>
                <a:spcPct val="100000"/>
              </a:lnSpc>
              <a:defRPr/>
            </a:pPr>
            <a:r>
              <a:rPr sz="1400" b="1">
                <a:solidFill>
                  <a:srgbClr val="121F34"/>
                </a:solidFill>
                <a:latin typeface="Aptos"/>
              </a:rPr>
              <a:t>Nguyễn Danh Học</a:t>
            </a:r>
            <a:endParaRPr/>
          </a:p>
        </p:txBody>
      </p:sp>
      <p:sp>
        <p:nvSpPr>
          <p:cNvPr id="1550069035" name="TextBox 17"/>
          <p:cNvSpPr txBox="1"/>
          <p:nvPr/>
        </p:nvSpPr>
        <p:spPr bwMode="auto">
          <a:xfrm>
            <a:off x="8229600" y="1947671"/>
            <a:ext cx="2834640" cy="201168"/>
          </a:xfrm>
          <a:prstGeom prst="rect">
            <a:avLst/>
          </a:prstGeom>
          <a:noFill/>
        </p:spPr>
        <p:txBody>
          <a:bodyPr wrap="none" lIns="45720" rIns="45720" anchor="t">
            <a:spAutoFit/>
          </a:bodyPr>
          <a:lstStyle/>
          <a:p>
            <a:pPr algn="l">
              <a:lnSpc>
                <a:spcPct val="100000"/>
              </a:lnSpc>
              <a:defRPr/>
            </a:pPr>
            <a:r>
              <a:rPr sz="1000" b="1">
                <a:solidFill>
                  <a:srgbClr val="EF5B5B"/>
                </a:solidFill>
                <a:latin typeface="Aptos"/>
              </a:rPr>
              <a:t>23A1001D0158</a:t>
            </a:r>
            <a:endParaRPr/>
          </a:p>
        </p:txBody>
      </p:sp>
      <p:sp>
        <p:nvSpPr>
          <p:cNvPr id="1037026252" name="TextBox 18"/>
          <p:cNvSpPr txBox="1"/>
          <p:nvPr/>
        </p:nvSpPr>
        <p:spPr bwMode="auto">
          <a:xfrm>
            <a:off x="8229600" y="2167128"/>
            <a:ext cx="2834640" cy="182880"/>
          </a:xfrm>
          <a:prstGeom prst="rect">
            <a:avLst/>
          </a:prstGeom>
          <a:noFill/>
        </p:spPr>
        <p:txBody>
          <a:bodyPr wrap="none" lIns="45720" rIns="45720" anchor="t">
            <a:spAutoFit/>
          </a:bodyPr>
          <a:lstStyle/>
          <a:p>
            <a:pPr algn="l">
              <a:lnSpc>
                <a:spcPct val="100000"/>
              </a:lnSpc>
              <a:defRPr/>
            </a:pPr>
            <a:r>
              <a:rPr sz="950" b="0">
                <a:solidFill>
                  <a:srgbClr val="5D6C82"/>
                </a:solidFill>
                <a:latin typeface="Aptos"/>
              </a:rPr>
              <a:t>SQL Injection • CSDL &amp; API</a:t>
            </a:r>
            <a:endParaRPr/>
          </a:p>
        </p:txBody>
      </p:sp>
      <p:sp>
        <p:nvSpPr>
          <p:cNvPr id="24459006" name="Rounded Rectangle 19"/>
          <p:cNvSpPr/>
          <p:nvPr/>
        </p:nvSpPr>
        <p:spPr bwMode="auto">
          <a:xfrm>
            <a:off x="8001000" y="2743200"/>
            <a:ext cx="3337560" cy="9601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0898333" name="TextBox 20"/>
          <p:cNvSpPr txBox="1"/>
          <p:nvPr/>
        </p:nvSpPr>
        <p:spPr bwMode="auto">
          <a:xfrm>
            <a:off x="8229600" y="2889504"/>
            <a:ext cx="2834640" cy="256032"/>
          </a:xfrm>
          <a:prstGeom prst="rect">
            <a:avLst/>
          </a:prstGeom>
          <a:noFill/>
        </p:spPr>
        <p:txBody>
          <a:bodyPr wrap="none" lIns="45720" rIns="45720" anchor="t">
            <a:spAutoFit/>
          </a:bodyPr>
          <a:lstStyle/>
          <a:p>
            <a:pPr algn="l">
              <a:lnSpc>
                <a:spcPct val="100000"/>
              </a:lnSpc>
              <a:defRPr/>
            </a:pPr>
            <a:r>
              <a:rPr sz="1400" b="1">
                <a:solidFill>
                  <a:srgbClr val="121F34"/>
                </a:solidFill>
                <a:latin typeface="Aptos"/>
              </a:rPr>
              <a:t>Nguyễn Thanh Bình</a:t>
            </a:r>
            <a:endParaRPr/>
          </a:p>
        </p:txBody>
      </p:sp>
      <p:sp>
        <p:nvSpPr>
          <p:cNvPr id="1421941722" name="TextBox 21"/>
          <p:cNvSpPr txBox="1"/>
          <p:nvPr/>
        </p:nvSpPr>
        <p:spPr bwMode="auto">
          <a:xfrm>
            <a:off x="8229600" y="3182112"/>
            <a:ext cx="2834640" cy="201168"/>
          </a:xfrm>
          <a:prstGeom prst="rect">
            <a:avLst/>
          </a:prstGeom>
          <a:noFill/>
        </p:spPr>
        <p:txBody>
          <a:bodyPr wrap="none" lIns="45720" rIns="45720" anchor="t">
            <a:spAutoFit/>
          </a:bodyPr>
          <a:lstStyle/>
          <a:p>
            <a:pPr algn="l">
              <a:lnSpc>
                <a:spcPct val="100000"/>
              </a:lnSpc>
              <a:defRPr/>
            </a:pPr>
            <a:r>
              <a:rPr sz="1000" b="1">
                <a:solidFill>
                  <a:srgbClr val="F1BE48"/>
                </a:solidFill>
                <a:latin typeface="Aptos"/>
              </a:rPr>
              <a:t>23A1001D0041</a:t>
            </a:r>
            <a:endParaRPr/>
          </a:p>
        </p:txBody>
      </p:sp>
      <p:sp>
        <p:nvSpPr>
          <p:cNvPr id="166032391" name="TextBox 22"/>
          <p:cNvSpPr txBox="1"/>
          <p:nvPr/>
        </p:nvSpPr>
        <p:spPr bwMode="auto">
          <a:xfrm>
            <a:off x="8229600" y="3401568"/>
            <a:ext cx="2834640" cy="182880"/>
          </a:xfrm>
          <a:prstGeom prst="rect">
            <a:avLst/>
          </a:prstGeom>
          <a:noFill/>
        </p:spPr>
        <p:txBody>
          <a:bodyPr wrap="none" lIns="45720" rIns="45720" anchor="t">
            <a:spAutoFit/>
          </a:bodyPr>
          <a:lstStyle/>
          <a:p>
            <a:pPr algn="l">
              <a:lnSpc>
                <a:spcPct val="100000"/>
              </a:lnSpc>
              <a:defRPr/>
            </a:pPr>
            <a:r>
              <a:rPr sz="950" b="0">
                <a:solidFill>
                  <a:srgbClr val="5D6C82"/>
                </a:solidFill>
                <a:latin typeface="Aptos"/>
              </a:rPr>
              <a:t>Stored XSS • Cookie &amp; DOM</a:t>
            </a:r>
            <a:endParaRPr/>
          </a:p>
        </p:txBody>
      </p:sp>
      <p:sp>
        <p:nvSpPr>
          <p:cNvPr id="86430148" name="Rounded Rectangle 23"/>
          <p:cNvSpPr/>
          <p:nvPr/>
        </p:nvSpPr>
        <p:spPr bwMode="auto">
          <a:xfrm>
            <a:off x="8001000" y="3977639"/>
            <a:ext cx="3337560" cy="9601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34727855" name="TextBox 24"/>
          <p:cNvSpPr txBox="1"/>
          <p:nvPr/>
        </p:nvSpPr>
        <p:spPr bwMode="auto">
          <a:xfrm>
            <a:off x="8229600" y="4123944"/>
            <a:ext cx="2834640" cy="256032"/>
          </a:xfrm>
          <a:prstGeom prst="rect">
            <a:avLst/>
          </a:prstGeom>
          <a:noFill/>
        </p:spPr>
        <p:txBody>
          <a:bodyPr wrap="none" lIns="45720" rIns="45720" anchor="t">
            <a:spAutoFit/>
          </a:bodyPr>
          <a:lstStyle/>
          <a:p>
            <a:pPr algn="l">
              <a:lnSpc>
                <a:spcPct val="100000"/>
              </a:lnSpc>
              <a:defRPr/>
            </a:pPr>
            <a:r>
              <a:rPr sz="1400" b="1">
                <a:solidFill>
                  <a:srgbClr val="121F34"/>
                </a:solidFill>
                <a:latin typeface="Aptos"/>
              </a:rPr>
              <a:t>Nguyễn Minh Cường</a:t>
            </a:r>
            <a:endParaRPr/>
          </a:p>
        </p:txBody>
      </p:sp>
      <p:sp>
        <p:nvSpPr>
          <p:cNvPr id="1717232538" name="TextBox 25"/>
          <p:cNvSpPr txBox="1"/>
          <p:nvPr/>
        </p:nvSpPr>
        <p:spPr bwMode="auto">
          <a:xfrm>
            <a:off x="8229600" y="4416552"/>
            <a:ext cx="2834640" cy="201168"/>
          </a:xfrm>
          <a:prstGeom prst="rect">
            <a:avLst/>
          </a:prstGeom>
          <a:noFill/>
        </p:spPr>
        <p:txBody>
          <a:bodyPr wrap="none" lIns="45720" rIns="45720" anchor="t">
            <a:spAutoFit/>
          </a:bodyPr>
          <a:lstStyle/>
          <a:p>
            <a:pPr algn="l">
              <a:lnSpc>
                <a:spcPct val="100000"/>
              </a:lnSpc>
              <a:defRPr/>
            </a:pPr>
            <a:r>
              <a:rPr sz="1000" b="1">
                <a:solidFill>
                  <a:srgbClr val="39C480"/>
                </a:solidFill>
                <a:latin typeface="Aptos"/>
              </a:rPr>
              <a:t>23A1001D0058</a:t>
            </a:r>
            <a:endParaRPr/>
          </a:p>
        </p:txBody>
      </p:sp>
      <p:sp>
        <p:nvSpPr>
          <p:cNvPr id="1665816012" name="TextBox 26"/>
          <p:cNvSpPr txBox="1"/>
          <p:nvPr/>
        </p:nvSpPr>
        <p:spPr bwMode="auto">
          <a:xfrm>
            <a:off x="8229600" y="4636007"/>
            <a:ext cx="2834640" cy="182880"/>
          </a:xfrm>
          <a:prstGeom prst="rect">
            <a:avLst/>
          </a:prstGeom>
          <a:noFill/>
        </p:spPr>
        <p:txBody>
          <a:bodyPr wrap="none" lIns="45720" rIns="45720" anchor="t">
            <a:spAutoFit/>
          </a:bodyPr>
          <a:lstStyle/>
          <a:p>
            <a:pPr algn="l">
              <a:lnSpc>
                <a:spcPct val="100000"/>
              </a:lnSpc>
              <a:defRPr/>
            </a:pPr>
            <a:r>
              <a:rPr sz="950" b="0">
                <a:solidFill>
                  <a:srgbClr val="5D6C82"/>
                </a:solidFill>
                <a:latin typeface="Aptos"/>
              </a:rPr>
              <a:t>CSRF • Giao dịch &amp; Token</a:t>
            </a:r>
            <a:endParaRPr/>
          </a:p>
        </p:txBody>
      </p:sp>
      <p:sp>
        <p:nvSpPr>
          <p:cNvPr id="1679159299" name="TextBox 27"/>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93380898"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01 • BỐI CẢNH</a:t>
            </a:r>
            <a:endParaRPr/>
          </a:p>
        </p:txBody>
      </p:sp>
      <p:sp>
        <p:nvSpPr>
          <p:cNvPr id="1500956331"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Môi trường công nghệ &amp; phạm vi thực nghiệm</a:t>
            </a:r>
            <a:endParaRPr/>
          </a:p>
        </p:txBody>
      </p:sp>
      <p:sp>
        <p:nvSpPr>
          <p:cNvPr id="2138518845"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8601751"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02</a:t>
            </a:r>
            <a:endParaRPr/>
          </a:p>
        </p:txBody>
      </p:sp>
      <p:sp>
        <p:nvSpPr>
          <p:cNvPr id="541531006" name="Rounded Rectangle 5"/>
          <p:cNvSpPr/>
          <p:nvPr/>
        </p:nvSpPr>
        <p:spPr bwMode="auto">
          <a:xfrm>
            <a:off x="594360" y="1325880"/>
            <a:ext cx="5349240" cy="452628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03366305" name="Rectangle 6"/>
          <p:cNvSpPr/>
          <p:nvPr/>
        </p:nvSpPr>
        <p:spPr bwMode="auto">
          <a:xfrm>
            <a:off x="594360" y="1325880"/>
            <a:ext cx="54864" cy="4526280"/>
          </a:xfrm>
          <a:prstGeom prst="rect">
            <a:avLst/>
          </a:prstGeom>
          <a:solidFill>
            <a:srgbClr val="4191FF"/>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5002522" name="TextBox 7"/>
          <p:cNvSpPr txBox="1"/>
          <p:nvPr/>
        </p:nvSpPr>
        <p:spPr bwMode="auto">
          <a:xfrm>
            <a:off x="795528" y="1490472"/>
            <a:ext cx="4983479" cy="320040"/>
          </a:xfrm>
          <a:prstGeom prst="rect">
            <a:avLst/>
          </a:prstGeom>
          <a:noFill/>
        </p:spPr>
        <p:txBody>
          <a:bodyPr wrap="none" lIns="45720" rIns="45720" anchor="t">
            <a:spAutoFit/>
          </a:bodyPr>
          <a:lstStyle/>
          <a:p>
            <a:pPr algn="l">
              <a:lnSpc>
                <a:spcPct val="100000"/>
              </a:lnSpc>
              <a:defRPr/>
            </a:pPr>
            <a:r>
              <a:rPr sz="1500" b="1">
                <a:solidFill>
                  <a:srgbClr val="4191FF"/>
                </a:solidFill>
                <a:latin typeface="Aptos"/>
              </a:rPr>
              <a:t>▣  TECH STACK</a:t>
            </a:r>
            <a:endParaRPr/>
          </a:p>
        </p:txBody>
      </p:sp>
      <p:sp>
        <p:nvSpPr>
          <p:cNvPr id="918078535" name="TextBox 8"/>
          <p:cNvSpPr txBox="1"/>
          <p:nvPr/>
        </p:nvSpPr>
        <p:spPr bwMode="auto">
          <a:xfrm>
            <a:off x="795528" y="1901952"/>
            <a:ext cx="4983479" cy="381304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Operating System</a:t>
            </a:r>
            <a:br>
              <a:rPr sz="1250" b="0">
                <a:solidFill>
                  <a:srgbClr val="121F34"/>
                </a:solidFill>
                <a:latin typeface="Aptos"/>
              </a:rPr>
            </a:br>
            <a:r>
              <a:rPr sz="1250" b="0">
                <a:solidFill>
                  <a:srgbClr val="121F34"/>
                </a:solidFill>
                <a:latin typeface="Aptos"/>
              </a:rPr>
              <a:t>Ubuntu 24.04 LTS / Linux Kernel 6.8</a:t>
            </a:r>
            <a:br>
              <a:rPr sz="1250" b="0">
                <a:solidFill>
                  <a:srgbClr val="121F34"/>
                </a:solidFill>
                <a:latin typeface="Aptos"/>
              </a:rPr>
            </a:br>
            <a:br>
              <a:rPr sz="1250" b="0">
                <a:solidFill>
                  <a:srgbClr val="121F34"/>
                </a:solidFill>
                <a:latin typeface="Aptos"/>
              </a:rPr>
            </a:br>
            <a:r>
              <a:rPr sz="1250" b="0">
                <a:solidFill>
                  <a:srgbClr val="121F34"/>
                </a:solidFill>
                <a:latin typeface="Aptos"/>
              </a:rPr>
              <a:t>Backend</a:t>
            </a:r>
            <a:br>
              <a:rPr sz="1250" b="0">
                <a:solidFill>
                  <a:srgbClr val="121F34"/>
                </a:solidFill>
                <a:latin typeface="Aptos"/>
              </a:rPr>
            </a:br>
            <a:r>
              <a:rPr sz="1250" b="0">
                <a:solidFill>
                  <a:srgbClr val="121F34"/>
                </a:solidFill>
                <a:latin typeface="Aptos"/>
              </a:rPr>
              <a:t>ASP.NET Core MVC / .NET 10.0</a:t>
            </a:r>
            <a:br>
              <a:rPr sz="1250" b="0">
                <a:solidFill>
                  <a:srgbClr val="121F34"/>
                </a:solidFill>
                <a:latin typeface="Aptos"/>
              </a:rPr>
            </a:br>
            <a:br>
              <a:rPr sz="1250" b="0">
                <a:solidFill>
                  <a:srgbClr val="121F34"/>
                </a:solidFill>
                <a:latin typeface="Aptos"/>
              </a:rPr>
            </a:br>
            <a:r>
              <a:rPr sz="1250" b="0">
                <a:solidFill>
                  <a:srgbClr val="121F34"/>
                </a:solidFill>
                <a:latin typeface="Aptos"/>
              </a:rPr>
              <a:t>Database</a:t>
            </a:r>
            <a:br>
              <a:rPr sz="1250" b="0">
                <a:solidFill>
                  <a:srgbClr val="121F34"/>
                </a:solidFill>
                <a:latin typeface="Aptos"/>
              </a:rPr>
            </a:br>
            <a:r>
              <a:rPr sz="1250" b="0">
                <a:solidFill>
                  <a:srgbClr val="121F34"/>
                </a:solidFill>
                <a:latin typeface="Aptos"/>
              </a:rPr>
              <a:t>Microsoft SQL Server 2025 Developer • Port 1433</a:t>
            </a:r>
            <a:br>
              <a:rPr sz="1250" b="0">
                <a:solidFill>
                  <a:srgbClr val="121F34"/>
                </a:solidFill>
                <a:latin typeface="Aptos"/>
              </a:rPr>
            </a:br>
            <a:br>
              <a:rPr sz="1250" b="0">
                <a:solidFill>
                  <a:srgbClr val="121F34"/>
                </a:solidFill>
                <a:latin typeface="Aptos"/>
              </a:rPr>
            </a:br>
            <a:r>
              <a:rPr sz="1250" b="0">
                <a:solidFill>
                  <a:srgbClr val="121F34"/>
                </a:solidFill>
                <a:latin typeface="Aptos"/>
              </a:rPr>
              <a:t>Frontend &amp; Tools</a:t>
            </a:r>
            <a:br>
              <a:rPr sz="1250" b="0">
                <a:solidFill>
                  <a:srgbClr val="121F34"/>
                </a:solidFill>
                <a:latin typeface="Aptos"/>
              </a:rPr>
            </a:br>
            <a:r>
              <a:rPr sz="1250" b="0">
                <a:solidFill>
                  <a:srgbClr val="121F34"/>
                </a:solidFill>
                <a:latin typeface="Aptos"/>
              </a:rPr>
              <a:t>Razor • HTML5 • CSS3 • JavaScript</a:t>
            </a:r>
            <a:br>
              <a:rPr sz="1250" b="0">
                <a:solidFill>
                  <a:srgbClr val="121F34"/>
                </a:solidFill>
                <a:latin typeface="Aptos"/>
              </a:rPr>
            </a:br>
            <a:r>
              <a:rPr sz="1250" b="0">
                <a:solidFill>
                  <a:srgbClr val="121F34"/>
                </a:solidFill>
                <a:latin typeface="Aptos"/>
              </a:rPr>
              <a:t>VS Code • Chrome DevTools • cURL CLI • MSSQL Extension</a:t>
            </a:r>
            <a:endParaRPr/>
          </a:p>
        </p:txBody>
      </p:sp>
      <p:sp>
        <p:nvSpPr>
          <p:cNvPr id="31567764" name="Rounded Rectangle 9"/>
          <p:cNvSpPr/>
          <p:nvPr/>
        </p:nvSpPr>
        <p:spPr bwMode="auto">
          <a:xfrm>
            <a:off x="6263640" y="1325880"/>
            <a:ext cx="5349240" cy="452628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789206" name="Rectangle 10"/>
          <p:cNvSpPr/>
          <p:nvPr/>
        </p:nvSpPr>
        <p:spPr bwMode="auto">
          <a:xfrm>
            <a:off x="6263640" y="1325880"/>
            <a:ext cx="54864" cy="4526280"/>
          </a:xfrm>
          <a:prstGeom prst="rect">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20801706" name="TextBox 11"/>
          <p:cNvSpPr txBox="1"/>
          <p:nvPr/>
        </p:nvSpPr>
        <p:spPr bwMode="auto">
          <a:xfrm>
            <a:off x="6464807" y="1490472"/>
            <a:ext cx="4983479" cy="320040"/>
          </a:xfrm>
          <a:prstGeom prst="rect">
            <a:avLst/>
          </a:prstGeom>
          <a:noFill/>
        </p:spPr>
        <p:txBody>
          <a:bodyPr wrap="none" lIns="45720" rIns="45720" anchor="t">
            <a:spAutoFit/>
          </a:bodyPr>
          <a:lstStyle/>
          <a:p>
            <a:pPr algn="l">
              <a:lnSpc>
                <a:spcPct val="100000"/>
              </a:lnSpc>
              <a:defRPr/>
            </a:pPr>
            <a:r>
              <a:rPr sz="1500" b="1">
                <a:solidFill>
                  <a:srgbClr val="39C480"/>
                </a:solidFill>
                <a:latin typeface="Aptos"/>
              </a:rPr>
              <a:t>✓  LAB SCOPE • NGUYÊN TẮC ĐẠO ĐỨC</a:t>
            </a:r>
            <a:endParaRPr/>
          </a:p>
        </p:txBody>
      </p:sp>
      <p:sp>
        <p:nvSpPr>
          <p:cNvPr id="745017382" name="TextBox 12"/>
          <p:cNvSpPr txBox="1"/>
          <p:nvPr/>
        </p:nvSpPr>
        <p:spPr bwMode="auto">
          <a:xfrm>
            <a:off x="6464807" y="1901952"/>
            <a:ext cx="4983479" cy="381304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Môi trường cô lập</a:t>
            </a:r>
            <a:br>
              <a:rPr sz="1250" b="0">
                <a:solidFill>
                  <a:srgbClr val="121F34"/>
                </a:solidFill>
                <a:latin typeface="Aptos"/>
              </a:rPr>
            </a:br>
            <a:r>
              <a:rPr sz="1250" b="0">
                <a:solidFill>
                  <a:srgbClr val="121F34"/>
                </a:solidFill>
                <a:latin typeface="Aptos"/>
              </a:rPr>
              <a:t>Localhost: http://localhost:5076</a:t>
            </a:r>
            <a:br>
              <a:rPr sz="1250" b="0">
                <a:solidFill>
                  <a:srgbClr val="121F34"/>
                </a:solidFill>
                <a:latin typeface="Aptos"/>
              </a:rPr>
            </a:br>
            <a:br>
              <a:rPr sz="1250" b="0">
                <a:solidFill>
                  <a:srgbClr val="121F34"/>
                </a:solidFill>
                <a:latin typeface="Aptos"/>
              </a:rPr>
            </a:br>
            <a:r>
              <a:rPr sz="1250" b="0">
                <a:solidFill>
                  <a:srgbClr val="121F34"/>
                </a:solidFill>
                <a:latin typeface="Aptos"/>
              </a:rPr>
              <a:t>Đối chứng song song</a:t>
            </a:r>
            <a:br>
              <a:rPr sz="1250" b="0">
                <a:solidFill>
                  <a:srgbClr val="121F34"/>
                </a:solidFill>
                <a:latin typeface="Aptos"/>
              </a:rPr>
            </a:br>
            <a:r>
              <a:rPr sz="1250" b="0">
                <a:solidFill>
                  <a:srgbClr val="121F34"/>
                </a:solidFill>
                <a:latin typeface="Aptos"/>
              </a:rPr>
              <a:t>Vulnerable  ↔  Secure</a:t>
            </a:r>
            <a:br>
              <a:rPr sz="1250" b="0">
                <a:solidFill>
                  <a:srgbClr val="121F34"/>
                </a:solidFill>
                <a:latin typeface="Aptos"/>
              </a:rPr>
            </a:br>
            <a:br>
              <a:rPr sz="1250" b="0">
                <a:solidFill>
                  <a:srgbClr val="121F34"/>
                </a:solidFill>
                <a:latin typeface="Aptos"/>
              </a:rPr>
            </a:br>
            <a:r>
              <a:rPr sz="1250" b="0">
                <a:solidFill>
                  <a:srgbClr val="121F34"/>
                </a:solidFill>
                <a:latin typeface="Aptos"/>
              </a:rPr>
              <a:t>Dữ liệu mô phỏng an toàn</a:t>
            </a:r>
            <a:br>
              <a:rPr sz="1250" b="0">
                <a:solidFill>
                  <a:srgbClr val="121F34"/>
                </a:solidFill>
                <a:latin typeface="Aptos"/>
              </a:rPr>
            </a:br>
            <a:r>
              <a:rPr sz="1250" b="0">
                <a:solidFill>
                  <a:srgbClr val="121F34"/>
                </a:solidFill>
                <a:latin typeface="Aptos"/>
              </a:rPr>
              <a:t>Tài khoản, số dư và mật khẩu đều là dữ liệu giả định phục vụ học tập.</a:t>
            </a:r>
            <a:br>
              <a:rPr sz="1250" b="0">
                <a:solidFill>
                  <a:srgbClr val="121F34"/>
                </a:solidFill>
                <a:latin typeface="Aptos"/>
              </a:rPr>
            </a:br>
            <a:br>
              <a:rPr sz="1250" b="0">
                <a:solidFill>
                  <a:srgbClr val="121F34"/>
                </a:solidFill>
                <a:latin typeface="Aptos"/>
              </a:rPr>
            </a:br>
            <a:r>
              <a:rPr sz="1250" b="0">
                <a:solidFill>
                  <a:srgbClr val="121F34"/>
                </a:solidFill>
                <a:latin typeface="Aptos"/>
              </a:rPr>
              <a:t>Không quét / tấn công hệ thống bên ngoài.</a:t>
            </a:r>
            <a:endParaRPr/>
          </a:p>
        </p:txBody>
      </p:sp>
      <p:sp>
        <p:nvSpPr>
          <p:cNvPr id="1571821044" name="TextBox 13"/>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119952104"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02 • SQL INJECTION</a:t>
            </a:r>
            <a:endParaRPr/>
          </a:p>
        </p:txBody>
      </p:sp>
      <p:sp>
        <p:nvSpPr>
          <p:cNvPr id="1129190053"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1.1  Lỗi xảy ra ở đâu &amp; nguyên nhân cốt lõi</a:t>
            </a:r>
            <a:endParaRPr/>
          </a:p>
        </p:txBody>
      </p:sp>
      <p:sp>
        <p:nvSpPr>
          <p:cNvPr id="2104715403"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70118373"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03</a:t>
            </a:r>
            <a:endParaRPr/>
          </a:p>
        </p:txBody>
      </p:sp>
      <p:sp>
        <p:nvSpPr>
          <p:cNvPr id="171108361" name="TextBox 5"/>
          <p:cNvSpPr txBox="1"/>
          <p:nvPr/>
        </p:nvSpPr>
        <p:spPr bwMode="auto">
          <a:xfrm>
            <a:off x="594360" y="1261872"/>
            <a:ext cx="5394960" cy="274320"/>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WHERE DOES IT BREAK?</a:t>
            </a:r>
            <a:endParaRPr/>
          </a:p>
        </p:txBody>
      </p:sp>
      <p:sp>
        <p:nvSpPr>
          <p:cNvPr id="2051257887" name="Rounded Rectangle 6"/>
          <p:cNvSpPr/>
          <p:nvPr/>
        </p:nvSpPr>
        <p:spPr bwMode="auto">
          <a:xfrm>
            <a:off x="640080" y="1691640"/>
            <a:ext cx="2834640" cy="621792"/>
          </a:xfrm>
          <a:prstGeom prst="roundRect">
            <a:avLst>
              <a:gd name="adj" fmla="val 8000"/>
            </a:avLst>
          </a:prstGeom>
          <a:solidFill>
            <a:srgbClr val="EFF5FC"/>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4792504" name="TextBox 7"/>
          <p:cNvSpPr txBox="1"/>
          <p:nvPr/>
        </p:nvSpPr>
        <p:spPr bwMode="auto">
          <a:xfrm>
            <a:off x="713231" y="1764792"/>
            <a:ext cx="268833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Browser / Client</a:t>
            </a:r>
            <a:br>
              <a:rPr sz="1150" b="1">
                <a:solidFill>
                  <a:srgbClr val="121F34"/>
                </a:solidFill>
                <a:latin typeface="Aptos"/>
              </a:rPr>
            </a:br>
            <a:r>
              <a:rPr sz="1150" b="1">
                <a:solidFill>
                  <a:srgbClr val="121F34"/>
                </a:solidFill>
                <a:latin typeface="Aptos"/>
              </a:rPr>
              <a:t>Input: ' OR '1'='1' --</a:t>
            </a:r>
            <a:endParaRPr/>
          </a:p>
        </p:txBody>
      </p:sp>
      <p:cxnSp>
        <p:nvCxnSpPr>
          <p:cNvPr id="23910327" name="Connector 8"/>
          <p:cNvCxnSpPr/>
          <p:nvPr/>
        </p:nvCxnSpPr>
        <p:spPr bwMode="auto">
          <a:xfrm>
            <a:off x="3493008" y="2002536"/>
            <a:ext cx="502920" cy="0"/>
          </a:xfrm>
          <a:prstGeom prst="line">
            <a:avLst/>
          </a:prstGeom>
          <a:ln w="27940">
            <a:solidFill>
              <a:srgbClr val="4191FF"/>
            </a:solidFill>
          </a:ln>
        </p:spPr>
        <p:style>
          <a:lnRef idx="2">
            <a:schemeClr val="accent1"/>
          </a:lnRef>
          <a:fillRef idx="0">
            <a:schemeClr val="accent1"/>
          </a:fillRef>
          <a:effectRef idx="1">
            <a:schemeClr val="accent1"/>
          </a:effectRef>
          <a:fontRef idx="minor">
            <a:schemeClr val="tx1"/>
          </a:fontRef>
        </p:style>
      </p:cxnSp>
      <p:sp>
        <p:nvSpPr>
          <p:cNvPr id="122424952" name="Rounded Rectangle 9"/>
          <p:cNvSpPr/>
          <p:nvPr/>
        </p:nvSpPr>
        <p:spPr bwMode="auto">
          <a:xfrm>
            <a:off x="4023360" y="1691640"/>
            <a:ext cx="2834640" cy="621792"/>
          </a:xfrm>
          <a:prstGeom prst="roundRect">
            <a:avLst>
              <a:gd name="adj" fmla="val 8000"/>
            </a:avLst>
          </a:prstGeom>
          <a:solidFill>
            <a:srgbClr val="EFF5FC"/>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9846316" name="TextBox 10"/>
          <p:cNvSpPr txBox="1"/>
          <p:nvPr/>
        </p:nvSpPr>
        <p:spPr bwMode="auto">
          <a:xfrm>
            <a:off x="4096512" y="1764792"/>
            <a:ext cx="268833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ASP.NET Core Controller</a:t>
            </a:r>
            <a:br>
              <a:rPr sz="1150" b="1">
                <a:solidFill>
                  <a:srgbClr val="121F34"/>
                </a:solidFill>
                <a:latin typeface="Aptos"/>
              </a:rPr>
            </a:br>
            <a:r>
              <a:rPr sz="1150" b="1">
                <a:solidFill>
                  <a:srgbClr val="121F34"/>
                </a:solidFill>
                <a:latin typeface="Aptos"/>
              </a:rPr>
              <a:t>Ghép chuỗi SQL trực tiếp</a:t>
            </a:r>
            <a:endParaRPr/>
          </a:p>
        </p:txBody>
      </p:sp>
      <p:cxnSp>
        <p:nvCxnSpPr>
          <p:cNvPr id="431106072" name="Connector 11"/>
          <p:cNvCxnSpPr/>
          <p:nvPr/>
        </p:nvCxnSpPr>
        <p:spPr bwMode="auto">
          <a:xfrm>
            <a:off x="6876288" y="2002536"/>
            <a:ext cx="502920" cy="0"/>
          </a:xfrm>
          <a:prstGeom prst="line">
            <a:avLst/>
          </a:prstGeom>
          <a:ln w="27940">
            <a:solidFill>
              <a:srgbClr val="4191FF"/>
            </a:solidFill>
          </a:ln>
        </p:spPr>
        <p:style>
          <a:lnRef idx="2">
            <a:schemeClr val="accent1"/>
          </a:lnRef>
          <a:fillRef idx="0">
            <a:schemeClr val="accent1"/>
          </a:fillRef>
          <a:effectRef idx="1">
            <a:schemeClr val="accent1"/>
          </a:effectRef>
          <a:fontRef idx="minor">
            <a:schemeClr val="tx1"/>
          </a:fontRef>
        </p:style>
      </p:cxnSp>
      <p:sp>
        <p:nvSpPr>
          <p:cNvPr id="725420339" name="Rounded Rectangle 12"/>
          <p:cNvSpPr/>
          <p:nvPr/>
        </p:nvSpPr>
        <p:spPr bwMode="auto">
          <a:xfrm>
            <a:off x="7406640" y="1691640"/>
            <a:ext cx="2834640" cy="621792"/>
          </a:xfrm>
          <a:prstGeom prst="roundRect">
            <a:avLst>
              <a:gd name="adj" fmla="val 8000"/>
            </a:avLst>
          </a:prstGeom>
          <a:solidFill>
            <a:srgbClr val="EFF5FC"/>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8304197" name="TextBox 13"/>
          <p:cNvSpPr txBox="1"/>
          <p:nvPr/>
        </p:nvSpPr>
        <p:spPr bwMode="auto">
          <a:xfrm>
            <a:off x="7479792" y="1764792"/>
            <a:ext cx="268833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SQL Server 2025</a:t>
            </a:r>
            <a:br>
              <a:rPr sz="1150" b="1">
                <a:solidFill>
                  <a:srgbClr val="121F34"/>
                </a:solidFill>
                <a:latin typeface="Aptos"/>
              </a:rPr>
            </a:br>
            <a:r>
              <a:rPr sz="1150" b="1">
                <a:solidFill>
                  <a:srgbClr val="121F34"/>
                </a:solidFill>
                <a:latin typeface="Aptos"/>
              </a:rPr>
              <a:t>Thực thi cú pháp bị bẻ gãy</a:t>
            </a:r>
            <a:endParaRPr/>
          </a:p>
        </p:txBody>
      </p:sp>
      <p:sp>
        <p:nvSpPr>
          <p:cNvPr id="1728677167" name="Rounded Rectangle 14"/>
          <p:cNvSpPr/>
          <p:nvPr/>
        </p:nvSpPr>
        <p:spPr bwMode="auto">
          <a:xfrm>
            <a:off x="594360" y="2697480"/>
            <a:ext cx="5212080" cy="14173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5046577" name="Rectangle 15"/>
          <p:cNvSpPr/>
          <p:nvPr/>
        </p:nvSpPr>
        <p:spPr bwMode="auto">
          <a:xfrm>
            <a:off x="594360" y="2697480"/>
            <a:ext cx="54864" cy="1417320"/>
          </a:xfrm>
          <a:prstGeom prst="rect">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5251927" name="TextBox 16"/>
          <p:cNvSpPr txBox="1"/>
          <p:nvPr/>
        </p:nvSpPr>
        <p:spPr bwMode="auto">
          <a:xfrm>
            <a:off x="795528" y="2862072"/>
            <a:ext cx="4846320" cy="320040"/>
          </a:xfrm>
          <a:prstGeom prst="rect">
            <a:avLst/>
          </a:prstGeom>
          <a:noFill/>
        </p:spPr>
        <p:txBody>
          <a:bodyPr wrap="none" lIns="45720" rIns="45720" anchor="t">
            <a:spAutoFit/>
          </a:bodyPr>
          <a:lstStyle/>
          <a:p>
            <a:pPr algn="l">
              <a:lnSpc>
                <a:spcPct val="100000"/>
              </a:lnSpc>
              <a:defRPr/>
            </a:pPr>
            <a:r>
              <a:rPr sz="1500" b="1">
                <a:solidFill>
                  <a:srgbClr val="EF5B5B"/>
                </a:solidFill>
                <a:latin typeface="Aptos"/>
              </a:rPr>
              <a:t>!  ROOT CAUSE</a:t>
            </a:r>
            <a:endParaRPr/>
          </a:p>
        </p:txBody>
      </p:sp>
      <p:sp>
        <p:nvSpPr>
          <p:cNvPr id="1334838861" name="TextBox 17"/>
          <p:cNvSpPr txBox="1"/>
          <p:nvPr/>
        </p:nvSpPr>
        <p:spPr bwMode="auto">
          <a:xfrm flipH="0" flipV="0">
            <a:off x="795528" y="3273552"/>
            <a:ext cx="5011631" cy="472799"/>
          </a:xfrm>
          <a:prstGeom prst="rect">
            <a:avLst/>
          </a:prstGeom>
          <a:noFill/>
        </p:spPr>
        <p:txBody>
          <a:bodyPr wrap="square" lIns="45720" rIns="45720" anchor="t">
            <a:spAutoFit/>
          </a:bodyPr>
          <a:lstStyle/>
          <a:p>
            <a:pPr algn="l">
              <a:lnSpc>
                <a:spcPct val="100000"/>
              </a:lnSpc>
              <a:defRPr/>
            </a:pPr>
            <a:r>
              <a:rPr sz="1250" b="0">
                <a:solidFill>
                  <a:srgbClr val="121F34"/>
                </a:solidFill>
                <a:latin typeface="Aptos"/>
              </a:rPr>
              <a:t>Dữ liệu người dùng được ghép trực tiếp vào câu lệnh SQL → CSDL không còn phân định được Data và Code.</a:t>
            </a:r>
            <a:endParaRPr/>
          </a:p>
        </p:txBody>
      </p:sp>
      <p:sp>
        <p:nvSpPr>
          <p:cNvPr id="1902455459" name="Rounded Rectangle 18"/>
          <p:cNvSpPr/>
          <p:nvPr/>
        </p:nvSpPr>
        <p:spPr bwMode="auto">
          <a:xfrm>
            <a:off x="5989320" y="2697480"/>
            <a:ext cx="5669280" cy="2971800"/>
          </a:xfrm>
          <a:prstGeom prst="roundRect">
            <a:avLst>
              <a:gd name="adj" fmla="val 8000"/>
            </a:avLst>
          </a:prstGeom>
          <a:solidFill>
            <a:srgbClr val="EFF4F9"/>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9070066" name="TextBox 19"/>
          <p:cNvSpPr txBox="1"/>
          <p:nvPr/>
        </p:nvSpPr>
        <p:spPr bwMode="auto">
          <a:xfrm>
            <a:off x="6153912" y="2825496"/>
            <a:ext cx="5349240" cy="274320"/>
          </a:xfrm>
          <a:prstGeom prst="rect">
            <a:avLst/>
          </a:prstGeom>
          <a:noFill/>
        </p:spPr>
        <p:txBody>
          <a:bodyPr wrap="none" lIns="45720" rIns="45720" anchor="t">
            <a:spAutoFit/>
          </a:bodyPr>
          <a:lstStyle/>
          <a:p>
            <a:pPr algn="l">
              <a:lnSpc>
                <a:spcPct val="100000"/>
              </a:lnSpc>
              <a:defRPr/>
            </a:pPr>
            <a:r>
              <a:rPr sz="1000" b="1">
                <a:solidFill>
                  <a:srgbClr val="EF5B5B"/>
                </a:solidFill>
                <a:latin typeface="Aptos"/>
              </a:rPr>
              <a:t>VULNERABLE CODE</a:t>
            </a:r>
            <a:endParaRPr/>
          </a:p>
        </p:txBody>
      </p:sp>
      <p:sp>
        <p:nvSpPr>
          <p:cNvPr id="1543062088" name="TextBox 20"/>
          <p:cNvSpPr txBox="1"/>
          <p:nvPr/>
        </p:nvSpPr>
        <p:spPr bwMode="auto">
          <a:xfrm>
            <a:off x="6153912" y="3136392"/>
            <a:ext cx="5349240" cy="2441448"/>
          </a:xfrm>
          <a:prstGeom prst="rect">
            <a:avLst/>
          </a:prstGeom>
          <a:noFill/>
        </p:spPr>
        <p:txBody>
          <a:bodyPr wrap="none" lIns="18288" tIns="18288" rIns="18288" bIns="18288" anchor="t">
            <a:spAutoFit/>
          </a:bodyPr>
          <a:lstStyle/>
          <a:p>
            <a:pPr algn="l">
              <a:lnSpc>
                <a:spcPct val="95000"/>
              </a:lnSpc>
              <a:defRPr/>
            </a:pPr>
            <a:r>
              <a:rPr sz="1100" b="0">
                <a:solidFill>
                  <a:srgbClr val="121F34"/>
                </a:solidFill>
                <a:latin typeface="Cascadia Mono"/>
              </a:rPr>
              <a:t>string rawSql = $"SELECT * FROM Accounts " +</a:t>
            </a:r>
            <a:br>
              <a:rPr sz="1100" b="0">
                <a:solidFill>
                  <a:srgbClr val="121F34"/>
                </a:solidFill>
                <a:latin typeface="Cascadia Mono"/>
              </a:rPr>
            </a:br>
            <a:r>
              <a:rPr sz="1100" b="0">
                <a:solidFill>
                  <a:srgbClr val="121F34"/>
                </a:solidFill>
                <a:latin typeface="Cascadia Mono"/>
              </a:rPr>
              <a:t>                 $"WHERE Username = '{username}' " +</a:t>
            </a:r>
            <a:br>
              <a:rPr sz="1100" b="0">
                <a:solidFill>
                  <a:srgbClr val="121F34"/>
                </a:solidFill>
                <a:latin typeface="Cascadia Mono"/>
              </a:rPr>
            </a:br>
            <a:r>
              <a:rPr sz="1100" b="0">
                <a:solidFill>
                  <a:srgbClr val="121F34"/>
                </a:solidFill>
                <a:latin typeface="Cascadia Mono"/>
              </a:rPr>
              <a:t>                 $"AND Password = '{password}'";</a:t>
            </a:r>
            <a:br>
              <a:rPr sz="1100" b="0">
                <a:solidFill>
                  <a:srgbClr val="121F34"/>
                </a:solidFill>
                <a:latin typeface="Cascadia Mono"/>
              </a:rPr>
            </a:br>
            <a:br>
              <a:rPr sz="1100" b="0">
                <a:solidFill>
                  <a:srgbClr val="121F34"/>
                </a:solidFill>
                <a:latin typeface="Cascadia Mono"/>
              </a:rPr>
            </a:br>
            <a:r>
              <a:rPr sz="1100" b="0">
                <a:solidFill>
                  <a:srgbClr val="121F34"/>
                </a:solidFill>
                <a:latin typeface="Cascadia Mono"/>
              </a:rPr>
              <a:t>var accounts = _context.Accounts</a:t>
            </a:r>
            <a:br>
              <a:rPr sz="1100" b="0">
                <a:solidFill>
                  <a:srgbClr val="121F34"/>
                </a:solidFill>
                <a:latin typeface="Cascadia Mono"/>
              </a:rPr>
            </a:br>
            <a:r>
              <a:rPr sz="1100" b="0">
                <a:solidFill>
                  <a:srgbClr val="121F34"/>
                </a:solidFill>
                <a:latin typeface="Cascadia Mono"/>
              </a:rPr>
              <a:t>    .FromSqlRaw(rawSql)</a:t>
            </a:r>
            <a:br>
              <a:rPr sz="1100" b="0">
                <a:solidFill>
                  <a:srgbClr val="121F34"/>
                </a:solidFill>
                <a:latin typeface="Cascadia Mono"/>
              </a:rPr>
            </a:br>
            <a:r>
              <a:rPr sz="1100" b="0">
                <a:solidFill>
                  <a:srgbClr val="121F34"/>
                </a:solidFill>
                <a:latin typeface="Cascadia Mono"/>
              </a:rPr>
              <a:t>    .ToList();</a:t>
            </a:r>
            <a:br>
              <a:rPr sz="1100" b="0">
                <a:solidFill>
                  <a:srgbClr val="121F34"/>
                </a:solidFill>
                <a:latin typeface="Cascadia Mono"/>
              </a:rPr>
            </a:br>
            <a:br>
              <a:rPr sz="1100" b="0">
                <a:solidFill>
                  <a:srgbClr val="121F34"/>
                </a:solidFill>
                <a:latin typeface="Cascadia Mono"/>
              </a:rPr>
            </a:br>
            <a:r>
              <a:rPr sz="1100" b="0">
                <a:solidFill>
                  <a:srgbClr val="121F34"/>
                </a:solidFill>
                <a:latin typeface="Cascadia Mono"/>
              </a:rPr>
              <a:t>// ' đóng chuỗi sớm; -- vô hiệu hóa phần còn lại</a:t>
            </a:r>
            <a:endParaRPr/>
          </a:p>
        </p:txBody>
      </p:sp>
      <p:sp>
        <p:nvSpPr>
          <p:cNvPr id="1254509151" name="TextBox 21"/>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1079533359" name="TextBox 22"/>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Danh Học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2118631989"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02 • SQL INJECTION</a:t>
            </a:r>
            <a:endParaRPr/>
          </a:p>
        </p:txBody>
      </p:sp>
      <p:sp>
        <p:nvSpPr>
          <p:cNvPr id="1637370424"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1.2  Ba kịch bản khai thác thực nghiệm</a:t>
            </a:r>
            <a:endParaRPr/>
          </a:p>
        </p:txBody>
      </p:sp>
      <p:sp>
        <p:nvSpPr>
          <p:cNvPr id="2134569101"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257052"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04</a:t>
            </a:r>
            <a:endParaRPr/>
          </a:p>
        </p:txBody>
      </p:sp>
      <p:sp>
        <p:nvSpPr>
          <p:cNvPr id="603076576" name="Rounded Rectangle 5"/>
          <p:cNvSpPr/>
          <p:nvPr/>
        </p:nvSpPr>
        <p:spPr bwMode="auto">
          <a:xfrm>
            <a:off x="594360" y="1325880"/>
            <a:ext cx="10972800" cy="123444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94447" name="Rectangle 6"/>
          <p:cNvSpPr/>
          <p:nvPr/>
        </p:nvSpPr>
        <p:spPr bwMode="auto">
          <a:xfrm>
            <a:off x="594360" y="1325880"/>
            <a:ext cx="54864" cy="1234440"/>
          </a:xfrm>
          <a:prstGeom prst="rect">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4086156" name="TextBox 7"/>
          <p:cNvSpPr txBox="1"/>
          <p:nvPr/>
        </p:nvSpPr>
        <p:spPr bwMode="auto">
          <a:xfrm>
            <a:off x="795528" y="1490472"/>
            <a:ext cx="10607040" cy="320040"/>
          </a:xfrm>
          <a:prstGeom prst="rect">
            <a:avLst/>
          </a:prstGeom>
          <a:noFill/>
        </p:spPr>
        <p:txBody>
          <a:bodyPr wrap="none" lIns="45720" rIns="45720" anchor="t">
            <a:spAutoFit/>
          </a:bodyPr>
          <a:lstStyle/>
          <a:p>
            <a:pPr algn="l">
              <a:lnSpc>
                <a:spcPct val="100000"/>
              </a:lnSpc>
              <a:defRPr/>
            </a:pPr>
            <a:r>
              <a:rPr sz="1500" b="1">
                <a:solidFill>
                  <a:srgbClr val="EF5B5B"/>
                </a:solidFill>
                <a:latin typeface="Aptos"/>
              </a:rPr>
              <a:t>01  •  BYPASS ĐĂNG NHẬP TỔNG QUÁT</a:t>
            </a:r>
            <a:endParaRPr/>
          </a:p>
        </p:txBody>
      </p:sp>
      <p:sp>
        <p:nvSpPr>
          <p:cNvPr id="1606101037" name="TextBox 8"/>
          <p:cNvSpPr txBox="1"/>
          <p:nvPr/>
        </p:nvSpPr>
        <p:spPr bwMode="auto">
          <a:xfrm>
            <a:off x="795528" y="1901952"/>
            <a:ext cx="10607040" cy="52120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Payload:  ' OR '1'='1' --</a:t>
            </a:r>
            <a:br>
              <a:rPr sz="1250" b="0">
                <a:solidFill>
                  <a:srgbClr val="121F34"/>
                </a:solidFill>
                <a:latin typeface="Aptos"/>
              </a:rPr>
            </a:br>
            <a:r>
              <a:rPr sz="1250" b="0">
                <a:solidFill>
                  <a:srgbClr val="121F34"/>
                </a:solidFill>
                <a:latin typeface="Aptos"/>
              </a:rPr>
              <a:t>Cơ chế: đóng chuỗi → OR luôn đúng → -- vô hiệu hóa kiểm tra mật khẩu.  Kết quả: vượt xác thực và vào tài khoản đầu tiên (Admin).</a:t>
            </a:r>
            <a:endParaRPr/>
          </a:p>
        </p:txBody>
      </p:sp>
      <p:sp>
        <p:nvSpPr>
          <p:cNvPr id="744173093" name="Rounded Rectangle 9"/>
          <p:cNvSpPr/>
          <p:nvPr/>
        </p:nvSpPr>
        <p:spPr bwMode="auto">
          <a:xfrm>
            <a:off x="594360" y="2743200"/>
            <a:ext cx="10972800" cy="123444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96516760" name="Rectangle 10"/>
          <p:cNvSpPr/>
          <p:nvPr/>
        </p:nvSpPr>
        <p:spPr bwMode="auto">
          <a:xfrm>
            <a:off x="594360" y="2743200"/>
            <a:ext cx="54864" cy="1234440"/>
          </a:xfrm>
          <a:prstGeom prst="rect">
            <a:avLst/>
          </a:prstGeom>
          <a:solidFill>
            <a:srgbClr val="F1BE48"/>
          </a:solidFill>
          <a:ln>
            <a:solidFill>
              <a:srgbClr val="F1B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8369047" name="TextBox 11"/>
          <p:cNvSpPr txBox="1"/>
          <p:nvPr/>
        </p:nvSpPr>
        <p:spPr bwMode="auto">
          <a:xfrm>
            <a:off x="795528" y="2907792"/>
            <a:ext cx="10607040" cy="320040"/>
          </a:xfrm>
          <a:prstGeom prst="rect">
            <a:avLst/>
          </a:prstGeom>
          <a:noFill/>
        </p:spPr>
        <p:txBody>
          <a:bodyPr wrap="none" lIns="45720" rIns="45720" anchor="t">
            <a:spAutoFit/>
          </a:bodyPr>
          <a:lstStyle/>
          <a:p>
            <a:pPr algn="l">
              <a:lnSpc>
                <a:spcPct val="100000"/>
              </a:lnSpc>
              <a:defRPr/>
            </a:pPr>
            <a:r>
              <a:rPr sz="1500" b="1">
                <a:solidFill>
                  <a:srgbClr val="F1BE48"/>
                </a:solidFill>
                <a:latin typeface="Aptos"/>
              </a:rPr>
              <a:t>02  •  TẤN CÔNG ĐÍCH DANH QUẢN TRỊ</a:t>
            </a:r>
            <a:endParaRPr/>
          </a:p>
        </p:txBody>
      </p:sp>
      <p:sp>
        <p:nvSpPr>
          <p:cNvPr id="224957716" name="TextBox 12"/>
          <p:cNvSpPr txBox="1"/>
          <p:nvPr/>
        </p:nvSpPr>
        <p:spPr bwMode="auto">
          <a:xfrm>
            <a:off x="795528" y="3319272"/>
            <a:ext cx="10607040" cy="52120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Payload:  admin' --</a:t>
            </a:r>
            <a:br>
              <a:rPr sz="1250" b="0">
                <a:solidFill>
                  <a:srgbClr val="121F34"/>
                </a:solidFill>
                <a:latin typeface="Aptos"/>
              </a:rPr>
            </a:br>
            <a:r>
              <a:rPr sz="1250" b="0">
                <a:solidFill>
                  <a:srgbClr val="121F34"/>
                </a:solidFill>
                <a:latin typeface="Aptos"/>
              </a:rPr>
              <a:t>Cơ chế: cố định Username = admin; -- cắt phần AND Password.  Kết quả: truy cập tài khoản Admin mà không cần mật khẩu.</a:t>
            </a:r>
            <a:endParaRPr/>
          </a:p>
        </p:txBody>
      </p:sp>
      <p:sp>
        <p:nvSpPr>
          <p:cNvPr id="899213894" name="Rounded Rectangle 13"/>
          <p:cNvSpPr/>
          <p:nvPr/>
        </p:nvSpPr>
        <p:spPr bwMode="auto">
          <a:xfrm>
            <a:off x="594360" y="4160519"/>
            <a:ext cx="10972800" cy="123444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9348540" name="Rectangle 14"/>
          <p:cNvSpPr/>
          <p:nvPr/>
        </p:nvSpPr>
        <p:spPr bwMode="auto">
          <a:xfrm>
            <a:off x="594360" y="4160519"/>
            <a:ext cx="54864" cy="1234440"/>
          </a:xfrm>
          <a:prstGeom prst="rect">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9474054" name="TextBox 15"/>
          <p:cNvSpPr txBox="1"/>
          <p:nvPr/>
        </p:nvSpPr>
        <p:spPr bwMode="auto">
          <a:xfrm>
            <a:off x="795528" y="4325112"/>
            <a:ext cx="10607040" cy="320040"/>
          </a:xfrm>
          <a:prstGeom prst="rect">
            <a:avLst/>
          </a:prstGeom>
          <a:noFill/>
        </p:spPr>
        <p:txBody>
          <a:bodyPr wrap="none" lIns="45720" rIns="45720" anchor="t">
            <a:spAutoFit/>
          </a:bodyPr>
          <a:lstStyle/>
          <a:p>
            <a:pPr algn="l">
              <a:lnSpc>
                <a:spcPct val="100000"/>
              </a:lnSpc>
              <a:defRPr/>
            </a:pPr>
            <a:r>
              <a:rPr sz="1500" b="1">
                <a:solidFill>
                  <a:srgbClr val="39C480"/>
                </a:solidFill>
                <a:latin typeface="Aptos"/>
              </a:rPr>
              <a:t>03  •  ĐĂNG NHẬP HỢP LỆ — ĐỐI CHỨNG</a:t>
            </a:r>
            <a:endParaRPr/>
          </a:p>
        </p:txBody>
      </p:sp>
      <p:sp>
        <p:nvSpPr>
          <p:cNvPr id="855924244" name="TextBox 16"/>
          <p:cNvSpPr txBox="1"/>
          <p:nvPr/>
        </p:nvSpPr>
        <p:spPr bwMode="auto">
          <a:xfrm>
            <a:off x="795528" y="4736592"/>
            <a:ext cx="10607040" cy="52120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Payload:  admin / AdminPassword@2026</a:t>
            </a:r>
            <a:br>
              <a:rPr sz="1250" b="0">
                <a:solidFill>
                  <a:srgbClr val="121F34"/>
                </a:solidFill>
                <a:latin typeface="Aptos"/>
              </a:rPr>
            </a:br>
            <a:r>
              <a:rPr sz="1250" b="0">
                <a:solidFill>
                  <a:srgbClr val="121F34"/>
                </a:solidFill>
                <a:latin typeface="Aptos"/>
              </a:rPr>
              <a:t>Dữ liệu bình thường, không điều khiển cú pháp.  Kết quả: đăng nhập thành công trên cả Vulnerable và Secure.</a:t>
            </a:r>
            <a:endParaRPr/>
          </a:p>
        </p:txBody>
      </p:sp>
      <p:sp>
        <p:nvSpPr>
          <p:cNvPr id="396854659" name="TextBox 17"/>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1953284195" name="TextBox 18"/>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Danh Học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487613383"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02 • SQL INJECTION</a:t>
            </a:r>
            <a:endParaRPr/>
          </a:p>
        </p:txBody>
      </p:sp>
      <p:sp>
        <p:nvSpPr>
          <p:cNvPr id="392497290"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1.3  Minh chứng thực nghiệm — Web UI</a:t>
            </a:r>
            <a:endParaRPr/>
          </a:p>
        </p:txBody>
      </p:sp>
      <p:sp>
        <p:nvSpPr>
          <p:cNvPr id="1094941957"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9314409"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05</a:t>
            </a:r>
            <a:endParaRPr/>
          </a:p>
        </p:txBody>
      </p:sp>
      <p:pic>
        <p:nvPicPr>
          <p:cNvPr id="1797501127" name="Picture 5" descr="s5_4.png"/>
          <p:cNvPicPr>
            <a:picLocks noChangeAspect="1"/>
          </p:cNvPicPr>
          <p:nvPr/>
        </p:nvPicPr>
        <p:blipFill rotWithShape="1">
          <a:blip r:embed="rId3"/>
          <a:stretch/>
        </p:blipFill>
        <p:spPr bwMode="auto">
          <a:xfrm>
            <a:off x="594360" y="1234440"/>
            <a:ext cx="10972800" cy="4297680"/>
          </a:xfrm>
          <a:prstGeom prst="rect">
            <a:avLst/>
          </a:prstGeom>
        </p:spPr>
      </p:pic>
      <p:sp>
        <p:nvSpPr>
          <p:cNvPr id="1713930143" name="Rounded Rectangle 6"/>
          <p:cNvSpPr/>
          <p:nvPr/>
        </p:nvSpPr>
        <p:spPr bwMode="auto">
          <a:xfrm>
            <a:off x="731520" y="5623560"/>
            <a:ext cx="2971800" cy="438912"/>
          </a:xfrm>
          <a:prstGeom prst="roundRect">
            <a:avLst>
              <a:gd name="adj" fmla="val 8000"/>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29940930" name="TextBox 7"/>
          <p:cNvSpPr txBox="1"/>
          <p:nvPr/>
        </p:nvSpPr>
        <p:spPr bwMode="auto">
          <a:xfrm>
            <a:off x="841248" y="5705856"/>
            <a:ext cx="2743200" cy="228600"/>
          </a:xfrm>
          <a:prstGeom prst="rect">
            <a:avLst/>
          </a:prstGeom>
          <a:noFill/>
        </p:spPr>
        <p:txBody>
          <a:bodyPr wrap="none" lIns="45720" rIns="45720" anchor="t">
            <a:spAutoFit/>
          </a:bodyPr>
          <a:lstStyle/>
          <a:p>
            <a:pPr algn="ctr">
              <a:lnSpc>
                <a:spcPct val="100000"/>
              </a:lnSpc>
              <a:defRPr/>
            </a:pPr>
            <a:r>
              <a:rPr sz="950" b="1">
                <a:solidFill>
                  <a:srgbClr val="121F34"/>
                </a:solidFill>
                <a:latin typeface="Aptos"/>
              </a:rPr>
              <a:t>VULNERABLE • 4 accounts leaked</a:t>
            </a:r>
            <a:endParaRPr/>
          </a:p>
        </p:txBody>
      </p:sp>
      <p:sp>
        <p:nvSpPr>
          <p:cNvPr id="1935720885" name="Rounded Rectangle 8"/>
          <p:cNvSpPr/>
          <p:nvPr/>
        </p:nvSpPr>
        <p:spPr bwMode="auto">
          <a:xfrm>
            <a:off x="8458200" y="5623560"/>
            <a:ext cx="2834640" cy="438912"/>
          </a:xfrm>
          <a:prstGeom prst="roundRect">
            <a:avLst>
              <a:gd name="adj" fmla="val 8000"/>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6996375" name="TextBox 9"/>
          <p:cNvSpPr txBox="1"/>
          <p:nvPr/>
        </p:nvSpPr>
        <p:spPr bwMode="auto">
          <a:xfrm>
            <a:off x="8558784" y="5705856"/>
            <a:ext cx="2633472" cy="228600"/>
          </a:xfrm>
          <a:prstGeom prst="rect">
            <a:avLst/>
          </a:prstGeom>
          <a:noFill/>
        </p:spPr>
        <p:txBody>
          <a:bodyPr wrap="none" lIns="45720" rIns="45720" anchor="t">
            <a:spAutoFit/>
          </a:bodyPr>
          <a:lstStyle/>
          <a:p>
            <a:pPr algn="ctr">
              <a:lnSpc>
                <a:spcPct val="100000"/>
              </a:lnSpc>
              <a:defRPr/>
            </a:pPr>
            <a:r>
              <a:rPr sz="950" b="1">
                <a:solidFill>
                  <a:srgbClr val="121F34"/>
                </a:solidFill>
                <a:latin typeface="Aptos"/>
              </a:rPr>
              <a:t>SECURE • 0 results</a:t>
            </a:r>
            <a:endParaRPr/>
          </a:p>
        </p:txBody>
      </p:sp>
      <p:sp>
        <p:nvSpPr>
          <p:cNvPr id="1210984868" name="TextBox 10"/>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740777730" name="TextBox 11"/>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Danh Học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951693191"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02 • SQL INJECTION</a:t>
            </a:r>
            <a:endParaRPr/>
          </a:p>
        </p:txBody>
      </p:sp>
      <p:sp>
        <p:nvSpPr>
          <p:cNvPr id="1341476317"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1.4  Minh chứng gói tin mạng — Chrome DevTools</a:t>
            </a:r>
            <a:endParaRPr/>
          </a:p>
        </p:txBody>
      </p:sp>
      <p:sp>
        <p:nvSpPr>
          <p:cNvPr id="857324998"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1782395"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06</a:t>
            </a:r>
            <a:endParaRPr/>
          </a:p>
        </p:txBody>
      </p:sp>
      <p:pic>
        <p:nvPicPr>
          <p:cNvPr id="1604035097" name="Picture 5" descr="s6_4.png"/>
          <p:cNvPicPr>
            <a:picLocks noChangeAspect="1"/>
          </p:cNvPicPr>
          <p:nvPr/>
        </p:nvPicPr>
        <p:blipFill rotWithShape="1">
          <a:blip r:embed="rId3"/>
          <a:stretch/>
        </p:blipFill>
        <p:spPr bwMode="auto">
          <a:xfrm>
            <a:off x="594360" y="1234440"/>
            <a:ext cx="10972800" cy="4297680"/>
          </a:xfrm>
          <a:prstGeom prst="rect">
            <a:avLst/>
          </a:prstGeom>
        </p:spPr>
      </p:pic>
      <p:sp>
        <p:nvSpPr>
          <p:cNvPr id="557656407" name="Rounded Rectangle 6"/>
          <p:cNvSpPr/>
          <p:nvPr/>
        </p:nvSpPr>
        <p:spPr bwMode="auto">
          <a:xfrm>
            <a:off x="777240" y="5623560"/>
            <a:ext cx="5669280" cy="411480"/>
          </a:xfrm>
          <a:prstGeom prst="roundRect">
            <a:avLst>
              <a:gd name="adj" fmla="val 8000"/>
            </a:avLst>
          </a:prstGeom>
          <a:solidFill>
            <a:srgbClr val="EFF5FC"/>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3287737" name="TextBox 7"/>
          <p:cNvSpPr txBox="1"/>
          <p:nvPr/>
        </p:nvSpPr>
        <p:spPr bwMode="auto">
          <a:xfrm>
            <a:off x="932688" y="5705856"/>
            <a:ext cx="5349240" cy="201168"/>
          </a:xfrm>
          <a:prstGeom prst="rect">
            <a:avLst/>
          </a:prstGeom>
          <a:noFill/>
        </p:spPr>
        <p:txBody>
          <a:bodyPr wrap="none" lIns="45720" rIns="45720" anchor="t">
            <a:spAutoFit/>
          </a:bodyPr>
          <a:lstStyle/>
          <a:p>
            <a:pPr algn="ctr">
              <a:lnSpc>
                <a:spcPct val="100000"/>
              </a:lnSpc>
              <a:defRPr/>
            </a:pPr>
            <a:r>
              <a:rPr sz="1000" b="1">
                <a:solidFill>
                  <a:srgbClr val="121F34"/>
                </a:solidFill>
                <a:latin typeface="Aptos"/>
              </a:rPr>
              <a:t>PAYLOAD:  ' OR '1'='1' --    →    RESPONSE: JSON chứa 4 tài khoản</a:t>
            </a:r>
            <a:endParaRPr/>
          </a:p>
        </p:txBody>
      </p:sp>
      <p:sp>
        <p:nvSpPr>
          <p:cNvPr id="975906371" name="TextBox 8"/>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265633283" name="TextBox 9"/>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Danh Học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261859424"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02 • SQL INJECTION</a:t>
            </a:r>
            <a:endParaRPr/>
          </a:p>
        </p:txBody>
      </p:sp>
      <p:sp>
        <p:nvSpPr>
          <p:cNvPr id="1704928265"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1.5  Cơ chế phòng thủ chuẩn hóa</a:t>
            </a:r>
            <a:endParaRPr/>
          </a:p>
        </p:txBody>
      </p:sp>
      <p:sp>
        <p:nvSpPr>
          <p:cNvPr id="608555672"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9832533"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07</a:t>
            </a:r>
            <a:endParaRPr/>
          </a:p>
        </p:txBody>
      </p:sp>
      <p:sp>
        <p:nvSpPr>
          <p:cNvPr id="1013842061" name="Rounded Rectangle 5"/>
          <p:cNvSpPr/>
          <p:nvPr/>
        </p:nvSpPr>
        <p:spPr bwMode="auto">
          <a:xfrm>
            <a:off x="594360" y="1325880"/>
            <a:ext cx="5486400" cy="3063240"/>
          </a:xfrm>
          <a:prstGeom prst="roundRect">
            <a:avLst>
              <a:gd name="adj" fmla="val 8000"/>
            </a:avLst>
          </a:prstGeom>
          <a:solidFill>
            <a:srgbClr val="EFF4F9"/>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21673423" name="TextBox 6"/>
          <p:cNvSpPr txBox="1"/>
          <p:nvPr/>
        </p:nvSpPr>
        <p:spPr bwMode="auto">
          <a:xfrm>
            <a:off x="758952" y="1453895"/>
            <a:ext cx="5166360" cy="274320"/>
          </a:xfrm>
          <a:prstGeom prst="rect">
            <a:avLst/>
          </a:prstGeom>
          <a:noFill/>
        </p:spPr>
        <p:txBody>
          <a:bodyPr wrap="none" lIns="45720" rIns="45720" anchor="t">
            <a:spAutoFit/>
          </a:bodyPr>
          <a:lstStyle/>
          <a:p>
            <a:pPr algn="l">
              <a:lnSpc>
                <a:spcPct val="100000"/>
              </a:lnSpc>
              <a:defRPr/>
            </a:pPr>
            <a:r>
              <a:rPr sz="1000" b="1">
                <a:solidFill>
                  <a:srgbClr val="39C480"/>
                </a:solidFill>
                <a:latin typeface="Aptos"/>
              </a:rPr>
              <a:t>SECURE CODE • EF CORE LINQ</a:t>
            </a:r>
            <a:endParaRPr/>
          </a:p>
        </p:txBody>
      </p:sp>
      <p:sp>
        <p:nvSpPr>
          <p:cNvPr id="761271042" name="TextBox 7"/>
          <p:cNvSpPr txBox="1"/>
          <p:nvPr/>
        </p:nvSpPr>
        <p:spPr bwMode="auto">
          <a:xfrm>
            <a:off x="758952" y="1764792"/>
            <a:ext cx="5166360" cy="2532888"/>
          </a:xfrm>
          <a:prstGeom prst="rect">
            <a:avLst/>
          </a:prstGeom>
          <a:noFill/>
        </p:spPr>
        <p:txBody>
          <a:bodyPr wrap="none" lIns="18288" tIns="18288" rIns="18288" bIns="18288" anchor="t">
            <a:spAutoFit/>
          </a:bodyPr>
          <a:lstStyle/>
          <a:p>
            <a:pPr algn="l">
              <a:lnSpc>
                <a:spcPct val="95000"/>
              </a:lnSpc>
              <a:defRPr/>
            </a:pPr>
            <a:r>
              <a:rPr sz="1100" b="0">
                <a:solidFill>
                  <a:srgbClr val="121F34"/>
                </a:solidFill>
                <a:latin typeface="Cascadia Mono"/>
              </a:rPr>
              <a:t>var account = _context.Accounts</a:t>
            </a:r>
            <a:br>
              <a:rPr sz="1100" b="0">
                <a:solidFill>
                  <a:srgbClr val="121F34"/>
                </a:solidFill>
                <a:latin typeface="Cascadia Mono"/>
              </a:rPr>
            </a:br>
            <a:r>
              <a:rPr sz="1100" b="0">
                <a:solidFill>
                  <a:srgbClr val="121F34"/>
                </a:solidFill>
                <a:latin typeface="Cascadia Mono"/>
              </a:rPr>
              <a:t>    .FirstOrDefault(a =&gt;</a:t>
            </a:r>
            <a:br>
              <a:rPr sz="1100" b="0">
                <a:solidFill>
                  <a:srgbClr val="121F34"/>
                </a:solidFill>
                <a:latin typeface="Cascadia Mono"/>
              </a:rPr>
            </a:br>
            <a:r>
              <a:rPr sz="1100" b="0">
                <a:solidFill>
                  <a:srgbClr val="121F34"/>
                </a:solidFill>
                <a:latin typeface="Cascadia Mono"/>
              </a:rPr>
              <a:t>        a.Username == user &amp;&amp;</a:t>
            </a:r>
            <a:br>
              <a:rPr sz="1100" b="0">
                <a:solidFill>
                  <a:srgbClr val="121F34"/>
                </a:solidFill>
                <a:latin typeface="Cascadia Mono"/>
              </a:rPr>
            </a:br>
            <a:r>
              <a:rPr sz="1100" b="0">
                <a:solidFill>
                  <a:srgbClr val="121F34"/>
                </a:solidFill>
                <a:latin typeface="Cascadia Mono"/>
              </a:rPr>
              <a:t>        a.Password == pass);</a:t>
            </a:r>
            <a:br>
              <a:rPr sz="1100" b="0">
                <a:solidFill>
                  <a:srgbClr val="121F34"/>
                </a:solidFill>
                <a:latin typeface="Cascadia Mono"/>
              </a:rPr>
            </a:br>
            <a:br>
              <a:rPr sz="1100" b="0">
                <a:solidFill>
                  <a:srgbClr val="121F34"/>
                </a:solidFill>
                <a:latin typeface="Cascadia Mono"/>
              </a:rPr>
            </a:br>
            <a:r>
              <a:rPr sz="1100" b="0">
                <a:solidFill>
                  <a:srgbClr val="121F34"/>
                </a:solidFill>
                <a:latin typeface="Cascadia Mono"/>
              </a:rPr>
              <a:t>// Data ≠ SQL Syntax</a:t>
            </a:r>
            <a:endParaRPr/>
          </a:p>
        </p:txBody>
      </p:sp>
      <p:sp>
        <p:nvSpPr>
          <p:cNvPr id="168636833" name="Rounded Rectangle 8"/>
          <p:cNvSpPr/>
          <p:nvPr/>
        </p:nvSpPr>
        <p:spPr bwMode="auto">
          <a:xfrm>
            <a:off x="6309360" y="1325880"/>
            <a:ext cx="5257800" cy="14173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4399631" name="Rectangle 9"/>
          <p:cNvSpPr/>
          <p:nvPr/>
        </p:nvSpPr>
        <p:spPr bwMode="auto">
          <a:xfrm>
            <a:off x="6309360" y="1325880"/>
            <a:ext cx="54864" cy="1417320"/>
          </a:xfrm>
          <a:prstGeom prst="rect">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06538573" name="TextBox 10"/>
          <p:cNvSpPr txBox="1"/>
          <p:nvPr/>
        </p:nvSpPr>
        <p:spPr bwMode="auto">
          <a:xfrm>
            <a:off x="6510528" y="1490472"/>
            <a:ext cx="4892039" cy="320040"/>
          </a:xfrm>
          <a:prstGeom prst="rect">
            <a:avLst/>
          </a:prstGeom>
          <a:noFill/>
        </p:spPr>
        <p:txBody>
          <a:bodyPr wrap="none" lIns="45720" rIns="45720" anchor="t">
            <a:spAutoFit/>
          </a:bodyPr>
          <a:lstStyle/>
          <a:p>
            <a:pPr algn="l">
              <a:lnSpc>
                <a:spcPct val="100000"/>
              </a:lnSpc>
              <a:defRPr/>
            </a:pPr>
            <a:r>
              <a:rPr sz="1500" b="1">
                <a:solidFill>
                  <a:srgbClr val="39C480"/>
                </a:solidFill>
                <a:latin typeface="Aptos"/>
              </a:rPr>
              <a:t>✓  01 • PARAMETERIZED QUERY</a:t>
            </a:r>
            <a:endParaRPr/>
          </a:p>
        </p:txBody>
      </p:sp>
      <p:sp>
        <p:nvSpPr>
          <p:cNvPr id="1509938518" name="TextBox 11"/>
          <p:cNvSpPr txBox="1"/>
          <p:nvPr/>
        </p:nvSpPr>
        <p:spPr bwMode="auto">
          <a:xfrm flipH="0" flipV="0">
            <a:off x="6510528" y="1901952"/>
            <a:ext cx="5057351" cy="472799"/>
          </a:xfrm>
          <a:prstGeom prst="rect">
            <a:avLst/>
          </a:prstGeom>
          <a:noFill/>
        </p:spPr>
        <p:txBody>
          <a:bodyPr wrap="square" lIns="45720" rIns="45720" anchor="t">
            <a:spAutoFit/>
          </a:bodyPr>
          <a:lstStyle/>
          <a:p>
            <a:pPr algn="l">
              <a:lnSpc>
                <a:spcPct val="100000"/>
              </a:lnSpc>
              <a:defRPr/>
            </a:pPr>
            <a:r>
              <a:rPr sz="1250" b="0">
                <a:solidFill>
                  <a:srgbClr val="121F34"/>
                </a:solidFill>
                <a:latin typeface="Aptos"/>
              </a:rPr>
              <a:t>SQL Server biên dịch cấu trúc truy vấn trước; payload được nhận như literal, không trở thành cú pháp.</a:t>
            </a:r>
            <a:endParaRPr/>
          </a:p>
        </p:txBody>
      </p:sp>
      <p:sp>
        <p:nvSpPr>
          <p:cNvPr id="1901046458" name="Rounded Rectangle 12"/>
          <p:cNvSpPr/>
          <p:nvPr/>
        </p:nvSpPr>
        <p:spPr bwMode="auto">
          <a:xfrm>
            <a:off x="6309360" y="2880360"/>
            <a:ext cx="5257800" cy="14173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4906654" name="Rectangle 13"/>
          <p:cNvSpPr/>
          <p:nvPr/>
        </p:nvSpPr>
        <p:spPr bwMode="auto">
          <a:xfrm>
            <a:off x="6309360" y="2880360"/>
            <a:ext cx="54864" cy="1417320"/>
          </a:xfrm>
          <a:prstGeom prst="rect">
            <a:avLst/>
          </a:prstGeom>
          <a:solidFill>
            <a:srgbClr val="4191FF"/>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5715698" name="TextBox 14"/>
          <p:cNvSpPr txBox="1"/>
          <p:nvPr/>
        </p:nvSpPr>
        <p:spPr bwMode="auto">
          <a:xfrm>
            <a:off x="6510528" y="3044952"/>
            <a:ext cx="4892039" cy="320040"/>
          </a:xfrm>
          <a:prstGeom prst="rect">
            <a:avLst/>
          </a:prstGeom>
          <a:noFill/>
        </p:spPr>
        <p:txBody>
          <a:bodyPr wrap="none" lIns="45720" rIns="45720" anchor="t">
            <a:spAutoFit/>
          </a:bodyPr>
          <a:lstStyle/>
          <a:p>
            <a:pPr algn="l">
              <a:lnSpc>
                <a:spcPct val="100000"/>
              </a:lnSpc>
              <a:defRPr/>
            </a:pPr>
            <a:r>
              <a:rPr sz="1500" b="1">
                <a:solidFill>
                  <a:srgbClr val="4191FF"/>
                </a:solidFill>
                <a:latin typeface="Aptos"/>
              </a:rPr>
              <a:t>✓  02 • PASSWORD HASHING</a:t>
            </a:r>
            <a:endParaRPr/>
          </a:p>
        </p:txBody>
      </p:sp>
      <p:sp>
        <p:nvSpPr>
          <p:cNvPr id="558494098" name="TextBox 15"/>
          <p:cNvSpPr txBox="1"/>
          <p:nvPr/>
        </p:nvSpPr>
        <p:spPr bwMode="auto">
          <a:xfrm flipH="0" flipV="0">
            <a:off x="6510528" y="3456432"/>
            <a:ext cx="5057351" cy="472799"/>
          </a:xfrm>
          <a:prstGeom prst="rect">
            <a:avLst/>
          </a:prstGeom>
          <a:noFill/>
        </p:spPr>
        <p:txBody>
          <a:bodyPr wrap="square" lIns="45720" rIns="45720" anchor="t">
            <a:spAutoFit/>
          </a:bodyPr>
          <a:lstStyle/>
          <a:p>
            <a:pPr algn="l">
              <a:lnSpc>
                <a:spcPct val="100000"/>
              </a:lnSpc>
              <a:defRPr/>
            </a:pPr>
            <a:r>
              <a:rPr sz="1250" b="0">
                <a:solidFill>
                  <a:srgbClr val="121F34"/>
                </a:solidFill>
                <a:latin typeface="Aptos"/>
              </a:rPr>
              <a:t>Bảo vệ mật khẩu là lớp Defense-in-Depth riêng: ASP.NET Core Identity PBKDF2 + Salt.</a:t>
            </a:r>
            <a:endParaRPr/>
          </a:p>
        </p:txBody>
      </p:sp>
      <p:sp>
        <p:nvSpPr>
          <p:cNvPr id="161444989" name="Rounded Rectangle 16"/>
          <p:cNvSpPr/>
          <p:nvPr/>
        </p:nvSpPr>
        <p:spPr bwMode="auto">
          <a:xfrm>
            <a:off x="6309360" y="4434840"/>
            <a:ext cx="5257800" cy="14173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7963899" name="Rectangle 17"/>
          <p:cNvSpPr/>
          <p:nvPr/>
        </p:nvSpPr>
        <p:spPr bwMode="auto">
          <a:xfrm>
            <a:off x="6309360" y="4434840"/>
            <a:ext cx="54864" cy="1417320"/>
          </a:xfrm>
          <a:prstGeom prst="rect">
            <a:avLst/>
          </a:prstGeom>
          <a:solidFill>
            <a:srgbClr val="F1BE48"/>
          </a:solidFill>
          <a:ln>
            <a:solidFill>
              <a:srgbClr val="F1B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20607008" name="TextBox 18"/>
          <p:cNvSpPr txBox="1"/>
          <p:nvPr/>
        </p:nvSpPr>
        <p:spPr bwMode="auto">
          <a:xfrm>
            <a:off x="6510528" y="4599431"/>
            <a:ext cx="4892039" cy="320040"/>
          </a:xfrm>
          <a:prstGeom prst="rect">
            <a:avLst/>
          </a:prstGeom>
          <a:noFill/>
        </p:spPr>
        <p:txBody>
          <a:bodyPr wrap="none" lIns="45720" rIns="45720" anchor="t">
            <a:spAutoFit/>
          </a:bodyPr>
          <a:lstStyle/>
          <a:p>
            <a:pPr algn="l">
              <a:lnSpc>
                <a:spcPct val="100000"/>
              </a:lnSpc>
              <a:defRPr/>
            </a:pPr>
            <a:r>
              <a:rPr sz="1500" b="1">
                <a:solidFill>
                  <a:srgbClr val="F1BE48"/>
                </a:solidFill>
                <a:latin typeface="Aptos"/>
              </a:rPr>
              <a:t>✓  03 • LEAST PRIVILEGE</a:t>
            </a:r>
            <a:endParaRPr/>
          </a:p>
        </p:txBody>
      </p:sp>
      <p:sp>
        <p:nvSpPr>
          <p:cNvPr id="507746618" name="TextBox 19"/>
          <p:cNvSpPr txBox="1"/>
          <p:nvPr/>
        </p:nvSpPr>
        <p:spPr bwMode="auto">
          <a:xfrm flipH="0" flipV="0">
            <a:off x="6510528" y="5010912"/>
            <a:ext cx="5057351" cy="472799"/>
          </a:xfrm>
          <a:prstGeom prst="rect">
            <a:avLst/>
          </a:prstGeom>
          <a:noFill/>
        </p:spPr>
        <p:txBody>
          <a:bodyPr wrap="square" lIns="45720" rIns="45720" anchor="t">
            <a:spAutoFit/>
          </a:bodyPr>
          <a:lstStyle/>
          <a:p>
            <a:pPr algn="l">
              <a:lnSpc>
                <a:spcPct val="100000"/>
              </a:lnSpc>
              <a:defRPr/>
            </a:pPr>
            <a:r>
              <a:rPr sz="1250" b="0">
                <a:solidFill>
                  <a:srgbClr val="121F34"/>
                </a:solidFill>
                <a:latin typeface="Aptos"/>
              </a:rPr>
              <a:t>Ứng dụng chỉ được cấp quyền cần thiết; không cấp sa / DDL cho tài khoản ứng dụng.</a:t>
            </a:r>
            <a:endParaRPr/>
          </a:p>
        </p:txBody>
      </p:sp>
      <p:sp>
        <p:nvSpPr>
          <p:cNvPr id="1951661147" name="TextBox 20"/>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656197288" name="TextBox 21"/>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Danh Học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178169042"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03 • STORED XSS</a:t>
            </a:r>
            <a:endParaRPr/>
          </a:p>
        </p:txBody>
      </p:sp>
      <p:sp>
        <p:nvSpPr>
          <p:cNvPr id="94694480"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2.1  Lỗi phát tán &amp; nguyên nhân gốc</a:t>
            </a:r>
            <a:endParaRPr/>
          </a:p>
        </p:txBody>
      </p:sp>
      <p:sp>
        <p:nvSpPr>
          <p:cNvPr id="1212081952"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87588671"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08</a:t>
            </a:r>
            <a:endParaRPr/>
          </a:p>
        </p:txBody>
      </p:sp>
      <p:sp>
        <p:nvSpPr>
          <p:cNvPr id="48327240" name="Rounded Rectangle 5"/>
          <p:cNvSpPr/>
          <p:nvPr/>
        </p:nvSpPr>
        <p:spPr bwMode="auto">
          <a:xfrm>
            <a:off x="594360" y="1417320"/>
            <a:ext cx="2468880" cy="621792"/>
          </a:xfrm>
          <a:prstGeom prst="roundRect">
            <a:avLst>
              <a:gd name="adj" fmla="val 8000"/>
            </a:avLst>
          </a:prstGeom>
          <a:solidFill>
            <a:srgbClr val="EFF5FC"/>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0311690" name="TextBox 6"/>
          <p:cNvSpPr txBox="1"/>
          <p:nvPr/>
        </p:nvSpPr>
        <p:spPr bwMode="auto">
          <a:xfrm>
            <a:off x="667512" y="1490472"/>
            <a:ext cx="232257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Attacker</a:t>
            </a:r>
            <a:br>
              <a:rPr sz="1150" b="1">
                <a:solidFill>
                  <a:srgbClr val="121F34"/>
                </a:solidFill>
                <a:latin typeface="Aptos"/>
              </a:rPr>
            </a:br>
            <a:r>
              <a:rPr sz="1150" b="1">
                <a:solidFill>
                  <a:srgbClr val="121F34"/>
                </a:solidFill>
                <a:latin typeface="Aptos"/>
              </a:rPr>
              <a:t>Nhập JavaScript</a:t>
            </a:r>
            <a:endParaRPr/>
          </a:p>
        </p:txBody>
      </p:sp>
      <p:cxnSp>
        <p:nvCxnSpPr>
          <p:cNvPr id="1554876758" name="Connector 7"/>
          <p:cNvCxnSpPr/>
          <p:nvPr/>
        </p:nvCxnSpPr>
        <p:spPr bwMode="auto">
          <a:xfrm>
            <a:off x="3090672" y="1728216"/>
            <a:ext cx="411480" cy="0"/>
          </a:xfrm>
          <a:prstGeom prst="line">
            <a:avLst/>
          </a:prstGeom>
          <a:ln w="27940">
            <a:solidFill>
              <a:srgbClr val="4191FF"/>
            </a:solidFill>
          </a:ln>
        </p:spPr>
        <p:style>
          <a:lnRef idx="2">
            <a:schemeClr val="accent1"/>
          </a:lnRef>
          <a:fillRef idx="0">
            <a:schemeClr val="accent1"/>
          </a:fillRef>
          <a:effectRef idx="1">
            <a:schemeClr val="accent1"/>
          </a:effectRef>
          <a:fontRef idx="minor">
            <a:schemeClr val="tx1"/>
          </a:fontRef>
        </p:style>
      </p:cxnSp>
      <p:sp>
        <p:nvSpPr>
          <p:cNvPr id="293111251" name="Rounded Rectangle 8"/>
          <p:cNvSpPr/>
          <p:nvPr/>
        </p:nvSpPr>
        <p:spPr bwMode="auto">
          <a:xfrm>
            <a:off x="3566160" y="1417320"/>
            <a:ext cx="2468880" cy="621792"/>
          </a:xfrm>
          <a:prstGeom prst="roundRect">
            <a:avLst>
              <a:gd name="adj" fmla="val 8000"/>
            </a:avLst>
          </a:prstGeom>
          <a:solidFill>
            <a:srgbClr val="EFF5FC"/>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3858907" name="TextBox 9"/>
          <p:cNvSpPr txBox="1"/>
          <p:nvPr/>
        </p:nvSpPr>
        <p:spPr bwMode="auto">
          <a:xfrm>
            <a:off x="3639312" y="1490472"/>
            <a:ext cx="232257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Web Server</a:t>
            </a:r>
            <a:br>
              <a:rPr sz="1150" b="1">
                <a:solidFill>
                  <a:srgbClr val="121F34"/>
                </a:solidFill>
                <a:latin typeface="Aptos"/>
              </a:rPr>
            </a:br>
            <a:r>
              <a:rPr sz="1150" b="1">
                <a:solidFill>
                  <a:srgbClr val="121F34"/>
                </a:solidFill>
                <a:latin typeface="Aptos"/>
              </a:rPr>
              <a:t>Lưu nguyên văn</a:t>
            </a:r>
            <a:endParaRPr/>
          </a:p>
        </p:txBody>
      </p:sp>
      <p:cxnSp>
        <p:nvCxnSpPr>
          <p:cNvPr id="1735876603" name="Connector 10"/>
          <p:cNvCxnSpPr/>
          <p:nvPr/>
        </p:nvCxnSpPr>
        <p:spPr bwMode="auto">
          <a:xfrm>
            <a:off x="6062471" y="1728216"/>
            <a:ext cx="411480" cy="0"/>
          </a:xfrm>
          <a:prstGeom prst="line">
            <a:avLst/>
          </a:prstGeom>
          <a:ln w="27940">
            <a:solidFill>
              <a:srgbClr val="4191FF"/>
            </a:solidFill>
          </a:ln>
        </p:spPr>
        <p:style>
          <a:lnRef idx="2">
            <a:schemeClr val="accent1"/>
          </a:lnRef>
          <a:fillRef idx="0">
            <a:schemeClr val="accent1"/>
          </a:fillRef>
          <a:effectRef idx="1">
            <a:schemeClr val="accent1"/>
          </a:effectRef>
          <a:fontRef idx="minor">
            <a:schemeClr val="tx1"/>
          </a:fontRef>
        </p:style>
      </p:cxnSp>
      <p:sp>
        <p:nvSpPr>
          <p:cNvPr id="2078940722" name="Rounded Rectangle 11"/>
          <p:cNvSpPr/>
          <p:nvPr/>
        </p:nvSpPr>
        <p:spPr bwMode="auto">
          <a:xfrm>
            <a:off x="6537960" y="1417320"/>
            <a:ext cx="2468880" cy="621792"/>
          </a:xfrm>
          <a:prstGeom prst="roundRect">
            <a:avLst>
              <a:gd name="adj" fmla="val 8000"/>
            </a:avLst>
          </a:prstGeom>
          <a:solidFill>
            <a:srgbClr val="EFF5FC"/>
          </a:solidFill>
          <a:ln>
            <a:solidFill>
              <a:srgbClr val="F1B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40504895" name="TextBox 12"/>
          <p:cNvSpPr txBox="1"/>
          <p:nvPr/>
        </p:nvSpPr>
        <p:spPr bwMode="auto">
          <a:xfrm>
            <a:off x="6611112" y="1490472"/>
            <a:ext cx="232257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Database</a:t>
            </a:r>
            <a:br>
              <a:rPr sz="1150" b="1">
                <a:solidFill>
                  <a:srgbClr val="121F34"/>
                </a:solidFill>
                <a:latin typeface="Aptos"/>
              </a:rPr>
            </a:br>
            <a:r>
              <a:rPr sz="1150" b="1">
                <a:solidFill>
                  <a:srgbClr val="121F34"/>
                </a:solidFill>
                <a:latin typeface="Aptos"/>
              </a:rPr>
              <a:t>dbo.Comments</a:t>
            </a:r>
            <a:endParaRPr/>
          </a:p>
        </p:txBody>
      </p:sp>
      <p:cxnSp>
        <p:nvCxnSpPr>
          <p:cNvPr id="1402307323" name="Connector 13"/>
          <p:cNvCxnSpPr/>
          <p:nvPr/>
        </p:nvCxnSpPr>
        <p:spPr bwMode="auto">
          <a:xfrm>
            <a:off x="9034272" y="1728216"/>
            <a:ext cx="411480" cy="0"/>
          </a:xfrm>
          <a:prstGeom prst="line">
            <a:avLst/>
          </a:prstGeom>
          <a:ln w="27940">
            <a:solidFill>
              <a:srgbClr val="4191FF"/>
            </a:solidFill>
          </a:ln>
        </p:spPr>
        <p:style>
          <a:lnRef idx="2">
            <a:schemeClr val="accent1"/>
          </a:lnRef>
          <a:fillRef idx="0">
            <a:schemeClr val="accent1"/>
          </a:fillRef>
          <a:effectRef idx="1">
            <a:schemeClr val="accent1"/>
          </a:effectRef>
          <a:fontRef idx="minor">
            <a:schemeClr val="tx1"/>
          </a:fontRef>
        </p:style>
      </p:cxnSp>
      <p:sp>
        <p:nvSpPr>
          <p:cNvPr id="980521953" name="Rounded Rectangle 14"/>
          <p:cNvSpPr/>
          <p:nvPr/>
        </p:nvSpPr>
        <p:spPr bwMode="auto">
          <a:xfrm>
            <a:off x="9509760" y="1417320"/>
            <a:ext cx="2468880" cy="621792"/>
          </a:xfrm>
          <a:prstGeom prst="roundRect">
            <a:avLst>
              <a:gd name="adj" fmla="val 8000"/>
            </a:avLst>
          </a:prstGeom>
          <a:solidFill>
            <a:srgbClr val="EFF5FC"/>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96978798" name="TextBox 15"/>
          <p:cNvSpPr txBox="1"/>
          <p:nvPr/>
        </p:nvSpPr>
        <p:spPr bwMode="auto">
          <a:xfrm>
            <a:off x="9582912" y="1490472"/>
            <a:ext cx="232257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Victim Browser</a:t>
            </a:r>
            <a:br>
              <a:rPr sz="1150" b="1">
                <a:solidFill>
                  <a:srgbClr val="121F34"/>
                </a:solidFill>
                <a:latin typeface="Aptos"/>
              </a:rPr>
            </a:br>
            <a:r>
              <a:rPr sz="1150" b="1">
                <a:solidFill>
                  <a:srgbClr val="121F34"/>
                </a:solidFill>
                <a:latin typeface="Aptos"/>
              </a:rPr>
              <a:t>Thực thi script</a:t>
            </a:r>
            <a:endParaRPr/>
          </a:p>
        </p:txBody>
      </p:sp>
      <p:sp>
        <p:nvSpPr>
          <p:cNvPr id="1512211141" name="Rounded Rectangle 16"/>
          <p:cNvSpPr/>
          <p:nvPr/>
        </p:nvSpPr>
        <p:spPr bwMode="auto">
          <a:xfrm>
            <a:off x="594360" y="2468880"/>
            <a:ext cx="5166360" cy="14173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93760759" name="Rectangle 17"/>
          <p:cNvSpPr/>
          <p:nvPr/>
        </p:nvSpPr>
        <p:spPr bwMode="auto">
          <a:xfrm>
            <a:off x="594360" y="2468880"/>
            <a:ext cx="54864" cy="1417320"/>
          </a:xfrm>
          <a:prstGeom prst="rect">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6597395" name="TextBox 18"/>
          <p:cNvSpPr txBox="1"/>
          <p:nvPr/>
        </p:nvSpPr>
        <p:spPr bwMode="auto">
          <a:xfrm>
            <a:off x="795528" y="2633472"/>
            <a:ext cx="4800600" cy="320040"/>
          </a:xfrm>
          <a:prstGeom prst="rect">
            <a:avLst/>
          </a:prstGeom>
          <a:noFill/>
        </p:spPr>
        <p:txBody>
          <a:bodyPr wrap="none" lIns="45720" rIns="45720" anchor="t">
            <a:spAutoFit/>
          </a:bodyPr>
          <a:lstStyle/>
          <a:p>
            <a:pPr algn="l">
              <a:lnSpc>
                <a:spcPct val="100000"/>
              </a:lnSpc>
              <a:defRPr/>
            </a:pPr>
            <a:r>
              <a:rPr sz="1500" b="1">
                <a:solidFill>
                  <a:srgbClr val="EF5B5B"/>
                </a:solidFill>
                <a:latin typeface="Aptos"/>
              </a:rPr>
              <a:t>!  ROOT CAUSE</a:t>
            </a:r>
            <a:endParaRPr/>
          </a:p>
        </p:txBody>
      </p:sp>
      <p:sp>
        <p:nvSpPr>
          <p:cNvPr id="1593084981" name="TextBox 19"/>
          <p:cNvSpPr txBox="1"/>
          <p:nvPr/>
        </p:nvSpPr>
        <p:spPr bwMode="auto">
          <a:xfrm flipH="0" flipV="0">
            <a:off x="795528" y="3044952"/>
            <a:ext cx="4965911" cy="472799"/>
          </a:xfrm>
          <a:prstGeom prst="rect">
            <a:avLst/>
          </a:prstGeom>
          <a:noFill/>
        </p:spPr>
        <p:txBody>
          <a:bodyPr wrap="square" lIns="45720" rIns="45720" anchor="t">
            <a:spAutoFit/>
          </a:bodyPr>
          <a:lstStyle/>
          <a:p>
            <a:pPr algn="l">
              <a:lnSpc>
                <a:spcPct val="100000"/>
              </a:lnSpc>
              <a:defRPr/>
            </a:pPr>
            <a:r>
              <a:rPr sz="1250" b="0">
                <a:solidFill>
                  <a:srgbClr val="121F34"/>
                </a:solidFill>
                <a:latin typeface="Aptos"/>
              </a:rPr>
              <a:t>Dữ liệu không tin cậy được render trực tiếp mà không qua Output Encoding.</a:t>
            </a:r>
            <a:endParaRPr/>
          </a:p>
        </p:txBody>
      </p:sp>
      <p:sp>
        <p:nvSpPr>
          <p:cNvPr id="503916409" name="Rounded Rectangle 20"/>
          <p:cNvSpPr/>
          <p:nvPr/>
        </p:nvSpPr>
        <p:spPr bwMode="auto">
          <a:xfrm>
            <a:off x="5989320" y="2468880"/>
            <a:ext cx="5486400" cy="2331720"/>
          </a:xfrm>
          <a:prstGeom prst="roundRect">
            <a:avLst>
              <a:gd name="adj" fmla="val 8000"/>
            </a:avLst>
          </a:prstGeom>
          <a:solidFill>
            <a:srgbClr val="EFF4F9"/>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38359125" name="TextBox 21"/>
          <p:cNvSpPr txBox="1"/>
          <p:nvPr/>
        </p:nvSpPr>
        <p:spPr bwMode="auto">
          <a:xfrm>
            <a:off x="6153912" y="2596896"/>
            <a:ext cx="5166360" cy="274320"/>
          </a:xfrm>
          <a:prstGeom prst="rect">
            <a:avLst/>
          </a:prstGeom>
          <a:noFill/>
        </p:spPr>
        <p:txBody>
          <a:bodyPr wrap="none" lIns="45720" rIns="45720" anchor="t">
            <a:spAutoFit/>
          </a:bodyPr>
          <a:lstStyle/>
          <a:p>
            <a:pPr algn="l">
              <a:lnSpc>
                <a:spcPct val="100000"/>
              </a:lnSpc>
              <a:defRPr/>
            </a:pPr>
            <a:r>
              <a:rPr sz="1000" b="1">
                <a:solidFill>
                  <a:srgbClr val="EF5B5B"/>
                </a:solidFill>
                <a:latin typeface="Aptos"/>
              </a:rPr>
              <a:t>VULNERABLE • @HTML.RAW()</a:t>
            </a:r>
            <a:endParaRPr/>
          </a:p>
        </p:txBody>
      </p:sp>
      <p:sp>
        <p:nvSpPr>
          <p:cNvPr id="269293519" name="TextBox 22"/>
          <p:cNvSpPr txBox="1"/>
          <p:nvPr/>
        </p:nvSpPr>
        <p:spPr bwMode="auto">
          <a:xfrm>
            <a:off x="6153912" y="2907792"/>
            <a:ext cx="5166360" cy="1801367"/>
          </a:xfrm>
          <a:prstGeom prst="rect">
            <a:avLst/>
          </a:prstGeom>
          <a:noFill/>
        </p:spPr>
        <p:txBody>
          <a:bodyPr wrap="none" lIns="18288" tIns="18288" rIns="18288" bIns="18288" anchor="t">
            <a:spAutoFit/>
          </a:bodyPr>
          <a:lstStyle/>
          <a:p>
            <a:pPr algn="l">
              <a:lnSpc>
                <a:spcPct val="95000"/>
              </a:lnSpc>
              <a:defRPr/>
            </a:pPr>
            <a:r>
              <a:rPr sz="1100" b="0">
                <a:solidFill>
                  <a:srgbClr val="121F34"/>
                </a:solidFill>
                <a:latin typeface="Cascadia Mono"/>
              </a:rPr>
              <a:t>var comment = new Comment {</a:t>
            </a:r>
            <a:br>
              <a:rPr sz="1100" b="0">
                <a:solidFill>
                  <a:srgbClr val="121F34"/>
                </a:solidFill>
                <a:latin typeface="Cascadia Mono"/>
              </a:rPr>
            </a:br>
            <a:r>
              <a:rPr sz="1100" b="0">
                <a:solidFill>
                  <a:srgbClr val="121F34"/>
                </a:solidFill>
                <a:latin typeface="Cascadia Mono"/>
              </a:rPr>
              <a:t>    Author = author,</a:t>
            </a:r>
            <a:br>
              <a:rPr sz="1100" b="0">
                <a:solidFill>
                  <a:srgbClr val="121F34"/>
                </a:solidFill>
                <a:latin typeface="Cascadia Mono"/>
              </a:rPr>
            </a:br>
            <a:r>
              <a:rPr sz="1100" b="0">
                <a:solidFill>
                  <a:srgbClr val="121F34"/>
                </a:solidFill>
                <a:latin typeface="Cascadia Mono"/>
              </a:rPr>
              <a:t>    Content = content</a:t>
            </a:r>
            <a:br>
              <a:rPr sz="1100" b="0">
                <a:solidFill>
                  <a:srgbClr val="121F34"/>
                </a:solidFill>
                <a:latin typeface="Cascadia Mono"/>
              </a:rPr>
            </a:br>
            <a:r>
              <a:rPr sz="1100" b="0">
                <a:solidFill>
                  <a:srgbClr val="121F34"/>
                </a:solidFill>
                <a:latin typeface="Cascadia Mono"/>
              </a:rPr>
              <a:t>};</a:t>
            </a:r>
            <a:br>
              <a:rPr sz="1100" b="0">
                <a:solidFill>
                  <a:srgbClr val="121F34"/>
                </a:solidFill>
                <a:latin typeface="Cascadia Mono"/>
              </a:rPr>
            </a:br>
            <a:br>
              <a:rPr sz="1100" b="0">
                <a:solidFill>
                  <a:srgbClr val="121F34"/>
                </a:solidFill>
                <a:latin typeface="Cascadia Mono"/>
              </a:rPr>
            </a:br>
            <a:r>
              <a:rPr sz="1100" b="0">
                <a:solidFill>
                  <a:srgbClr val="121F34"/>
                </a:solidFill>
                <a:latin typeface="Cascadia Mono"/>
              </a:rPr>
              <a:t>&lt;div class="comment-body"&gt;</a:t>
            </a:r>
            <a:br>
              <a:rPr sz="1100" b="0">
                <a:solidFill>
                  <a:srgbClr val="121F34"/>
                </a:solidFill>
                <a:latin typeface="Cascadia Mono"/>
              </a:rPr>
            </a:br>
            <a:r>
              <a:rPr sz="1100" b="0">
                <a:solidFill>
                  <a:srgbClr val="121F34"/>
                </a:solidFill>
                <a:latin typeface="Cascadia Mono"/>
              </a:rPr>
              <a:t>    @Html.Raw(comment.Content)</a:t>
            </a:r>
            <a:br>
              <a:rPr sz="1100" b="0">
                <a:solidFill>
                  <a:srgbClr val="121F34"/>
                </a:solidFill>
                <a:latin typeface="Cascadia Mono"/>
              </a:rPr>
            </a:br>
            <a:r>
              <a:rPr sz="1100" b="0">
                <a:solidFill>
                  <a:srgbClr val="121F34"/>
                </a:solidFill>
                <a:latin typeface="Cascadia Mono"/>
              </a:rPr>
              <a:t>&lt;/div&gt;</a:t>
            </a:r>
            <a:endParaRPr/>
          </a:p>
        </p:txBody>
      </p:sp>
      <p:sp>
        <p:nvSpPr>
          <p:cNvPr id="65901134" name="TextBox 23"/>
          <p:cNvSpPr txBox="1"/>
          <p:nvPr/>
        </p:nvSpPr>
        <p:spPr bwMode="auto">
          <a:xfrm>
            <a:off x="594360" y="4937760"/>
            <a:ext cx="10789920" cy="640080"/>
          </a:xfrm>
          <a:prstGeom prst="rect">
            <a:avLst/>
          </a:prstGeom>
          <a:noFill/>
        </p:spPr>
        <p:txBody>
          <a:bodyPr wrap="none" lIns="45720" rIns="45720" anchor="t">
            <a:spAutoFit/>
          </a:bodyPr>
          <a:lstStyle/>
          <a:p>
            <a:pPr algn="l">
              <a:lnSpc>
                <a:spcPct val="100000"/>
              </a:lnSpc>
              <a:defRPr/>
            </a:pPr>
            <a:r>
              <a:rPr sz="1300" b="1">
                <a:solidFill>
                  <a:srgbClr val="F1BE48"/>
                </a:solidFill>
                <a:latin typeface="Aptos"/>
              </a:rPr>
              <a:t>Điểm mù: @Html.Raw() vô hiệu hóa HTML encoding mặc định của Razor → script có thể chạy trên trình duyệt nạn nhân.</a:t>
            </a:r>
            <a:endParaRPr/>
          </a:p>
        </p:txBody>
      </p:sp>
      <p:sp>
        <p:nvSpPr>
          <p:cNvPr id="726762858" name="TextBox 24"/>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554591299" name="TextBox 25"/>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Thanh Bình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224609054"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03 • STORED XSS</a:t>
            </a:r>
            <a:endParaRPr/>
          </a:p>
        </p:txBody>
      </p:sp>
      <p:sp>
        <p:nvSpPr>
          <p:cNvPr id="973846339"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2.2  Ba kịch bản tiêm mã độc thực nghiệm</a:t>
            </a:r>
            <a:endParaRPr/>
          </a:p>
        </p:txBody>
      </p:sp>
      <p:sp>
        <p:nvSpPr>
          <p:cNvPr id="200817572"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42440700"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09</a:t>
            </a:r>
            <a:endParaRPr/>
          </a:p>
        </p:txBody>
      </p:sp>
      <p:sp>
        <p:nvSpPr>
          <p:cNvPr id="1280703349" name="Rounded Rectangle 5"/>
          <p:cNvSpPr/>
          <p:nvPr/>
        </p:nvSpPr>
        <p:spPr bwMode="auto">
          <a:xfrm>
            <a:off x="594360" y="1325880"/>
            <a:ext cx="10972800" cy="123444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06940708" name="Rectangle 6"/>
          <p:cNvSpPr/>
          <p:nvPr/>
        </p:nvSpPr>
        <p:spPr bwMode="auto">
          <a:xfrm>
            <a:off x="594360" y="1325880"/>
            <a:ext cx="54864" cy="1234440"/>
          </a:xfrm>
          <a:prstGeom prst="rect">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1512265" name="TextBox 7"/>
          <p:cNvSpPr txBox="1"/>
          <p:nvPr/>
        </p:nvSpPr>
        <p:spPr bwMode="auto">
          <a:xfrm>
            <a:off x="795528" y="1490472"/>
            <a:ext cx="10607040" cy="320040"/>
          </a:xfrm>
          <a:prstGeom prst="rect">
            <a:avLst/>
          </a:prstGeom>
          <a:noFill/>
        </p:spPr>
        <p:txBody>
          <a:bodyPr wrap="none" lIns="45720" rIns="45720" anchor="t">
            <a:spAutoFit/>
          </a:bodyPr>
          <a:lstStyle/>
          <a:p>
            <a:pPr algn="l">
              <a:lnSpc>
                <a:spcPct val="100000"/>
              </a:lnSpc>
              <a:defRPr/>
            </a:pPr>
            <a:r>
              <a:rPr sz="1500" b="1">
                <a:solidFill>
                  <a:srgbClr val="EF5B5B"/>
                </a:solidFill>
                <a:latin typeface="Aptos"/>
              </a:rPr>
              <a:t>01  •  ĐÁNH CẮP COOKIE / SESSION</a:t>
            </a:r>
            <a:endParaRPr/>
          </a:p>
        </p:txBody>
      </p:sp>
      <p:sp>
        <p:nvSpPr>
          <p:cNvPr id="63124015" name="TextBox 8"/>
          <p:cNvSpPr txBox="1"/>
          <p:nvPr/>
        </p:nvSpPr>
        <p:spPr bwMode="auto">
          <a:xfrm>
            <a:off x="795528" y="1901952"/>
            <a:ext cx="10607040" cy="52120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Payload:  &lt;script&gt;alert(document.cookie);&lt;/script&gt;</a:t>
            </a:r>
            <a:br>
              <a:rPr sz="1250" b="0">
                <a:solidFill>
                  <a:srgbClr val="121F34"/>
                </a:solidFill>
                <a:latin typeface="Aptos"/>
              </a:rPr>
            </a:br>
            <a:r>
              <a:rPr sz="1250" b="0">
                <a:solidFill>
                  <a:srgbClr val="121F34"/>
                </a:solidFill>
                <a:latin typeface="Aptos"/>
              </a:rPr>
              <a:t>Cơ chế: script đọc document.cookie.  Hậu quả mô phỏng: Cookie Stealing / Session Token.</a:t>
            </a:r>
            <a:endParaRPr/>
          </a:p>
        </p:txBody>
      </p:sp>
      <p:sp>
        <p:nvSpPr>
          <p:cNvPr id="1615768367" name="Rounded Rectangle 9"/>
          <p:cNvSpPr/>
          <p:nvPr/>
        </p:nvSpPr>
        <p:spPr bwMode="auto">
          <a:xfrm>
            <a:off x="594360" y="2743200"/>
            <a:ext cx="10972800" cy="123444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3453838" name="Rectangle 10"/>
          <p:cNvSpPr/>
          <p:nvPr/>
        </p:nvSpPr>
        <p:spPr bwMode="auto">
          <a:xfrm>
            <a:off x="594360" y="2743200"/>
            <a:ext cx="54864" cy="1234440"/>
          </a:xfrm>
          <a:prstGeom prst="rect">
            <a:avLst/>
          </a:prstGeom>
          <a:solidFill>
            <a:srgbClr val="F1BE48"/>
          </a:solidFill>
          <a:ln>
            <a:solidFill>
              <a:srgbClr val="F1B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6729545" name="TextBox 11"/>
          <p:cNvSpPr txBox="1"/>
          <p:nvPr/>
        </p:nvSpPr>
        <p:spPr bwMode="auto">
          <a:xfrm>
            <a:off x="795528" y="2907792"/>
            <a:ext cx="10607040" cy="320040"/>
          </a:xfrm>
          <a:prstGeom prst="rect">
            <a:avLst/>
          </a:prstGeom>
          <a:noFill/>
        </p:spPr>
        <p:txBody>
          <a:bodyPr wrap="none" lIns="45720" rIns="45720" anchor="t">
            <a:spAutoFit/>
          </a:bodyPr>
          <a:lstStyle/>
          <a:p>
            <a:pPr algn="l">
              <a:lnSpc>
                <a:spcPct val="100000"/>
              </a:lnSpc>
              <a:defRPr/>
            </a:pPr>
            <a:r>
              <a:rPr sz="1500" b="1">
                <a:solidFill>
                  <a:srgbClr val="F1BE48"/>
                </a:solidFill>
                <a:latin typeface="Aptos"/>
              </a:rPr>
              <a:t>02  •  BYPASS BỘ LỌC QUA EVENT HANDLER</a:t>
            </a:r>
            <a:endParaRPr/>
          </a:p>
        </p:txBody>
      </p:sp>
      <p:sp>
        <p:nvSpPr>
          <p:cNvPr id="609580649" name="TextBox 12"/>
          <p:cNvSpPr txBox="1"/>
          <p:nvPr/>
        </p:nvSpPr>
        <p:spPr bwMode="auto">
          <a:xfrm>
            <a:off x="795528" y="3319272"/>
            <a:ext cx="10607040" cy="52120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Payload:  &lt;img src=x onerror=alert('XSS!')&gt;</a:t>
            </a:r>
            <a:br>
              <a:rPr sz="1250" b="0">
                <a:solidFill>
                  <a:srgbClr val="121F34"/>
                </a:solidFill>
                <a:latin typeface="Aptos"/>
              </a:rPr>
            </a:br>
            <a:r>
              <a:rPr sz="1250" b="0">
                <a:solidFill>
                  <a:srgbClr val="121F34"/>
                </a:solidFill>
                <a:latin typeface="Aptos"/>
              </a:rPr>
              <a:t>Cơ chế: onerror chạy khi ảnh lỗi; minh họa việc vượt bộ lọc chỉ chặn chuỗi &lt;script&gt;.</a:t>
            </a:r>
            <a:endParaRPr/>
          </a:p>
        </p:txBody>
      </p:sp>
      <p:sp>
        <p:nvSpPr>
          <p:cNvPr id="737701404" name="Rounded Rectangle 13"/>
          <p:cNvSpPr/>
          <p:nvPr/>
        </p:nvSpPr>
        <p:spPr bwMode="auto">
          <a:xfrm>
            <a:off x="594360" y="4160519"/>
            <a:ext cx="10972800" cy="123444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6587993" name="Rectangle 14"/>
          <p:cNvSpPr/>
          <p:nvPr/>
        </p:nvSpPr>
        <p:spPr bwMode="auto">
          <a:xfrm>
            <a:off x="594360" y="4160519"/>
            <a:ext cx="54864" cy="1234440"/>
          </a:xfrm>
          <a:prstGeom prst="rect">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5261042" name="TextBox 15"/>
          <p:cNvSpPr txBox="1"/>
          <p:nvPr/>
        </p:nvSpPr>
        <p:spPr bwMode="auto">
          <a:xfrm>
            <a:off x="795528" y="4325112"/>
            <a:ext cx="10607040" cy="320040"/>
          </a:xfrm>
          <a:prstGeom prst="rect">
            <a:avLst/>
          </a:prstGeom>
          <a:noFill/>
        </p:spPr>
        <p:txBody>
          <a:bodyPr wrap="none" lIns="45720" rIns="45720" anchor="t">
            <a:spAutoFit/>
          </a:bodyPr>
          <a:lstStyle/>
          <a:p>
            <a:pPr algn="l">
              <a:lnSpc>
                <a:spcPct val="100000"/>
              </a:lnSpc>
              <a:defRPr/>
            </a:pPr>
            <a:r>
              <a:rPr sz="1500" b="1">
                <a:solidFill>
                  <a:srgbClr val="39C480"/>
                </a:solidFill>
                <a:latin typeface="Aptos"/>
              </a:rPr>
              <a:t>03  •  ĐÁNH GIÁ HỢP LỆ — ĐỐI CHỨNG</a:t>
            </a:r>
            <a:endParaRPr/>
          </a:p>
        </p:txBody>
      </p:sp>
      <p:sp>
        <p:nvSpPr>
          <p:cNvPr id="796423985" name="TextBox 16"/>
          <p:cNvSpPr txBox="1"/>
          <p:nvPr/>
        </p:nvSpPr>
        <p:spPr bwMode="auto">
          <a:xfrm>
            <a:off x="795528" y="4736592"/>
            <a:ext cx="10607040" cy="52120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Payload:  Dịch vụ tư vấn rất chuyên nghiệp, 5 sao!</a:t>
            </a:r>
            <a:br>
              <a:rPr sz="1250" b="0">
                <a:solidFill>
                  <a:srgbClr val="121F34"/>
                </a:solidFill>
                <a:latin typeface="Aptos"/>
              </a:rPr>
            </a:br>
            <a:r>
              <a:rPr sz="1250" b="0">
                <a:solidFill>
                  <a:srgbClr val="121F34"/>
                </a:solidFill>
                <a:latin typeface="Aptos"/>
              </a:rPr>
              <a:t>Văn bản thuần túy → hiển thị an toàn trên cả Vulnerable và Secure.</a:t>
            </a:r>
            <a:endParaRPr/>
          </a:p>
        </p:txBody>
      </p:sp>
      <p:sp>
        <p:nvSpPr>
          <p:cNvPr id="2082551368" name="TextBox 17"/>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1721871715" name="TextBox 18"/>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Thanh Bình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530514593"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03 • STORED XSS</a:t>
            </a:r>
            <a:endParaRPr/>
          </a:p>
        </p:txBody>
      </p:sp>
      <p:sp>
        <p:nvSpPr>
          <p:cNvPr id="1947409428"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2.3  Minh chứng thực nghiệm — Web UI</a:t>
            </a:r>
            <a:endParaRPr/>
          </a:p>
        </p:txBody>
      </p:sp>
      <p:sp>
        <p:nvSpPr>
          <p:cNvPr id="607897077"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7874201"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10</a:t>
            </a:r>
            <a:endParaRPr/>
          </a:p>
        </p:txBody>
      </p:sp>
      <p:pic>
        <p:nvPicPr>
          <p:cNvPr id="1576169616" name="Picture 5" descr="s10_4.png"/>
          <p:cNvPicPr>
            <a:picLocks noChangeAspect="1"/>
          </p:cNvPicPr>
          <p:nvPr/>
        </p:nvPicPr>
        <p:blipFill rotWithShape="1">
          <a:blip r:embed="rId3"/>
          <a:stretch/>
        </p:blipFill>
        <p:spPr bwMode="auto">
          <a:xfrm>
            <a:off x="594360" y="1234440"/>
            <a:ext cx="10972800" cy="4297680"/>
          </a:xfrm>
          <a:prstGeom prst="rect">
            <a:avLst/>
          </a:prstGeom>
        </p:spPr>
      </p:pic>
      <p:sp>
        <p:nvSpPr>
          <p:cNvPr id="1111404921" name="Rounded Rectangle 6"/>
          <p:cNvSpPr/>
          <p:nvPr/>
        </p:nvSpPr>
        <p:spPr bwMode="auto">
          <a:xfrm>
            <a:off x="731520" y="5623560"/>
            <a:ext cx="3200400" cy="438912"/>
          </a:xfrm>
          <a:prstGeom prst="roundRect">
            <a:avLst>
              <a:gd name="adj" fmla="val 8000"/>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574874" name="TextBox 7"/>
          <p:cNvSpPr txBox="1"/>
          <p:nvPr/>
        </p:nvSpPr>
        <p:spPr bwMode="auto">
          <a:xfrm>
            <a:off x="841248" y="5705856"/>
            <a:ext cx="2971800" cy="228600"/>
          </a:xfrm>
          <a:prstGeom prst="rect">
            <a:avLst/>
          </a:prstGeom>
          <a:noFill/>
        </p:spPr>
        <p:txBody>
          <a:bodyPr wrap="none" lIns="45720" rIns="45720" anchor="t">
            <a:spAutoFit/>
          </a:bodyPr>
          <a:lstStyle/>
          <a:p>
            <a:pPr algn="ctr">
              <a:lnSpc>
                <a:spcPct val="100000"/>
              </a:lnSpc>
              <a:defRPr/>
            </a:pPr>
            <a:r>
              <a:rPr sz="950" b="1">
                <a:solidFill>
                  <a:srgbClr val="121F34"/>
                </a:solidFill>
                <a:latin typeface="Aptos"/>
              </a:rPr>
              <a:t>VULNERABLE • popup Alert</a:t>
            </a:r>
            <a:endParaRPr/>
          </a:p>
        </p:txBody>
      </p:sp>
      <p:sp>
        <p:nvSpPr>
          <p:cNvPr id="1518628211" name="Rounded Rectangle 8"/>
          <p:cNvSpPr/>
          <p:nvPr/>
        </p:nvSpPr>
        <p:spPr bwMode="auto">
          <a:xfrm>
            <a:off x="8183879" y="5623560"/>
            <a:ext cx="3108960" cy="438912"/>
          </a:xfrm>
          <a:prstGeom prst="roundRect">
            <a:avLst>
              <a:gd name="adj" fmla="val 8000"/>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67771969" name="TextBox 9"/>
          <p:cNvSpPr txBox="1"/>
          <p:nvPr/>
        </p:nvSpPr>
        <p:spPr bwMode="auto">
          <a:xfrm>
            <a:off x="8293607" y="5705856"/>
            <a:ext cx="2880360" cy="228600"/>
          </a:xfrm>
          <a:prstGeom prst="rect">
            <a:avLst/>
          </a:prstGeom>
          <a:noFill/>
        </p:spPr>
        <p:txBody>
          <a:bodyPr wrap="none" lIns="45720" rIns="45720" anchor="t">
            <a:spAutoFit/>
          </a:bodyPr>
          <a:lstStyle/>
          <a:p>
            <a:pPr algn="ctr">
              <a:lnSpc>
                <a:spcPct val="100000"/>
              </a:lnSpc>
              <a:defRPr/>
            </a:pPr>
            <a:r>
              <a:rPr sz="950" b="1">
                <a:solidFill>
                  <a:srgbClr val="121F34"/>
                </a:solidFill>
                <a:latin typeface="Aptos"/>
              </a:rPr>
              <a:t>SECURE • HTML được encode</a:t>
            </a:r>
            <a:endParaRPr/>
          </a:p>
        </p:txBody>
      </p:sp>
      <p:sp>
        <p:nvSpPr>
          <p:cNvPr id="310356512" name="TextBox 10"/>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2025223355" name="TextBox 11"/>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Thanh Bình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457671036"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03 • STORED XSS</a:t>
            </a:r>
            <a:endParaRPr/>
          </a:p>
        </p:txBody>
      </p:sp>
      <p:sp>
        <p:nvSpPr>
          <p:cNvPr id="496984411"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2.4  Minh chứng Chrome DevTools — Cookie &amp; Console</a:t>
            </a:r>
            <a:endParaRPr/>
          </a:p>
        </p:txBody>
      </p:sp>
      <p:sp>
        <p:nvSpPr>
          <p:cNvPr id="1500072189"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6013985"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11</a:t>
            </a:r>
            <a:endParaRPr/>
          </a:p>
        </p:txBody>
      </p:sp>
      <p:pic>
        <p:nvPicPr>
          <p:cNvPr id="454352580" name="Picture 5" descr="s11_4.png"/>
          <p:cNvPicPr>
            <a:picLocks noChangeAspect="1"/>
          </p:cNvPicPr>
          <p:nvPr/>
        </p:nvPicPr>
        <p:blipFill rotWithShape="1">
          <a:blip r:embed="rId3"/>
          <a:stretch/>
        </p:blipFill>
        <p:spPr bwMode="auto">
          <a:xfrm>
            <a:off x="594360" y="1234440"/>
            <a:ext cx="10972800" cy="4297680"/>
          </a:xfrm>
          <a:prstGeom prst="rect">
            <a:avLst/>
          </a:prstGeom>
        </p:spPr>
      </p:pic>
      <p:sp>
        <p:nvSpPr>
          <p:cNvPr id="1551453127" name="Rounded Rectangle 6"/>
          <p:cNvSpPr/>
          <p:nvPr/>
        </p:nvSpPr>
        <p:spPr bwMode="auto">
          <a:xfrm>
            <a:off x="868680" y="5623560"/>
            <a:ext cx="6309360" cy="393192"/>
          </a:xfrm>
          <a:prstGeom prst="roundRect">
            <a:avLst>
              <a:gd name="adj" fmla="val 8000"/>
            </a:avLst>
          </a:prstGeom>
          <a:solidFill>
            <a:srgbClr val="EFF5FC"/>
          </a:solidFill>
          <a:ln>
            <a:solidFill>
              <a:srgbClr val="F1B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113467" name="TextBox 7"/>
          <p:cNvSpPr txBox="1"/>
          <p:nvPr/>
        </p:nvSpPr>
        <p:spPr bwMode="auto">
          <a:xfrm>
            <a:off x="987552" y="5705856"/>
            <a:ext cx="6080760" cy="201168"/>
          </a:xfrm>
          <a:prstGeom prst="rect">
            <a:avLst/>
          </a:prstGeom>
          <a:noFill/>
        </p:spPr>
        <p:txBody>
          <a:bodyPr wrap="none" lIns="45720" rIns="45720" anchor="t">
            <a:spAutoFit/>
          </a:bodyPr>
          <a:lstStyle/>
          <a:p>
            <a:pPr algn="ctr">
              <a:lnSpc>
                <a:spcPct val="100000"/>
              </a:lnSpc>
              <a:defRPr/>
            </a:pPr>
            <a:r>
              <a:rPr sz="950" b="1">
                <a:solidFill>
                  <a:srgbClr val="121F34"/>
                </a:solidFill>
                <a:latin typeface="Aptos"/>
              </a:rPr>
              <a:t>LAB ONLY: nhánh Vulnerable cấu hình HttpOnly = false để minh họa JS đọc Cookie</a:t>
            </a:r>
            <a:endParaRPr/>
          </a:p>
        </p:txBody>
      </p:sp>
      <p:sp>
        <p:nvSpPr>
          <p:cNvPr id="648529949" name="TextBox 8"/>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741576160" name="TextBox 9"/>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Thanh Bình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62204455"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03 • STORED XSS</a:t>
            </a:r>
            <a:endParaRPr/>
          </a:p>
        </p:txBody>
      </p:sp>
      <p:sp>
        <p:nvSpPr>
          <p:cNvPr id="819127766"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2.5  Cơ chế phòng thủ chuẩn trong ASP.NET Core</a:t>
            </a:r>
            <a:endParaRPr/>
          </a:p>
        </p:txBody>
      </p:sp>
      <p:sp>
        <p:nvSpPr>
          <p:cNvPr id="388394794"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1725033"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12</a:t>
            </a:r>
            <a:endParaRPr/>
          </a:p>
        </p:txBody>
      </p:sp>
      <p:sp>
        <p:nvSpPr>
          <p:cNvPr id="1158726514" name="Rounded Rectangle 5"/>
          <p:cNvSpPr/>
          <p:nvPr/>
        </p:nvSpPr>
        <p:spPr bwMode="auto">
          <a:xfrm>
            <a:off x="594360" y="1325880"/>
            <a:ext cx="5257800" cy="2834640"/>
          </a:xfrm>
          <a:prstGeom prst="roundRect">
            <a:avLst>
              <a:gd name="adj" fmla="val 8000"/>
            </a:avLst>
          </a:prstGeom>
          <a:solidFill>
            <a:srgbClr val="EFF4F9"/>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34176966" name="TextBox 6"/>
          <p:cNvSpPr txBox="1"/>
          <p:nvPr/>
        </p:nvSpPr>
        <p:spPr bwMode="auto">
          <a:xfrm>
            <a:off x="758952" y="1453895"/>
            <a:ext cx="4937760" cy="274320"/>
          </a:xfrm>
          <a:prstGeom prst="rect">
            <a:avLst/>
          </a:prstGeom>
          <a:noFill/>
        </p:spPr>
        <p:txBody>
          <a:bodyPr wrap="none" lIns="45720" rIns="45720" anchor="t">
            <a:spAutoFit/>
          </a:bodyPr>
          <a:lstStyle/>
          <a:p>
            <a:pPr algn="l">
              <a:lnSpc>
                <a:spcPct val="100000"/>
              </a:lnSpc>
              <a:defRPr/>
            </a:pPr>
            <a:r>
              <a:rPr sz="1000" b="1">
                <a:solidFill>
                  <a:srgbClr val="39C480"/>
                </a:solidFill>
                <a:latin typeface="Aptos"/>
              </a:rPr>
              <a:t>SECURE • OUTPUT ENCODING</a:t>
            </a:r>
            <a:endParaRPr/>
          </a:p>
        </p:txBody>
      </p:sp>
      <p:sp>
        <p:nvSpPr>
          <p:cNvPr id="2118672175" name="TextBox 7"/>
          <p:cNvSpPr txBox="1"/>
          <p:nvPr/>
        </p:nvSpPr>
        <p:spPr bwMode="auto">
          <a:xfrm>
            <a:off x="758952" y="1764792"/>
            <a:ext cx="4937760" cy="2304288"/>
          </a:xfrm>
          <a:prstGeom prst="rect">
            <a:avLst/>
          </a:prstGeom>
          <a:noFill/>
        </p:spPr>
        <p:txBody>
          <a:bodyPr wrap="none" lIns="18288" tIns="18288" rIns="18288" bIns="18288" anchor="t">
            <a:spAutoFit/>
          </a:bodyPr>
          <a:lstStyle/>
          <a:p>
            <a:pPr algn="l">
              <a:lnSpc>
                <a:spcPct val="95000"/>
              </a:lnSpc>
              <a:defRPr/>
            </a:pPr>
            <a:r>
              <a:rPr sz="1100" b="0">
                <a:solidFill>
                  <a:srgbClr val="121F34"/>
                </a:solidFill>
                <a:latin typeface="Cascadia Mono"/>
              </a:rPr>
              <a:t>// Razor mặc định</a:t>
            </a:r>
            <a:br>
              <a:rPr sz="1100" b="0">
                <a:solidFill>
                  <a:srgbClr val="121F34"/>
                </a:solidFill>
                <a:latin typeface="Cascadia Mono"/>
              </a:rPr>
            </a:br>
            <a:r>
              <a:rPr sz="1100" b="0">
                <a:solidFill>
                  <a:srgbClr val="121F34"/>
                </a:solidFill>
                <a:latin typeface="Cascadia Mono"/>
              </a:rPr>
              <a:t>&lt;p&gt;@comment.Content&lt;/p&gt;</a:t>
            </a:r>
            <a:br>
              <a:rPr sz="1100" b="0">
                <a:solidFill>
                  <a:srgbClr val="121F34"/>
                </a:solidFill>
                <a:latin typeface="Cascadia Mono"/>
              </a:rPr>
            </a:br>
            <a:br>
              <a:rPr sz="1100" b="0">
                <a:solidFill>
                  <a:srgbClr val="121F34"/>
                </a:solidFill>
                <a:latin typeface="Cascadia Mono"/>
              </a:rPr>
            </a:br>
            <a:r>
              <a:rPr sz="1100" b="0">
                <a:solidFill>
                  <a:srgbClr val="121F34"/>
                </a:solidFill>
                <a:latin typeface="Cascadia Mono"/>
              </a:rPr>
              <a:t>// Hoặc encode tại Controller</a:t>
            </a:r>
            <a:br>
              <a:rPr sz="1100" b="0">
                <a:solidFill>
                  <a:srgbClr val="121F34"/>
                </a:solidFill>
                <a:latin typeface="Cascadia Mono"/>
              </a:rPr>
            </a:br>
            <a:r>
              <a:rPr sz="1100" b="0">
                <a:solidFill>
                  <a:srgbClr val="121F34"/>
                </a:solidFill>
                <a:latin typeface="Cascadia Mono"/>
              </a:rPr>
              <a:t>string encoded =</a:t>
            </a:r>
            <a:br>
              <a:rPr sz="1100" b="0">
                <a:solidFill>
                  <a:srgbClr val="121F34"/>
                </a:solidFill>
                <a:latin typeface="Cascadia Mono"/>
              </a:rPr>
            </a:br>
            <a:r>
              <a:rPr sz="1100" b="0">
                <a:solidFill>
                  <a:srgbClr val="121F34"/>
                </a:solidFill>
                <a:latin typeface="Cascadia Mono"/>
              </a:rPr>
              <a:t>    HtmlEncoder.Default.Encode(content);</a:t>
            </a:r>
            <a:endParaRPr/>
          </a:p>
        </p:txBody>
      </p:sp>
      <p:sp>
        <p:nvSpPr>
          <p:cNvPr id="374810990" name="Rounded Rectangle 8"/>
          <p:cNvSpPr/>
          <p:nvPr/>
        </p:nvSpPr>
        <p:spPr bwMode="auto">
          <a:xfrm>
            <a:off x="6080760" y="1325880"/>
            <a:ext cx="5440680" cy="14173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92451018" name="Rectangle 9"/>
          <p:cNvSpPr/>
          <p:nvPr/>
        </p:nvSpPr>
        <p:spPr bwMode="auto">
          <a:xfrm>
            <a:off x="6080760" y="1325880"/>
            <a:ext cx="54864" cy="1417320"/>
          </a:xfrm>
          <a:prstGeom prst="rect">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8897690" name="TextBox 10"/>
          <p:cNvSpPr txBox="1"/>
          <p:nvPr/>
        </p:nvSpPr>
        <p:spPr bwMode="auto">
          <a:xfrm>
            <a:off x="6281928" y="1490472"/>
            <a:ext cx="5074920" cy="320040"/>
          </a:xfrm>
          <a:prstGeom prst="rect">
            <a:avLst/>
          </a:prstGeom>
          <a:noFill/>
        </p:spPr>
        <p:txBody>
          <a:bodyPr wrap="none" lIns="45720" rIns="45720" anchor="t">
            <a:spAutoFit/>
          </a:bodyPr>
          <a:lstStyle/>
          <a:p>
            <a:pPr algn="l">
              <a:lnSpc>
                <a:spcPct val="100000"/>
              </a:lnSpc>
              <a:defRPr/>
            </a:pPr>
            <a:r>
              <a:rPr sz="1500" b="1">
                <a:solidFill>
                  <a:srgbClr val="39C480"/>
                </a:solidFill>
                <a:latin typeface="Aptos"/>
              </a:rPr>
              <a:t>✓  COOKIE AN TOÀN — PRODUCTION</a:t>
            </a:r>
            <a:endParaRPr/>
          </a:p>
        </p:txBody>
      </p:sp>
      <p:sp>
        <p:nvSpPr>
          <p:cNvPr id="1278211969" name="TextBox 11"/>
          <p:cNvSpPr txBox="1"/>
          <p:nvPr/>
        </p:nvSpPr>
        <p:spPr bwMode="auto">
          <a:xfrm>
            <a:off x="6281928" y="1901952"/>
            <a:ext cx="5074920" cy="70408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HttpOnly = true</a:t>
            </a:r>
            <a:br>
              <a:rPr sz="1250" b="0">
                <a:solidFill>
                  <a:srgbClr val="121F34"/>
                </a:solidFill>
                <a:latin typeface="Aptos"/>
              </a:rPr>
            </a:br>
            <a:r>
              <a:rPr sz="1250" b="0">
                <a:solidFill>
                  <a:srgbClr val="121F34"/>
                </a:solidFill>
                <a:latin typeface="Aptos"/>
              </a:rPr>
              <a:t>Secure = true</a:t>
            </a:r>
            <a:br>
              <a:rPr sz="1250" b="0">
                <a:solidFill>
                  <a:srgbClr val="121F34"/>
                </a:solidFill>
                <a:latin typeface="Aptos"/>
              </a:rPr>
            </a:br>
            <a:r>
              <a:rPr sz="1250" b="0">
                <a:solidFill>
                  <a:srgbClr val="121F34"/>
                </a:solidFill>
                <a:latin typeface="Aptos"/>
              </a:rPr>
              <a:t>SameSite = Strict</a:t>
            </a:r>
            <a:endParaRPr/>
          </a:p>
        </p:txBody>
      </p:sp>
      <p:sp>
        <p:nvSpPr>
          <p:cNvPr id="1974329158" name="Rounded Rectangle 12"/>
          <p:cNvSpPr/>
          <p:nvPr/>
        </p:nvSpPr>
        <p:spPr bwMode="auto">
          <a:xfrm>
            <a:off x="6080760" y="2926080"/>
            <a:ext cx="5440680" cy="14173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6470571" name="Rectangle 13"/>
          <p:cNvSpPr/>
          <p:nvPr/>
        </p:nvSpPr>
        <p:spPr bwMode="auto">
          <a:xfrm>
            <a:off x="6080760" y="2926080"/>
            <a:ext cx="54864" cy="1417320"/>
          </a:xfrm>
          <a:prstGeom prst="rect">
            <a:avLst/>
          </a:prstGeom>
          <a:solidFill>
            <a:srgbClr val="4191FF"/>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23199433" name="TextBox 14"/>
          <p:cNvSpPr txBox="1"/>
          <p:nvPr/>
        </p:nvSpPr>
        <p:spPr bwMode="auto">
          <a:xfrm>
            <a:off x="6281928" y="3090672"/>
            <a:ext cx="5074920" cy="320040"/>
          </a:xfrm>
          <a:prstGeom prst="rect">
            <a:avLst/>
          </a:prstGeom>
          <a:noFill/>
        </p:spPr>
        <p:txBody>
          <a:bodyPr wrap="none" lIns="45720" rIns="45720" anchor="t">
            <a:spAutoFit/>
          </a:bodyPr>
          <a:lstStyle/>
          <a:p>
            <a:pPr algn="l">
              <a:lnSpc>
                <a:spcPct val="100000"/>
              </a:lnSpc>
              <a:defRPr/>
            </a:pPr>
            <a:r>
              <a:rPr sz="1500" b="1">
                <a:solidFill>
                  <a:srgbClr val="4191FF"/>
                </a:solidFill>
                <a:latin typeface="Aptos"/>
              </a:rPr>
              <a:t>✓  CSP</a:t>
            </a:r>
            <a:endParaRPr/>
          </a:p>
        </p:txBody>
      </p:sp>
      <p:sp>
        <p:nvSpPr>
          <p:cNvPr id="1553145594" name="TextBox 15"/>
          <p:cNvSpPr txBox="1"/>
          <p:nvPr/>
        </p:nvSpPr>
        <p:spPr bwMode="auto">
          <a:xfrm>
            <a:off x="6281928" y="3502152"/>
            <a:ext cx="5074920" cy="70408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Content-Security-Policy với script-src 'self' tạo thêm lớp kiểm soát script.</a:t>
            </a:r>
            <a:endParaRPr/>
          </a:p>
        </p:txBody>
      </p:sp>
      <p:sp>
        <p:nvSpPr>
          <p:cNvPr id="15886524" name="Rounded Rectangle 16"/>
          <p:cNvSpPr/>
          <p:nvPr/>
        </p:nvSpPr>
        <p:spPr bwMode="auto">
          <a:xfrm>
            <a:off x="6080760" y="4526280"/>
            <a:ext cx="5440680" cy="14173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7343684" name="Rectangle 17"/>
          <p:cNvSpPr/>
          <p:nvPr/>
        </p:nvSpPr>
        <p:spPr bwMode="auto">
          <a:xfrm>
            <a:off x="6080760" y="4526280"/>
            <a:ext cx="54864" cy="1417320"/>
          </a:xfrm>
          <a:prstGeom prst="rect">
            <a:avLst/>
          </a:prstGeom>
          <a:solidFill>
            <a:srgbClr val="F1BE48"/>
          </a:solidFill>
          <a:ln>
            <a:solidFill>
              <a:srgbClr val="F1B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3234478" name="TextBox 18"/>
          <p:cNvSpPr txBox="1"/>
          <p:nvPr/>
        </p:nvSpPr>
        <p:spPr bwMode="auto">
          <a:xfrm>
            <a:off x="6281928" y="4690872"/>
            <a:ext cx="5074920" cy="320040"/>
          </a:xfrm>
          <a:prstGeom prst="rect">
            <a:avLst/>
          </a:prstGeom>
          <a:noFill/>
        </p:spPr>
        <p:txBody>
          <a:bodyPr wrap="none" lIns="45720" rIns="45720" anchor="t">
            <a:spAutoFit/>
          </a:bodyPr>
          <a:lstStyle/>
          <a:p>
            <a:pPr algn="l">
              <a:lnSpc>
                <a:spcPct val="100000"/>
              </a:lnSpc>
              <a:defRPr/>
            </a:pPr>
            <a:r>
              <a:rPr sz="1500" b="1">
                <a:solidFill>
                  <a:srgbClr val="F1BE48"/>
                </a:solidFill>
                <a:latin typeface="Aptos"/>
              </a:rPr>
              <a:t>✓  NGUYÊN TẮC</a:t>
            </a:r>
            <a:endParaRPr/>
          </a:p>
        </p:txBody>
      </p:sp>
      <p:sp>
        <p:nvSpPr>
          <p:cNvPr id="1616513014" name="TextBox 19"/>
          <p:cNvSpPr txBox="1"/>
          <p:nvPr/>
        </p:nvSpPr>
        <p:spPr bwMode="auto">
          <a:xfrm flipH="0" flipV="0">
            <a:off x="6281928" y="5102352"/>
            <a:ext cx="5240231" cy="472799"/>
          </a:xfrm>
          <a:prstGeom prst="rect">
            <a:avLst/>
          </a:prstGeom>
          <a:noFill/>
        </p:spPr>
        <p:txBody>
          <a:bodyPr wrap="square" lIns="45720" rIns="45720" anchor="t">
            <a:spAutoFit/>
          </a:bodyPr>
          <a:lstStyle/>
          <a:p>
            <a:pPr algn="l">
              <a:lnSpc>
                <a:spcPct val="100000"/>
              </a:lnSpc>
              <a:defRPr/>
            </a:pPr>
            <a:r>
              <a:rPr sz="1250" b="0">
                <a:solidFill>
                  <a:srgbClr val="121F34"/>
                </a:solidFill>
                <a:latin typeface="Aptos"/>
              </a:rPr>
              <a:t>Ký tự &lt; và &gt; được encode → trình duyệt hiển thị văn bản, không thực thi script.</a:t>
            </a:r>
            <a:endParaRPr/>
          </a:p>
        </p:txBody>
      </p:sp>
      <p:sp>
        <p:nvSpPr>
          <p:cNvPr id="2147276029" name="TextBox 20"/>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131633320" name="TextBox 21"/>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Thanh Bình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214133109"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04 • CSRF ATTACK</a:t>
            </a:r>
            <a:endParaRPr/>
          </a:p>
        </p:txBody>
      </p:sp>
      <p:sp>
        <p:nvSpPr>
          <p:cNvPr id="1459643220"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3.1  Cơ chế mượn quyền &amp; phân loại OWASP</a:t>
            </a:r>
            <a:endParaRPr/>
          </a:p>
        </p:txBody>
      </p:sp>
      <p:sp>
        <p:nvSpPr>
          <p:cNvPr id="1606645758"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7516009"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13</a:t>
            </a:r>
            <a:endParaRPr/>
          </a:p>
        </p:txBody>
      </p:sp>
      <p:sp>
        <p:nvSpPr>
          <p:cNvPr id="891079798" name="Rounded Rectangle 5"/>
          <p:cNvSpPr/>
          <p:nvPr/>
        </p:nvSpPr>
        <p:spPr bwMode="auto">
          <a:xfrm>
            <a:off x="594360" y="1417320"/>
            <a:ext cx="2423160" cy="621792"/>
          </a:xfrm>
          <a:prstGeom prst="roundRect">
            <a:avLst>
              <a:gd name="adj" fmla="val 8000"/>
            </a:avLst>
          </a:prstGeom>
          <a:solidFill>
            <a:srgbClr val="EFF5FC"/>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8949823" name="TextBox 6"/>
          <p:cNvSpPr txBox="1"/>
          <p:nvPr/>
        </p:nvSpPr>
        <p:spPr bwMode="auto">
          <a:xfrm>
            <a:off x="667512" y="1490472"/>
            <a:ext cx="227685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Victim logged in</a:t>
            </a:r>
            <a:br>
              <a:rPr sz="1150" b="1">
                <a:solidFill>
                  <a:srgbClr val="121F34"/>
                </a:solidFill>
                <a:latin typeface="Aptos"/>
              </a:rPr>
            </a:br>
            <a:r>
              <a:rPr sz="1150" b="1">
                <a:solidFill>
                  <a:srgbClr val="121F34"/>
                </a:solidFill>
                <a:latin typeface="Aptos"/>
              </a:rPr>
              <a:t>Cookie hợp lệ</a:t>
            </a:r>
            <a:endParaRPr/>
          </a:p>
        </p:txBody>
      </p:sp>
      <p:cxnSp>
        <p:nvCxnSpPr>
          <p:cNvPr id="2006823572" name="Connector 7"/>
          <p:cNvCxnSpPr/>
          <p:nvPr/>
        </p:nvCxnSpPr>
        <p:spPr bwMode="auto">
          <a:xfrm>
            <a:off x="3035808" y="1728216"/>
            <a:ext cx="384048" cy="0"/>
          </a:xfrm>
          <a:prstGeom prst="line">
            <a:avLst/>
          </a:prstGeom>
          <a:ln w="27940">
            <a:solidFill>
              <a:srgbClr val="4191FF"/>
            </a:solidFill>
          </a:ln>
        </p:spPr>
        <p:style>
          <a:lnRef idx="2">
            <a:schemeClr val="accent1"/>
          </a:lnRef>
          <a:fillRef idx="0">
            <a:schemeClr val="accent1"/>
          </a:fillRef>
          <a:effectRef idx="1">
            <a:schemeClr val="accent1"/>
          </a:effectRef>
          <a:fontRef idx="minor">
            <a:schemeClr val="tx1"/>
          </a:fontRef>
        </p:style>
      </p:cxnSp>
      <p:sp>
        <p:nvSpPr>
          <p:cNvPr id="529840609" name="Rounded Rectangle 8"/>
          <p:cNvSpPr/>
          <p:nvPr/>
        </p:nvSpPr>
        <p:spPr bwMode="auto">
          <a:xfrm>
            <a:off x="3493008" y="1417320"/>
            <a:ext cx="2423160" cy="621792"/>
          </a:xfrm>
          <a:prstGeom prst="roundRect">
            <a:avLst>
              <a:gd name="adj" fmla="val 8000"/>
            </a:avLst>
          </a:prstGeom>
          <a:solidFill>
            <a:srgbClr val="EFF5FC"/>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2639514" name="TextBox 9"/>
          <p:cNvSpPr txBox="1"/>
          <p:nvPr/>
        </p:nvSpPr>
        <p:spPr bwMode="auto">
          <a:xfrm>
            <a:off x="3566160" y="1490472"/>
            <a:ext cx="227685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Attacker Site</a:t>
            </a:r>
            <a:br>
              <a:rPr sz="1150" b="1">
                <a:solidFill>
                  <a:srgbClr val="121F34"/>
                </a:solidFill>
                <a:latin typeface="Aptos"/>
              </a:rPr>
            </a:br>
            <a:r>
              <a:rPr sz="1150" b="1">
                <a:solidFill>
                  <a:srgbClr val="121F34"/>
                </a:solidFill>
                <a:latin typeface="Aptos"/>
              </a:rPr>
              <a:t>POST ngầm</a:t>
            </a:r>
            <a:endParaRPr/>
          </a:p>
        </p:txBody>
      </p:sp>
      <p:cxnSp>
        <p:nvCxnSpPr>
          <p:cNvPr id="1116122877" name="Connector 10"/>
          <p:cNvCxnSpPr/>
          <p:nvPr/>
        </p:nvCxnSpPr>
        <p:spPr bwMode="auto">
          <a:xfrm>
            <a:off x="5934456" y="1728216"/>
            <a:ext cx="384048" cy="0"/>
          </a:xfrm>
          <a:prstGeom prst="line">
            <a:avLst/>
          </a:prstGeom>
          <a:ln w="27940">
            <a:solidFill>
              <a:srgbClr val="4191FF"/>
            </a:solidFill>
          </a:ln>
        </p:spPr>
        <p:style>
          <a:lnRef idx="2">
            <a:schemeClr val="accent1"/>
          </a:lnRef>
          <a:fillRef idx="0">
            <a:schemeClr val="accent1"/>
          </a:fillRef>
          <a:effectRef idx="1">
            <a:schemeClr val="accent1"/>
          </a:effectRef>
          <a:fontRef idx="minor">
            <a:schemeClr val="tx1"/>
          </a:fontRef>
        </p:style>
      </p:cxnSp>
      <p:sp>
        <p:nvSpPr>
          <p:cNvPr id="1506184421" name="Rounded Rectangle 11"/>
          <p:cNvSpPr/>
          <p:nvPr/>
        </p:nvSpPr>
        <p:spPr bwMode="auto">
          <a:xfrm>
            <a:off x="6391656" y="1417320"/>
            <a:ext cx="2423160" cy="621792"/>
          </a:xfrm>
          <a:prstGeom prst="roundRect">
            <a:avLst>
              <a:gd name="adj" fmla="val 8000"/>
            </a:avLst>
          </a:prstGeom>
          <a:solidFill>
            <a:srgbClr val="EFF5FC"/>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64004097" name="TextBox 12"/>
          <p:cNvSpPr txBox="1"/>
          <p:nvPr/>
        </p:nvSpPr>
        <p:spPr bwMode="auto">
          <a:xfrm>
            <a:off x="6464808" y="1490472"/>
            <a:ext cx="227685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Target Server</a:t>
            </a:r>
            <a:br>
              <a:rPr sz="1150" b="1">
                <a:solidFill>
                  <a:srgbClr val="121F34"/>
                </a:solidFill>
                <a:latin typeface="Aptos"/>
              </a:rPr>
            </a:br>
            <a:r>
              <a:rPr sz="1150" b="1">
                <a:solidFill>
                  <a:srgbClr val="121F34"/>
                </a:solidFill>
                <a:latin typeface="Aptos"/>
              </a:rPr>
              <a:t>Nhận Cookie</a:t>
            </a:r>
            <a:endParaRPr/>
          </a:p>
        </p:txBody>
      </p:sp>
      <p:cxnSp>
        <p:nvCxnSpPr>
          <p:cNvPr id="203705073" name="Connector 13"/>
          <p:cNvCxnSpPr/>
          <p:nvPr/>
        </p:nvCxnSpPr>
        <p:spPr bwMode="auto">
          <a:xfrm>
            <a:off x="8833104" y="1728216"/>
            <a:ext cx="384048" cy="0"/>
          </a:xfrm>
          <a:prstGeom prst="line">
            <a:avLst/>
          </a:prstGeom>
          <a:ln w="27940">
            <a:solidFill>
              <a:srgbClr val="4191FF"/>
            </a:solidFill>
          </a:ln>
        </p:spPr>
        <p:style>
          <a:lnRef idx="2">
            <a:schemeClr val="accent1"/>
          </a:lnRef>
          <a:fillRef idx="0">
            <a:schemeClr val="accent1"/>
          </a:fillRef>
          <a:effectRef idx="1">
            <a:schemeClr val="accent1"/>
          </a:effectRef>
          <a:fontRef idx="minor">
            <a:schemeClr val="tx1"/>
          </a:fontRef>
        </p:style>
      </p:cxnSp>
      <p:sp>
        <p:nvSpPr>
          <p:cNvPr id="594936842" name="Rounded Rectangle 14"/>
          <p:cNvSpPr/>
          <p:nvPr/>
        </p:nvSpPr>
        <p:spPr bwMode="auto">
          <a:xfrm>
            <a:off x="9290304" y="1417320"/>
            <a:ext cx="2423160" cy="621792"/>
          </a:xfrm>
          <a:prstGeom prst="roundRect">
            <a:avLst>
              <a:gd name="adj" fmla="val 8000"/>
            </a:avLst>
          </a:prstGeom>
          <a:solidFill>
            <a:srgbClr val="EFF5FC"/>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3677552" name="TextBox 15"/>
          <p:cNvSpPr txBox="1"/>
          <p:nvPr/>
        </p:nvSpPr>
        <p:spPr bwMode="auto">
          <a:xfrm>
            <a:off x="9363456" y="1490472"/>
            <a:ext cx="2276856" cy="457200"/>
          </a:xfrm>
          <a:prstGeom prst="rect">
            <a:avLst/>
          </a:prstGeom>
          <a:noFill/>
        </p:spPr>
        <p:txBody>
          <a:bodyPr wrap="none" lIns="45720" rIns="45720" anchor="ctr">
            <a:spAutoFit/>
          </a:bodyPr>
          <a:lstStyle/>
          <a:p>
            <a:pPr algn="ctr">
              <a:lnSpc>
                <a:spcPct val="100000"/>
              </a:lnSpc>
              <a:defRPr/>
            </a:pPr>
            <a:r>
              <a:rPr sz="1150" b="1">
                <a:solidFill>
                  <a:srgbClr val="121F34"/>
                </a:solidFill>
                <a:latin typeface="Aptos"/>
              </a:rPr>
              <a:t>Unauthorized</a:t>
            </a:r>
            <a:br>
              <a:rPr sz="1150" b="1">
                <a:solidFill>
                  <a:srgbClr val="121F34"/>
                </a:solidFill>
                <a:latin typeface="Aptos"/>
              </a:rPr>
            </a:br>
            <a:r>
              <a:rPr sz="1150" b="1">
                <a:solidFill>
                  <a:srgbClr val="121F34"/>
                </a:solidFill>
                <a:latin typeface="Aptos"/>
              </a:rPr>
              <a:t>Transfer 20M</a:t>
            </a:r>
            <a:endParaRPr/>
          </a:p>
        </p:txBody>
      </p:sp>
      <p:sp>
        <p:nvSpPr>
          <p:cNvPr id="1600095811" name="Rounded Rectangle 16"/>
          <p:cNvSpPr/>
          <p:nvPr/>
        </p:nvSpPr>
        <p:spPr bwMode="auto">
          <a:xfrm>
            <a:off x="594360" y="2468880"/>
            <a:ext cx="5212080" cy="141732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35201966" name="Rectangle 17"/>
          <p:cNvSpPr/>
          <p:nvPr/>
        </p:nvSpPr>
        <p:spPr bwMode="auto">
          <a:xfrm>
            <a:off x="594360" y="2468880"/>
            <a:ext cx="54864" cy="1417320"/>
          </a:xfrm>
          <a:prstGeom prst="rect">
            <a:avLst/>
          </a:prstGeom>
          <a:solidFill>
            <a:srgbClr val="4191FF"/>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36384231" name="TextBox 18"/>
          <p:cNvSpPr txBox="1"/>
          <p:nvPr/>
        </p:nvSpPr>
        <p:spPr bwMode="auto">
          <a:xfrm>
            <a:off x="795528" y="2633472"/>
            <a:ext cx="4846320" cy="320040"/>
          </a:xfrm>
          <a:prstGeom prst="rect">
            <a:avLst/>
          </a:prstGeom>
          <a:noFill/>
        </p:spPr>
        <p:txBody>
          <a:bodyPr wrap="none" lIns="45720" rIns="45720" anchor="t">
            <a:spAutoFit/>
          </a:bodyPr>
          <a:lstStyle/>
          <a:p>
            <a:pPr algn="l">
              <a:lnSpc>
                <a:spcPct val="100000"/>
              </a:lnSpc>
              <a:defRPr/>
            </a:pPr>
            <a:r>
              <a:rPr sz="1500" b="1">
                <a:solidFill>
                  <a:srgbClr val="4191FF"/>
                </a:solidFill>
                <a:latin typeface="Aptos"/>
              </a:rPr>
              <a:t>i  PHÂN LOẠI OWASP</a:t>
            </a:r>
            <a:endParaRPr/>
          </a:p>
        </p:txBody>
      </p:sp>
      <p:sp>
        <p:nvSpPr>
          <p:cNvPr id="152460553" name="TextBox 19"/>
          <p:cNvSpPr txBox="1"/>
          <p:nvPr/>
        </p:nvSpPr>
        <p:spPr bwMode="auto">
          <a:xfrm flipH="0" flipV="0">
            <a:off x="795528" y="3044952"/>
            <a:ext cx="5011631" cy="663300"/>
          </a:xfrm>
          <a:prstGeom prst="rect">
            <a:avLst/>
          </a:prstGeom>
          <a:noFill/>
        </p:spPr>
        <p:txBody>
          <a:bodyPr wrap="square" lIns="45720" rIns="45720" anchor="t">
            <a:spAutoFit/>
          </a:bodyPr>
          <a:lstStyle/>
          <a:p>
            <a:pPr algn="l">
              <a:lnSpc>
                <a:spcPct val="100000"/>
              </a:lnSpc>
              <a:defRPr/>
            </a:pPr>
            <a:r>
              <a:rPr sz="1250" b="0">
                <a:solidFill>
                  <a:srgbClr val="121F34"/>
                </a:solidFill>
                <a:latin typeface="Aptos"/>
              </a:rPr>
              <a:t>CSRF không phải mục độc lập trong OWASP Top 10 2021; tài liệu hiện tại liên hệ nó với A01:2021 – Broken Access Control và cơ chế bảo toàn yêu cầu phiên.</a:t>
            </a:r>
            <a:endParaRPr/>
          </a:p>
        </p:txBody>
      </p:sp>
      <p:sp>
        <p:nvSpPr>
          <p:cNvPr id="626264135" name="Rounded Rectangle 20"/>
          <p:cNvSpPr/>
          <p:nvPr/>
        </p:nvSpPr>
        <p:spPr bwMode="auto">
          <a:xfrm>
            <a:off x="5989320" y="2468880"/>
            <a:ext cx="5486400" cy="2560320"/>
          </a:xfrm>
          <a:prstGeom prst="roundRect">
            <a:avLst>
              <a:gd name="adj" fmla="val 8000"/>
            </a:avLst>
          </a:prstGeom>
          <a:solidFill>
            <a:srgbClr val="EFF4F9"/>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40027566" name="TextBox 21"/>
          <p:cNvSpPr txBox="1"/>
          <p:nvPr/>
        </p:nvSpPr>
        <p:spPr bwMode="auto">
          <a:xfrm>
            <a:off x="6153912" y="2596896"/>
            <a:ext cx="5166360" cy="274320"/>
          </a:xfrm>
          <a:prstGeom prst="rect">
            <a:avLst/>
          </a:prstGeom>
          <a:noFill/>
        </p:spPr>
        <p:txBody>
          <a:bodyPr wrap="none" lIns="45720" rIns="45720" anchor="t">
            <a:spAutoFit/>
          </a:bodyPr>
          <a:lstStyle/>
          <a:p>
            <a:pPr algn="l">
              <a:lnSpc>
                <a:spcPct val="100000"/>
              </a:lnSpc>
              <a:defRPr/>
            </a:pPr>
            <a:r>
              <a:rPr sz="1000" b="1">
                <a:solidFill>
                  <a:srgbClr val="EF5B5B"/>
                </a:solidFill>
                <a:latin typeface="Aptos"/>
              </a:rPr>
              <a:t>VULNERABLE • ACTION THIẾU TOKEN</a:t>
            </a:r>
            <a:endParaRPr/>
          </a:p>
        </p:txBody>
      </p:sp>
      <p:sp>
        <p:nvSpPr>
          <p:cNvPr id="1791024471" name="TextBox 22"/>
          <p:cNvSpPr txBox="1"/>
          <p:nvPr/>
        </p:nvSpPr>
        <p:spPr bwMode="auto">
          <a:xfrm>
            <a:off x="6153912" y="2907792"/>
            <a:ext cx="5166360" cy="2029967"/>
          </a:xfrm>
          <a:prstGeom prst="rect">
            <a:avLst/>
          </a:prstGeom>
          <a:noFill/>
        </p:spPr>
        <p:txBody>
          <a:bodyPr wrap="none" lIns="18288" tIns="18288" rIns="18288" bIns="18288" anchor="t">
            <a:spAutoFit/>
          </a:bodyPr>
          <a:lstStyle/>
          <a:p>
            <a:pPr algn="l">
              <a:lnSpc>
                <a:spcPct val="95000"/>
              </a:lnSpc>
              <a:defRPr/>
            </a:pPr>
            <a:r>
              <a:rPr sz="1100" b="0">
                <a:solidFill>
                  <a:srgbClr val="121F34"/>
                </a:solidFill>
                <a:latin typeface="Cascadia Mono"/>
              </a:rPr>
              <a:t>[HttpPost]</a:t>
            </a:r>
            <a:br>
              <a:rPr sz="1100" b="0">
                <a:solidFill>
                  <a:srgbClr val="121F34"/>
                </a:solidFill>
                <a:latin typeface="Cascadia Mono"/>
              </a:rPr>
            </a:br>
            <a:r>
              <a:rPr sz="1100" b="0">
                <a:solidFill>
                  <a:srgbClr val="121F34"/>
                </a:solidFill>
                <a:latin typeface="Cascadia Mono"/>
              </a:rPr>
              <a:t>public IActionResult TransferVulnerable(decimal amount)</a:t>
            </a:r>
            <a:br>
              <a:rPr sz="1100" b="0">
                <a:solidFill>
                  <a:srgbClr val="121F34"/>
                </a:solidFill>
                <a:latin typeface="Cascadia Mono"/>
              </a:rPr>
            </a:br>
            <a:r>
              <a:rPr sz="1100" b="0">
                <a:solidFill>
                  <a:srgbClr val="121F34"/>
                </a:solidFill>
                <a:latin typeface="Cascadia Mono"/>
              </a:rPr>
              <a:t>{</a:t>
            </a:r>
            <a:br>
              <a:rPr sz="1100" b="0">
                <a:solidFill>
                  <a:srgbClr val="121F34"/>
                </a:solidFill>
                <a:latin typeface="Cascadia Mono"/>
              </a:rPr>
            </a:br>
            <a:r>
              <a:rPr sz="1100" b="0">
                <a:solidFill>
                  <a:srgbClr val="121F34"/>
                </a:solidFill>
                <a:latin typeface="Cascadia Mono"/>
              </a:rPr>
              <a:t>    var victim = _context.Wallets.Find(1);</a:t>
            </a:r>
            <a:br>
              <a:rPr sz="1100" b="0">
                <a:solidFill>
                  <a:srgbClr val="121F34"/>
                </a:solidFill>
                <a:latin typeface="Cascadia Mono"/>
              </a:rPr>
            </a:br>
            <a:r>
              <a:rPr sz="1100" b="0">
                <a:solidFill>
                  <a:srgbClr val="121F34"/>
                </a:solidFill>
                <a:latin typeface="Cascadia Mono"/>
              </a:rPr>
              <a:t>    var hacker = _context.Wallets.Find(2);</a:t>
            </a:r>
            <a:br>
              <a:rPr sz="1100" b="0">
                <a:solidFill>
                  <a:srgbClr val="121F34"/>
                </a:solidFill>
                <a:latin typeface="Cascadia Mono"/>
              </a:rPr>
            </a:br>
            <a:r>
              <a:rPr sz="1100" b="0">
                <a:solidFill>
                  <a:srgbClr val="121F34"/>
                </a:solidFill>
                <a:latin typeface="Cascadia Mono"/>
              </a:rPr>
              <a:t>    victim.Balance -= amount;</a:t>
            </a:r>
            <a:br>
              <a:rPr sz="1100" b="0">
                <a:solidFill>
                  <a:srgbClr val="121F34"/>
                </a:solidFill>
                <a:latin typeface="Cascadia Mono"/>
              </a:rPr>
            </a:br>
            <a:r>
              <a:rPr sz="1100" b="0">
                <a:solidFill>
                  <a:srgbClr val="121F34"/>
                </a:solidFill>
                <a:latin typeface="Cascadia Mono"/>
              </a:rPr>
              <a:t>    hacker.Balance += amount;</a:t>
            </a:r>
            <a:br>
              <a:rPr sz="1100" b="0">
                <a:solidFill>
                  <a:srgbClr val="121F34"/>
                </a:solidFill>
                <a:latin typeface="Cascadia Mono"/>
              </a:rPr>
            </a:br>
            <a:r>
              <a:rPr sz="1100" b="0">
                <a:solidFill>
                  <a:srgbClr val="121F34"/>
                </a:solidFill>
                <a:latin typeface="Cascadia Mono"/>
              </a:rPr>
              <a:t>    _context.SaveChanges();</a:t>
            </a:r>
            <a:br>
              <a:rPr sz="1100" b="0">
                <a:solidFill>
                  <a:srgbClr val="121F34"/>
                </a:solidFill>
                <a:latin typeface="Cascadia Mono"/>
              </a:rPr>
            </a:br>
            <a:r>
              <a:rPr sz="1100" b="0">
                <a:solidFill>
                  <a:srgbClr val="121F34"/>
                </a:solidFill>
                <a:latin typeface="Cascadia Mono"/>
              </a:rPr>
              <a:t>}</a:t>
            </a:r>
            <a:endParaRPr/>
          </a:p>
        </p:txBody>
      </p:sp>
      <p:sp>
        <p:nvSpPr>
          <p:cNvPr id="1452296437" name="TextBox 23"/>
          <p:cNvSpPr txBox="1"/>
          <p:nvPr/>
        </p:nvSpPr>
        <p:spPr bwMode="auto">
          <a:xfrm>
            <a:off x="594360" y="5120640"/>
            <a:ext cx="10789920" cy="731520"/>
          </a:xfrm>
          <a:prstGeom prst="rect">
            <a:avLst/>
          </a:prstGeom>
          <a:noFill/>
        </p:spPr>
        <p:txBody>
          <a:bodyPr wrap="none" lIns="45720" rIns="45720" anchor="t">
            <a:spAutoFit/>
          </a:bodyPr>
          <a:lstStyle/>
          <a:p>
            <a:pPr algn="l">
              <a:lnSpc>
                <a:spcPct val="100000"/>
              </a:lnSpc>
              <a:defRPr/>
            </a:pPr>
            <a:r>
              <a:rPr sz="1300" b="1">
                <a:solidFill>
                  <a:srgbClr val="F1BE48"/>
                </a:solidFill>
                <a:latin typeface="Aptos"/>
              </a:rPr>
              <a:t>Điểm mù: thiếu [ValidateAntiForgeryToken] → server chỉ thấy Cookie hợp lệ và thực hiện giao dịch.</a:t>
            </a:r>
            <a:endParaRPr/>
          </a:p>
        </p:txBody>
      </p:sp>
      <p:sp>
        <p:nvSpPr>
          <p:cNvPr id="1123460497" name="TextBox 24"/>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1691137688" name="TextBox 25"/>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Minh Cường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425925532"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04 • CSRF ATTACK</a:t>
            </a:r>
            <a:endParaRPr/>
          </a:p>
        </p:txBody>
      </p:sp>
      <p:sp>
        <p:nvSpPr>
          <p:cNvPr id="211375734"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3.2  Kịch bản khai thác qua biểu mẫu ẩn</a:t>
            </a:r>
            <a:endParaRPr/>
          </a:p>
        </p:txBody>
      </p:sp>
      <p:sp>
        <p:nvSpPr>
          <p:cNvPr id="516935641"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6496249"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14</a:t>
            </a:r>
            <a:endParaRPr/>
          </a:p>
        </p:txBody>
      </p:sp>
      <p:sp>
        <p:nvSpPr>
          <p:cNvPr id="349551964" name="Rounded Rectangle 5"/>
          <p:cNvSpPr/>
          <p:nvPr/>
        </p:nvSpPr>
        <p:spPr bwMode="auto">
          <a:xfrm>
            <a:off x="594360" y="1234440"/>
            <a:ext cx="5212080" cy="448056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30445724" name="Rectangle 6"/>
          <p:cNvSpPr/>
          <p:nvPr/>
        </p:nvSpPr>
        <p:spPr bwMode="auto">
          <a:xfrm>
            <a:off x="594360" y="1234440"/>
            <a:ext cx="54864" cy="4480560"/>
          </a:xfrm>
          <a:prstGeom prst="rect">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5926584" name="TextBox 7"/>
          <p:cNvSpPr txBox="1"/>
          <p:nvPr/>
        </p:nvSpPr>
        <p:spPr bwMode="auto">
          <a:xfrm>
            <a:off x="795528" y="1399032"/>
            <a:ext cx="4846320" cy="320040"/>
          </a:xfrm>
          <a:prstGeom prst="rect">
            <a:avLst/>
          </a:prstGeom>
          <a:noFill/>
        </p:spPr>
        <p:txBody>
          <a:bodyPr wrap="none" lIns="45720" rIns="45720" anchor="t">
            <a:spAutoFit/>
          </a:bodyPr>
          <a:lstStyle/>
          <a:p>
            <a:pPr algn="l">
              <a:lnSpc>
                <a:spcPct val="100000"/>
              </a:lnSpc>
              <a:defRPr/>
            </a:pPr>
            <a:r>
              <a:rPr sz="1500" b="1">
                <a:solidFill>
                  <a:srgbClr val="EF5B5B"/>
                </a:solidFill>
                <a:latin typeface="Aptos"/>
              </a:rPr>
              <a:t>!  KỊCH BẢN</a:t>
            </a:r>
            <a:endParaRPr/>
          </a:p>
        </p:txBody>
      </p:sp>
      <p:sp>
        <p:nvSpPr>
          <p:cNvPr id="470524476" name="TextBox 8"/>
          <p:cNvSpPr txBox="1"/>
          <p:nvPr/>
        </p:nvSpPr>
        <p:spPr bwMode="auto">
          <a:xfrm>
            <a:off x="795528" y="1810512"/>
            <a:ext cx="4846320" cy="376732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1. Nạn nhân đang có phiên làm việc.</a:t>
            </a:r>
            <a:br>
              <a:rPr sz="1250" b="0">
                <a:solidFill>
                  <a:srgbClr val="121F34"/>
                </a:solidFill>
                <a:latin typeface="Aptos"/>
              </a:rPr>
            </a:br>
            <a:br>
              <a:rPr sz="1250" b="0">
                <a:solidFill>
                  <a:srgbClr val="121F34"/>
                </a:solidFill>
                <a:latin typeface="Aptos"/>
              </a:rPr>
            </a:br>
            <a:r>
              <a:rPr sz="1250" b="0">
                <a:solidFill>
                  <a:srgbClr val="121F34"/>
                </a:solidFill>
                <a:latin typeface="Aptos"/>
              </a:rPr>
              <a:t>2. Nạn nhân mở AttackerSite.cshtml ở tab khác.</a:t>
            </a:r>
            <a:br>
              <a:rPr sz="1250" b="0">
                <a:solidFill>
                  <a:srgbClr val="121F34"/>
                </a:solidFill>
                <a:latin typeface="Aptos"/>
              </a:rPr>
            </a:br>
            <a:br>
              <a:rPr sz="1250" b="0">
                <a:solidFill>
                  <a:srgbClr val="121F34"/>
                </a:solidFill>
                <a:latin typeface="Aptos"/>
              </a:rPr>
            </a:br>
            <a:r>
              <a:rPr sz="1250" b="0">
                <a:solidFill>
                  <a:srgbClr val="121F34"/>
                </a:solidFill>
                <a:latin typeface="Aptos"/>
              </a:rPr>
              <a:t>3. Trang độc hại tự động gửi POST tới endpoint chuyển tiền.</a:t>
            </a:r>
            <a:br>
              <a:rPr sz="1250" b="0">
                <a:solidFill>
                  <a:srgbClr val="121F34"/>
                </a:solidFill>
                <a:latin typeface="Aptos"/>
              </a:rPr>
            </a:br>
            <a:br>
              <a:rPr sz="1250" b="0">
                <a:solidFill>
                  <a:srgbClr val="121F34"/>
                </a:solidFill>
                <a:latin typeface="Aptos"/>
              </a:rPr>
            </a:br>
            <a:r>
              <a:rPr sz="1250" b="0">
                <a:solidFill>
                  <a:srgbClr val="121F34"/>
                </a:solidFill>
                <a:latin typeface="Aptos"/>
              </a:rPr>
              <a:t>4. Server nhận Cookie và thực thi giao dịch.</a:t>
            </a:r>
            <a:endParaRPr/>
          </a:p>
        </p:txBody>
      </p:sp>
      <p:sp>
        <p:nvSpPr>
          <p:cNvPr id="1705641359" name="Rounded Rectangle 9"/>
          <p:cNvSpPr/>
          <p:nvPr/>
        </p:nvSpPr>
        <p:spPr bwMode="auto">
          <a:xfrm>
            <a:off x="5989320" y="1234440"/>
            <a:ext cx="5486400" cy="4480560"/>
          </a:xfrm>
          <a:prstGeom prst="roundRect">
            <a:avLst>
              <a:gd name="adj" fmla="val 8000"/>
            </a:avLst>
          </a:prstGeom>
          <a:solidFill>
            <a:srgbClr val="EFF4F9"/>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2245871" name="TextBox 10"/>
          <p:cNvSpPr txBox="1"/>
          <p:nvPr/>
        </p:nvSpPr>
        <p:spPr bwMode="auto">
          <a:xfrm>
            <a:off x="6153912" y="1362455"/>
            <a:ext cx="5166360" cy="274320"/>
          </a:xfrm>
          <a:prstGeom prst="rect">
            <a:avLst/>
          </a:prstGeom>
          <a:noFill/>
        </p:spPr>
        <p:txBody>
          <a:bodyPr wrap="none" lIns="45720" rIns="45720" anchor="t">
            <a:spAutoFit/>
          </a:bodyPr>
          <a:lstStyle/>
          <a:p>
            <a:pPr algn="l">
              <a:lnSpc>
                <a:spcPct val="100000"/>
              </a:lnSpc>
              <a:defRPr/>
            </a:pPr>
            <a:r>
              <a:rPr sz="1000" b="1">
                <a:solidFill>
                  <a:srgbClr val="EF5B5B"/>
                </a:solidFill>
                <a:latin typeface="Aptos"/>
              </a:rPr>
              <a:t>HIDDEN FORM • LAB</a:t>
            </a:r>
            <a:endParaRPr/>
          </a:p>
        </p:txBody>
      </p:sp>
      <p:sp>
        <p:nvSpPr>
          <p:cNvPr id="1992868548" name="TextBox 11"/>
          <p:cNvSpPr txBox="1"/>
          <p:nvPr/>
        </p:nvSpPr>
        <p:spPr bwMode="auto">
          <a:xfrm>
            <a:off x="6153912" y="1673352"/>
            <a:ext cx="5166360" cy="3950208"/>
          </a:xfrm>
          <a:prstGeom prst="rect">
            <a:avLst/>
          </a:prstGeom>
          <a:noFill/>
        </p:spPr>
        <p:txBody>
          <a:bodyPr wrap="none" lIns="18288" tIns="18288" rIns="18288" bIns="18288" anchor="t">
            <a:spAutoFit/>
          </a:bodyPr>
          <a:lstStyle/>
          <a:p>
            <a:pPr algn="l">
              <a:lnSpc>
                <a:spcPct val="95000"/>
              </a:lnSpc>
              <a:defRPr/>
            </a:pPr>
            <a:r>
              <a:rPr sz="1100" b="0">
                <a:solidFill>
                  <a:srgbClr val="121F34"/>
                </a:solidFill>
                <a:latin typeface="Cascadia Mono"/>
              </a:rPr>
              <a:t>&lt;form id="exploit"</a:t>
            </a:r>
            <a:br>
              <a:rPr sz="1100" b="0">
                <a:solidFill>
                  <a:srgbClr val="121F34"/>
                </a:solidFill>
                <a:latin typeface="Cascadia Mono"/>
              </a:rPr>
            </a:br>
            <a:r>
              <a:rPr sz="1100" b="0">
                <a:solidFill>
                  <a:srgbClr val="121F34"/>
                </a:solidFill>
                <a:latin typeface="Cascadia Mono"/>
              </a:rPr>
              <a:t> action="http://localhost:5076/Csrf/TransferVulnerable"</a:t>
            </a:r>
            <a:br>
              <a:rPr sz="1100" b="0">
                <a:solidFill>
                  <a:srgbClr val="121F34"/>
                </a:solidFill>
                <a:latin typeface="Cascadia Mono"/>
              </a:rPr>
            </a:br>
            <a:r>
              <a:rPr sz="1100" b="0">
                <a:solidFill>
                  <a:srgbClr val="121F34"/>
                </a:solidFill>
                <a:latin typeface="Cascadia Mono"/>
              </a:rPr>
              <a:t> method="POST"&gt;</a:t>
            </a:r>
            <a:br>
              <a:rPr sz="1100" b="0">
                <a:solidFill>
                  <a:srgbClr val="121F34"/>
                </a:solidFill>
                <a:latin typeface="Cascadia Mono"/>
              </a:rPr>
            </a:br>
            <a:r>
              <a:rPr sz="1100" b="0">
                <a:solidFill>
                  <a:srgbClr val="121F34"/>
                </a:solidFill>
                <a:latin typeface="Cascadia Mono"/>
              </a:rPr>
              <a:t>  &lt;input type="hidden"</a:t>
            </a:r>
            <a:br>
              <a:rPr sz="1100" b="0">
                <a:solidFill>
                  <a:srgbClr val="121F34"/>
                </a:solidFill>
                <a:latin typeface="Cascadia Mono"/>
              </a:rPr>
            </a:br>
            <a:r>
              <a:rPr sz="1100" b="0">
                <a:solidFill>
                  <a:srgbClr val="121F34"/>
                </a:solidFill>
                <a:latin typeface="Cascadia Mono"/>
              </a:rPr>
              <a:t>         name="amount"</a:t>
            </a:r>
            <a:br>
              <a:rPr sz="1100" b="0">
                <a:solidFill>
                  <a:srgbClr val="121F34"/>
                </a:solidFill>
                <a:latin typeface="Cascadia Mono"/>
              </a:rPr>
            </a:br>
            <a:r>
              <a:rPr sz="1100" b="0">
                <a:solidFill>
                  <a:srgbClr val="121F34"/>
                </a:solidFill>
                <a:latin typeface="Cascadia Mono"/>
              </a:rPr>
              <a:t>         value="20000000" /&gt;</a:t>
            </a:r>
            <a:br>
              <a:rPr sz="1100" b="0">
                <a:solidFill>
                  <a:srgbClr val="121F34"/>
                </a:solidFill>
                <a:latin typeface="Cascadia Mono"/>
              </a:rPr>
            </a:br>
            <a:r>
              <a:rPr sz="1100" b="0">
                <a:solidFill>
                  <a:srgbClr val="121F34"/>
                </a:solidFill>
                <a:latin typeface="Cascadia Mono"/>
              </a:rPr>
              <a:t>&lt;/form&gt;</a:t>
            </a:r>
            <a:br>
              <a:rPr sz="1100" b="0">
                <a:solidFill>
                  <a:srgbClr val="121F34"/>
                </a:solidFill>
                <a:latin typeface="Cascadia Mono"/>
              </a:rPr>
            </a:br>
            <a:br>
              <a:rPr sz="1100" b="0">
                <a:solidFill>
                  <a:srgbClr val="121F34"/>
                </a:solidFill>
                <a:latin typeface="Cascadia Mono"/>
              </a:rPr>
            </a:br>
            <a:r>
              <a:rPr sz="1100" b="0">
                <a:solidFill>
                  <a:srgbClr val="121F34"/>
                </a:solidFill>
                <a:latin typeface="Cascadia Mono"/>
              </a:rPr>
              <a:t>&lt;script&gt;</a:t>
            </a:r>
            <a:br>
              <a:rPr sz="1100" b="0">
                <a:solidFill>
                  <a:srgbClr val="121F34"/>
                </a:solidFill>
                <a:latin typeface="Cascadia Mono"/>
              </a:rPr>
            </a:br>
            <a:r>
              <a:rPr sz="1100" b="0">
                <a:solidFill>
                  <a:srgbClr val="121F34"/>
                </a:solidFill>
                <a:latin typeface="Cascadia Mono"/>
              </a:rPr>
              <a:t>  document.getElementById('exploit')</a:t>
            </a:r>
            <a:br>
              <a:rPr sz="1100" b="0">
                <a:solidFill>
                  <a:srgbClr val="121F34"/>
                </a:solidFill>
                <a:latin typeface="Cascadia Mono"/>
              </a:rPr>
            </a:br>
            <a:r>
              <a:rPr sz="1100" b="0">
                <a:solidFill>
                  <a:srgbClr val="121F34"/>
                </a:solidFill>
                <a:latin typeface="Cascadia Mono"/>
              </a:rPr>
              <a:t>          .submit();</a:t>
            </a:r>
            <a:br>
              <a:rPr sz="1100" b="0">
                <a:solidFill>
                  <a:srgbClr val="121F34"/>
                </a:solidFill>
                <a:latin typeface="Cascadia Mono"/>
              </a:rPr>
            </a:br>
            <a:r>
              <a:rPr sz="1100" b="0">
                <a:solidFill>
                  <a:srgbClr val="121F34"/>
                </a:solidFill>
                <a:latin typeface="Cascadia Mono"/>
              </a:rPr>
              <a:t>&lt;/script&gt;</a:t>
            </a:r>
            <a:endParaRPr/>
          </a:p>
        </p:txBody>
      </p:sp>
      <p:sp>
        <p:nvSpPr>
          <p:cNvPr id="190254415" name="TextBox 12"/>
          <p:cNvSpPr txBox="1"/>
          <p:nvPr/>
        </p:nvSpPr>
        <p:spPr bwMode="auto">
          <a:xfrm>
            <a:off x="594360" y="5879592"/>
            <a:ext cx="10835640" cy="320040"/>
          </a:xfrm>
          <a:prstGeom prst="rect">
            <a:avLst/>
          </a:prstGeom>
          <a:noFill/>
        </p:spPr>
        <p:txBody>
          <a:bodyPr wrap="none" lIns="45720" rIns="45720" anchor="t">
            <a:spAutoFit/>
          </a:bodyPr>
          <a:lstStyle/>
          <a:p>
            <a:pPr algn="l">
              <a:lnSpc>
                <a:spcPct val="100000"/>
              </a:lnSpc>
              <a:defRPr/>
            </a:pPr>
            <a:r>
              <a:rPr sz="1150" b="1">
                <a:solidFill>
                  <a:srgbClr val="121F34"/>
                </a:solidFill>
                <a:latin typeface="Aptos"/>
              </a:rPr>
              <a:t>Hậu quả thực nghiệm: thay đổi số dư ví mà không cần thao tác chủ động của người dùng.</a:t>
            </a:r>
            <a:endParaRPr/>
          </a:p>
        </p:txBody>
      </p:sp>
      <p:sp>
        <p:nvSpPr>
          <p:cNvPr id="1492331705" name="TextBox 13"/>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135683211" name="TextBox 14"/>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Minh Cường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0502751"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04 • CSRF ATTACK</a:t>
            </a:r>
            <a:endParaRPr/>
          </a:p>
        </p:txBody>
      </p:sp>
      <p:sp>
        <p:nvSpPr>
          <p:cNvPr id="1556693392"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3.3  Minh chứng thực nghiệm — Web UI</a:t>
            </a:r>
            <a:endParaRPr/>
          </a:p>
        </p:txBody>
      </p:sp>
      <p:sp>
        <p:nvSpPr>
          <p:cNvPr id="993994602"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6464025"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15</a:t>
            </a:r>
            <a:endParaRPr/>
          </a:p>
        </p:txBody>
      </p:sp>
      <p:pic>
        <p:nvPicPr>
          <p:cNvPr id="731786605" name="Picture 5" descr="s15_4.png"/>
          <p:cNvPicPr>
            <a:picLocks noChangeAspect="1"/>
          </p:cNvPicPr>
          <p:nvPr/>
        </p:nvPicPr>
        <p:blipFill rotWithShape="1">
          <a:blip r:embed="rId3"/>
          <a:stretch/>
        </p:blipFill>
        <p:spPr bwMode="auto">
          <a:xfrm>
            <a:off x="594360" y="1234440"/>
            <a:ext cx="10972800" cy="4297680"/>
          </a:xfrm>
          <a:prstGeom prst="rect">
            <a:avLst/>
          </a:prstGeom>
        </p:spPr>
      </p:pic>
      <p:sp>
        <p:nvSpPr>
          <p:cNvPr id="90481940" name="Rounded Rectangle 6"/>
          <p:cNvSpPr/>
          <p:nvPr/>
        </p:nvSpPr>
        <p:spPr bwMode="auto">
          <a:xfrm>
            <a:off x="731520" y="5623560"/>
            <a:ext cx="3246120" cy="438912"/>
          </a:xfrm>
          <a:prstGeom prst="roundRect">
            <a:avLst>
              <a:gd name="adj" fmla="val 8000"/>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37215800" name="TextBox 7"/>
          <p:cNvSpPr txBox="1"/>
          <p:nvPr/>
        </p:nvSpPr>
        <p:spPr bwMode="auto">
          <a:xfrm>
            <a:off x="841248" y="5705856"/>
            <a:ext cx="3017519" cy="228600"/>
          </a:xfrm>
          <a:prstGeom prst="rect">
            <a:avLst/>
          </a:prstGeom>
          <a:noFill/>
        </p:spPr>
        <p:txBody>
          <a:bodyPr wrap="none" lIns="45720" rIns="45720" anchor="t">
            <a:spAutoFit/>
          </a:bodyPr>
          <a:lstStyle/>
          <a:p>
            <a:pPr algn="ctr">
              <a:lnSpc>
                <a:spcPct val="100000"/>
              </a:lnSpc>
              <a:defRPr/>
            </a:pPr>
            <a:r>
              <a:rPr sz="950" b="1">
                <a:solidFill>
                  <a:srgbClr val="121F34"/>
                </a:solidFill>
                <a:latin typeface="Aptos"/>
              </a:rPr>
              <a:t>VULNERABLE • 20.000.000 VNĐ</a:t>
            </a:r>
            <a:endParaRPr/>
          </a:p>
        </p:txBody>
      </p:sp>
      <p:sp>
        <p:nvSpPr>
          <p:cNvPr id="2068639696" name="Rounded Rectangle 8"/>
          <p:cNvSpPr/>
          <p:nvPr/>
        </p:nvSpPr>
        <p:spPr bwMode="auto">
          <a:xfrm>
            <a:off x="8138160" y="5623560"/>
            <a:ext cx="3246120" cy="438912"/>
          </a:xfrm>
          <a:prstGeom prst="roundRect">
            <a:avLst>
              <a:gd name="adj" fmla="val 8000"/>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7206885" name="TextBox 9"/>
          <p:cNvSpPr txBox="1"/>
          <p:nvPr/>
        </p:nvSpPr>
        <p:spPr bwMode="auto">
          <a:xfrm>
            <a:off x="8247888" y="5705856"/>
            <a:ext cx="3017519" cy="228600"/>
          </a:xfrm>
          <a:prstGeom prst="rect">
            <a:avLst/>
          </a:prstGeom>
          <a:noFill/>
        </p:spPr>
        <p:txBody>
          <a:bodyPr wrap="none" lIns="45720" rIns="45720" anchor="t">
            <a:spAutoFit/>
          </a:bodyPr>
          <a:lstStyle/>
          <a:p>
            <a:pPr algn="ctr">
              <a:lnSpc>
                <a:spcPct val="100000"/>
              </a:lnSpc>
              <a:defRPr/>
            </a:pPr>
            <a:r>
              <a:rPr sz="950" b="1">
                <a:solidFill>
                  <a:srgbClr val="121F34"/>
                </a:solidFill>
                <a:latin typeface="Aptos"/>
              </a:rPr>
              <a:t>SECURE • thiếu Token → bị chặn</a:t>
            </a:r>
            <a:endParaRPr/>
          </a:p>
        </p:txBody>
      </p:sp>
      <p:sp>
        <p:nvSpPr>
          <p:cNvPr id="335613304" name="TextBox 10"/>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250391192" name="TextBox 11"/>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Minh Cường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631057738"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04 • CSRF ATTACK</a:t>
            </a:r>
            <a:endParaRPr/>
          </a:p>
        </p:txBody>
      </p:sp>
      <p:sp>
        <p:nvSpPr>
          <p:cNvPr id="1956910321"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3.4  Minh chứng gói tin mạng — Headers</a:t>
            </a:r>
            <a:endParaRPr/>
          </a:p>
        </p:txBody>
      </p:sp>
      <p:sp>
        <p:nvSpPr>
          <p:cNvPr id="1345463906"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60884365"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16</a:t>
            </a:r>
            <a:endParaRPr/>
          </a:p>
        </p:txBody>
      </p:sp>
      <p:pic>
        <p:nvPicPr>
          <p:cNvPr id="1534424555" name="Picture 5" descr="s16_4.png"/>
          <p:cNvPicPr>
            <a:picLocks noChangeAspect="1"/>
          </p:cNvPicPr>
          <p:nvPr/>
        </p:nvPicPr>
        <p:blipFill rotWithShape="1">
          <a:blip r:embed="rId3"/>
          <a:stretch/>
        </p:blipFill>
        <p:spPr bwMode="auto">
          <a:xfrm>
            <a:off x="594360" y="1234440"/>
            <a:ext cx="10972800" cy="4297680"/>
          </a:xfrm>
          <a:prstGeom prst="rect">
            <a:avLst/>
          </a:prstGeom>
        </p:spPr>
      </p:pic>
      <p:sp>
        <p:nvSpPr>
          <p:cNvPr id="2120249703" name="Rounded Rectangle 6"/>
          <p:cNvSpPr/>
          <p:nvPr/>
        </p:nvSpPr>
        <p:spPr bwMode="auto">
          <a:xfrm>
            <a:off x="777240" y="5623560"/>
            <a:ext cx="7315200" cy="411480"/>
          </a:xfrm>
          <a:prstGeom prst="roundRect">
            <a:avLst>
              <a:gd name="adj" fmla="val 8000"/>
            </a:avLst>
          </a:prstGeom>
          <a:solidFill>
            <a:srgbClr val="EFF5FC"/>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4629534" name="TextBox 7"/>
          <p:cNvSpPr txBox="1"/>
          <p:nvPr/>
        </p:nvSpPr>
        <p:spPr bwMode="auto">
          <a:xfrm>
            <a:off x="941832" y="5705856"/>
            <a:ext cx="6995160" cy="201168"/>
          </a:xfrm>
          <a:prstGeom prst="rect">
            <a:avLst/>
          </a:prstGeom>
          <a:noFill/>
        </p:spPr>
        <p:txBody>
          <a:bodyPr wrap="none" lIns="45720" rIns="45720" anchor="t">
            <a:spAutoFit/>
          </a:bodyPr>
          <a:lstStyle/>
          <a:p>
            <a:pPr algn="ctr">
              <a:lnSpc>
                <a:spcPct val="100000"/>
              </a:lnSpc>
              <a:defRPr/>
            </a:pPr>
            <a:r>
              <a:rPr sz="1000" b="1">
                <a:solidFill>
                  <a:srgbClr val="121F34"/>
                </a:solidFill>
                <a:latin typeface="Aptos"/>
              </a:rPr>
              <a:t>HTTP POST: Cookie được đính kèm tự động  •  Anti-Forgery Token: ABSENT</a:t>
            </a:r>
            <a:endParaRPr/>
          </a:p>
        </p:txBody>
      </p:sp>
      <p:sp>
        <p:nvSpPr>
          <p:cNvPr id="137520263" name="TextBox 8"/>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1213336978" name="TextBox 9"/>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Minh Cường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2071164368"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04 • CSRF ATTACK</a:t>
            </a:r>
            <a:endParaRPr/>
          </a:p>
        </p:txBody>
      </p:sp>
      <p:sp>
        <p:nvSpPr>
          <p:cNvPr id="1527944936"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3.5  Cơ chế phòng thủ bằng Anti-Forgery Token</a:t>
            </a:r>
            <a:endParaRPr/>
          </a:p>
        </p:txBody>
      </p:sp>
      <p:sp>
        <p:nvSpPr>
          <p:cNvPr id="1906084731"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9769971"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17</a:t>
            </a:r>
            <a:endParaRPr/>
          </a:p>
        </p:txBody>
      </p:sp>
      <p:sp>
        <p:nvSpPr>
          <p:cNvPr id="1343371280" name="Rounded Rectangle 5"/>
          <p:cNvSpPr/>
          <p:nvPr/>
        </p:nvSpPr>
        <p:spPr bwMode="auto">
          <a:xfrm>
            <a:off x="594360" y="1280160"/>
            <a:ext cx="5257800" cy="3200400"/>
          </a:xfrm>
          <a:prstGeom prst="roundRect">
            <a:avLst>
              <a:gd name="adj" fmla="val 8000"/>
            </a:avLst>
          </a:prstGeom>
          <a:solidFill>
            <a:srgbClr val="EFF4F9"/>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019647" name="TextBox 6"/>
          <p:cNvSpPr txBox="1"/>
          <p:nvPr/>
        </p:nvSpPr>
        <p:spPr bwMode="auto">
          <a:xfrm>
            <a:off x="758952" y="1408176"/>
            <a:ext cx="4937760" cy="274320"/>
          </a:xfrm>
          <a:prstGeom prst="rect">
            <a:avLst/>
          </a:prstGeom>
          <a:noFill/>
        </p:spPr>
        <p:txBody>
          <a:bodyPr wrap="none" lIns="45720" rIns="45720" anchor="t">
            <a:spAutoFit/>
          </a:bodyPr>
          <a:lstStyle/>
          <a:p>
            <a:pPr algn="l">
              <a:lnSpc>
                <a:spcPct val="100000"/>
              </a:lnSpc>
              <a:defRPr/>
            </a:pPr>
            <a:r>
              <a:rPr sz="1000" b="1">
                <a:solidFill>
                  <a:srgbClr val="39C480"/>
                </a:solidFill>
                <a:latin typeface="Aptos"/>
              </a:rPr>
              <a:t>1 • RAZOR VIEW</a:t>
            </a:r>
            <a:endParaRPr/>
          </a:p>
        </p:txBody>
      </p:sp>
      <p:sp>
        <p:nvSpPr>
          <p:cNvPr id="2111050802" name="TextBox 7"/>
          <p:cNvSpPr txBox="1"/>
          <p:nvPr/>
        </p:nvSpPr>
        <p:spPr bwMode="auto">
          <a:xfrm>
            <a:off x="758952" y="1719072"/>
            <a:ext cx="4937760" cy="2670048"/>
          </a:xfrm>
          <a:prstGeom prst="rect">
            <a:avLst/>
          </a:prstGeom>
          <a:noFill/>
        </p:spPr>
        <p:txBody>
          <a:bodyPr wrap="none" lIns="18288" tIns="18288" rIns="18288" bIns="18288" anchor="t">
            <a:spAutoFit/>
          </a:bodyPr>
          <a:lstStyle/>
          <a:p>
            <a:pPr algn="l">
              <a:lnSpc>
                <a:spcPct val="95000"/>
              </a:lnSpc>
              <a:defRPr/>
            </a:pPr>
            <a:r>
              <a:rPr sz="1100" b="0">
                <a:solidFill>
                  <a:srgbClr val="121F34"/>
                </a:solidFill>
                <a:latin typeface="Cascadia Mono"/>
              </a:rPr>
              <a:t>&lt;form asp-action="TransferSecure"</a:t>
            </a:r>
            <a:br>
              <a:rPr sz="1100" b="0">
                <a:solidFill>
                  <a:srgbClr val="121F34"/>
                </a:solidFill>
                <a:latin typeface="Cascadia Mono"/>
              </a:rPr>
            </a:br>
            <a:r>
              <a:rPr sz="1100" b="0">
                <a:solidFill>
                  <a:srgbClr val="121F34"/>
                </a:solidFill>
                <a:latin typeface="Cascadia Mono"/>
              </a:rPr>
              <a:t>      method="post"&gt;</a:t>
            </a:r>
            <a:br>
              <a:rPr sz="1100" b="0">
                <a:solidFill>
                  <a:srgbClr val="121F34"/>
                </a:solidFill>
                <a:latin typeface="Cascadia Mono"/>
              </a:rPr>
            </a:br>
            <a:r>
              <a:rPr sz="1100" b="0">
                <a:solidFill>
                  <a:srgbClr val="121F34"/>
                </a:solidFill>
                <a:latin typeface="Cascadia Mono"/>
              </a:rPr>
              <a:t>    @Html.AntiForgeryToken()</a:t>
            </a:r>
            <a:br>
              <a:rPr sz="1100" b="0">
                <a:solidFill>
                  <a:srgbClr val="121F34"/>
                </a:solidFill>
                <a:latin typeface="Cascadia Mono"/>
              </a:rPr>
            </a:br>
            <a:r>
              <a:rPr sz="1100" b="0">
                <a:solidFill>
                  <a:srgbClr val="121F34"/>
                </a:solidFill>
                <a:latin typeface="Cascadia Mono"/>
              </a:rPr>
              <a:t>    &lt;input type="number" name="amount" /&gt;</a:t>
            </a:r>
            <a:br>
              <a:rPr sz="1100" b="0">
                <a:solidFill>
                  <a:srgbClr val="121F34"/>
                </a:solidFill>
                <a:latin typeface="Cascadia Mono"/>
              </a:rPr>
            </a:br>
            <a:r>
              <a:rPr sz="1100" b="0">
                <a:solidFill>
                  <a:srgbClr val="121F34"/>
                </a:solidFill>
                <a:latin typeface="Cascadia Mono"/>
              </a:rPr>
              <a:t>    &lt;button type="submit"&gt;Chuyển tiền&lt;/button&gt;</a:t>
            </a:r>
            <a:br>
              <a:rPr sz="1100" b="0">
                <a:solidFill>
                  <a:srgbClr val="121F34"/>
                </a:solidFill>
                <a:latin typeface="Cascadia Mono"/>
              </a:rPr>
            </a:br>
            <a:r>
              <a:rPr sz="1100" b="0">
                <a:solidFill>
                  <a:srgbClr val="121F34"/>
                </a:solidFill>
                <a:latin typeface="Cascadia Mono"/>
              </a:rPr>
              <a:t>&lt;/form&gt;</a:t>
            </a:r>
            <a:endParaRPr/>
          </a:p>
        </p:txBody>
      </p:sp>
      <p:sp>
        <p:nvSpPr>
          <p:cNvPr id="478649109" name="Rounded Rectangle 8"/>
          <p:cNvSpPr/>
          <p:nvPr/>
        </p:nvSpPr>
        <p:spPr bwMode="auto">
          <a:xfrm>
            <a:off x="6080760" y="1280160"/>
            <a:ext cx="5257800" cy="3200400"/>
          </a:xfrm>
          <a:prstGeom prst="roundRect">
            <a:avLst>
              <a:gd name="adj" fmla="val 8000"/>
            </a:avLst>
          </a:prstGeom>
          <a:solidFill>
            <a:srgbClr val="EFF4F9"/>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02662154" name="TextBox 9"/>
          <p:cNvSpPr txBox="1"/>
          <p:nvPr/>
        </p:nvSpPr>
        <p:spPr bwMode="auto">
          <a:xfrm>
            <a:off x="6245352" y="1408176"/>
            <a:ext cx="4937760" cy="274320"/>
          </a:xfrm>
          <a:prstGeom prst="rect">
            <a:avLst/>
          </a:prstGeom>
          <a:noFill/>
        </p:spPr>
        <p:txBody>
          <a:bodyPr wrap="none" lIns="45720" rIns="45720" anchor="t">
            <a:spAutoFit/>
          </a:bodyPr>
          <a:lstStyle/>
          <a:p>
            <a:pPr algn="l">
              <a:lnSpc>
                <a:spcPct val="100000"/>
              </a:lnSpc>
              <a:defRPr/>
            </a:pPr>
            <a:r>
              <a:rPr sz="1000" b="1">
                <a:solidFill>
                  <a:srgbClr val="39C480"/>
                </a:solidFill>
                <a:latin typeface="Aptos"/>
              </a:rPr>
              <a:t>2 • CONTROLLER</a:t>
            </a:r>
            <a:endParaRPr/>
          </a:p>
        </p:txBody>
      </p:sp>
      <p:sp>
        <p:nvSpPr>
          <p:cNvPr id="555870393" name="TextBox 10"/>
          <p:cNvSpPr txBox="1"/>
          <p:nvPr/>
        </p:nvSpPr>
        <p:spPr bwMode="auto">
          <a:xfrm>
            <a:off x="6245352" y="1719072"/>
            <a:ext cx="4937760" cy="2670048"/>
          </a:xfrm>
          <a:prstGeom prst="rect">
            <a:avLst/>
          </a:prstGeom>
          <a:noFill/>
        </p:spPr>
        <p:txBody>
          <a:bodyPr wrap="none" lIns="18288" tIns="18288" rIns="18288" bIns="18288" anchor="t">
            <a:spAutoFit/>
          </a:bodyPr>
          <a:lstStyle/>
          <a:p>
            <a:pPr algn="l">
              <a:lnSpc>
                <a:spcPct val="95000"/>
              </a:lnSpc>
              <a:defRPr/>
            </a:pPr>
            <a:r>
              <a:rPr sz="1100" b="0">
                <a:solidFill>
                  <a:srgbClr val="121F34"/>
                </a:solidFill>
                <a:latin typeface="Cascadia Mono"/>
              </a:rPr>
              <a:t>[HttpPost]</a:t>
            </a:r>
            <a:br>
              <a:rPr sz="1100" b="0">
                <a:solidFill>
                  <a:srgbClr val="121F34"/>
                </a:solidFill>
                <a:latin typeface="Cascadia Mono"/>
              </a:rPr>
            </a:br>
            <a:r>
              <a:rPr sz="1100" b="0">
                <a:solidFill>
                  <a:srgbClr val="121F34"/>
                </a:solidFill>
                <a:latin typeface="Cascadia Mono"/>
              </a:rPr>
              <a:t>[ValidateAntiForgeryToken]</a:t>
            </a:r>
            <a:br>
              <a:rPr sz="1100" b="0">
                <a:solidFill>
                  <a:srgbClr val="121F34"/>
                </a:solidFill>
                <a:latin typeface="Cascadia Mono"/>
              </a:rPr>
            </a:br>
            <a:r>
              <a:rPr sz="1100" b="0">
                <a:solidFill>
                  <a:srgbClr val="121F34"/>
                </a:solidFill>
                <a:latin typeface="Cascadia Mono"/>
              </a:rPr>
              <a:t>public IActionResult TransferSecure(</a:t>
            </a:r>
            <a:br>
              <a:rPr sz="1100" b="0">
                <a:solidFill>
                  <a:srgbClr val="121F34"/>
                </a:solidFill>
                <a:latin typeface="Cascadia Mono"/>
              </a:rPr>
            </a:br>
            <a:r>
              <a:rPr sz="1100" b="0">
                <a:solidFill>
                  <a:srgbClr val="121F34"/>
                </a:solidFill>
                <a:latin typeface="Cascadia Mono"/>
              </a:rPr>
              <a:t>    decimal amount)</a:t>
            </a:r>
            <a:br>
              <a:rPr sz="1100" b="0">
                <a:solidFill>
                  <a:srgbClr val="121F34"/>
                </a:solidFill>
                <a:latin typeface="Cascadia Mono"/>
              </a:rPr>
            </a:br>
            <a:r>
              <a:rPr sz="1100" b="0">
                <a:solidFill>
                  <a:srgbClr val="121F34"/>
                </a:solidFill>
                <a:latin typeface="Cascadia Mono"/>
              </a:rPr>
              <a:t>{</a:t>
            </a:r>
            <a:br>
              <a:rPr sz="1100" b="0">
                <a:solidFill>
                  <a:srgbClr val="121F34"/>
                </a:solidFill>
                <a:latin typeface="Cascadia Mono"/>
              </a:rPr>
            </a:br>
            <a:r>
              <a:rPr sz="1100" b="0">
                <a:solidFill>
                  <a:srgbClr val="121F34"/>
                </a:solidFill>
                <a:latin typeface="Cascadia Mono"/>
              </a:rPr>
              <a:t>    // Chỉ thực thi khi Token hợp lệ</a:t>
            </a:r>
            <a:br>
              <a:rPr sz="1100" b="0">
                <a:solidFill>
                  <a:srgbClr val="121F34"/>
                </a:solidFill>
                <a:latin typeface="Cascadia Mono"/>
              </a:rPr>
            </a:br>
            <a:r>
              <a:rPr sz="1100" b="0">
                <a:solidFill>
                  <a:srgbClr val="121F34"/>
                </a:solidFill>
                <a:latin typeface="Cascadia Mono"/>
              </a:rPr>
              <a:t>}</a:t>
            </a:r>
            <a:endParaRPr/>
          </a:p>
        </p:txBody>
      </p:sp>
      <p:sp>
        <p:nvSpPr>
          <p:cNvPr id="2128511072" name="Rounded Rectangle 11"/>
          <p:cNvSpPr/>
          <p:nvPr/>
        </p:nvSpPr>
        <p:spPr bwMode="auto">
          <a:xfrm>
            <a:off x="594360" y="4754880"/>
            <a:ext cx="5257800" cy="105156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99678567" name="Rectangle 12"/>
          <p:cNvSpPr/>
          <p:nvPr/>
        </p:nvSpPr>
        <p:spPr bwMode="auto">
          <a:xfrm>
            <a:off x="594360" y="4754880"/>
            <a:ext cx="54864" cy="1051560"/>
          </a:xfrm>
          <a:prstGeom prst="rect">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87417112" name="TextBox 13"/>
          <p:cNvSpPr txBox="1"/>
          <p:nvPr/>
        </p:nvSpPr>
        <p:spPr bwMode="auto">
          <a:xfrm>
            <a:off x="795528" y="4919471"/>
            <a:ext cx="4892039" cy="320040"/>
          </a:xfrm>
          <a:prstGeom prst="rect">
            <a:avLst/>
          </a:prstGeom>
          <a:noFill/>
        </p:spPr>
        <p:txBody>
          <a:bodyPr wrap="none" lIns="45720" rIns="45720" anchor="t">
            <a:spAutoFit/>
          </a:bodyPr>
          <a:lstStyle/>
          <a:p>
            <a:pPr algn="l">
              <a:lnSpc>
                <a:spcPct val="100000"/>
              </a:lnSpc>
              <a:defRPr/>
            </a:pPr>
            <a:r>
              <a:rPr sz="1500" b="1">
                <a:solidFill>
                  <a:srgbClr val="39C480"/>
                </a:solidFill>
                <a:latin typeface="Aptos"/>
              </a:rPr>
              <a:t>✓  CƠ CHẾ</a:t>
            </a:r>
            <a:endParaRPr/>
          </a:p>
        </p:txBody>
      </p:sp>
      <p:sp>
        <p:nvSpPr>
          <p:cNvPr id="638650807" name="TextBox 14"/>
          <p:cNvSpPr txBox="1"/>
          <p:nvPr/>
        </p:nvSpPr>
        <p:spPr bwMode="auto">
          <a:xfrm>
            <a:off x="795528" y="5330952"/>
            <a:ext cx="4892039" cy="338327"/>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Token từ form phải khớp token phía server; request thiếu token bị chặn.</a:t>
            </a:r>
            <a:endParaRPr/>
          </a:p>
        </p:txBody>
      </p:sp>
      <p:sp>
        <p:nvSpPr>
          <p:cNvPr id="530481221" name="Rounded Rectangle 15"/>
          <p:cNvSpPr/>
          <p:nvPr/>
        </p:nvSpPr>
        <p:spPr bwMode="auto">
          <a:xfrm>
            <a:off x="6080760" y="4754880"/>
            <a:ext cx="5257800" cy="105156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0580628" name="Rectangle 16"/>
          <p:cNvSpPr/>
          <p:nvPr/>
        </p:nvSpPr>
        <p:spPr bwMode="auto">
          <a:xfrm>
            <a:off x="6080760" y="4754880"/>
            <a:ext cx="54864" cy="1051560"/>
          </a:xfrm>
          <a:prstGeom prst="rect">
            <a:avLst/>
          </a:prstGeom>
          <a:solidFill>
            <a:srgbClr val="4191FF"/>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3262334" name="TextBox 17"/>
          <p:cNvSpPr txBox="1"/>
          <p:nvPr/>
        </p:nvSpPr>
        <p:spPr bwMode="auto">
          <a:xfrm>
            <a:off x="6281928" y="4919471"/>
            <a:ext cx="4892039" cy="320040"/>
          </a:xfrm>
          <a:prstGeom prst="rect">
            <a:avLst/>
          </a:prstGeom>
          <a:noFill/>
        </p:spPr>
        <p:txBody>
          <a:bodyPr wrap="none" lIns="45720" rIns="45720" anchor="t">
            <a:spAutoFit/>
          </a:bodyPr>
          <a:lstStyle/>
          <a:p>
            <a:pPr algn="l">
              <a:lnSpc>
                <a:spcPct val="100000"/>
              </a:lnSpc>
              <a:defRPr/>
            </a:pPr>
            <a:r>
              <a:rPr sz="1500" b="1">
                <a:solidFill>
                  <a:srgbClr val="4191FF"/>
                </a:solidFill>
                <a:latin typeface="Aptos"/>
              </a:rPr>
              <a:t>✓  AJAX / FETCH</a:t>
            </a:r>
            <a:endParaRPr/>
          </a:p>
        </p:txBody>
      </p:sp>
      <p:sp>
        <p:nvSpPr>
          <p:cNvPr id="85340055" name="TextBox 18"/>
          <p:cNvSpPr txBox="1"/>
          <p:nvPr/>
        </p:nvSpPr>
        <p:spPr bwMode="auto">
          <a:xfrm flipH="0" flipV="0">
            <a:off x="6281928" y="5330952"/>
            <a:ext cx="5034491" cy="472799"/>
          </a:xfrm>
          <a:prstGeom prst="rect">
            <a:avLst/>
          </a:prstGeom>
          <a:noFill/>
        </p:spPr>
        <p:txBody>
          <a:bodyPr wrap="square" lIns="45720" rIns="45720" anchor="t">
            <a:spAutoFit/>
          </a:bodyPr>
          <a:lstStyle/>
          <a:p>
            <a:pPr algn="l">
              <a:lnSpc>
                <a:spcPct val="100000"/>
              </a:lnSpc>
              <a:defRPr/>
            </a:pPr>
            <a:r>
              <a:rPr sz="1250" b="0">
                <a:solidFill>
                  <a:srgbClr val="121F34"/>
                </a:solidFill>
                <a:latin typeface="Aptos"/>
              </a:rPr>
              <a:t>Token có thể được gửi qua RequestVerificationToken header cho các request AJAX.</a:t>
            </a:r>
            <a:endParaRPr/>
          </a:p>
        </p:txBody>
      </p:sp>
      <p:sp>
        <p:nvSpPr>
          <p:cNvPr id="1419502992" name="TextBox 19"/>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
        <p:nvSpPr>
          <p:cNvPr id="752591446" name="TextBox 20"/>
          <p:cNvSpPr txBox="1"/>
          <p:nvPr/>
        </p:nvSpPr>
        <p:spPr bwMode="auto">
          <a:xfrm>
            <a:off x="9144000" y="6547104"/>
            <a:ext cx="2514600" cy="182880"/>
          </a:xfrm>
          <a:prstGeom prst="rect">
            <a:avLst/>
          </a:prstGeom>
          <a:noFill/>
        </p:spPr>
        <p:txBody>
          <a:bodyPr wrap="none" lIns="45720" rIns="45720" anchor="t">
            <a:spAutoFit/>
          </a:bodyPr>
          <a:lstStyle/>
          <a:p>
            <a:pPr algn="r">
              <a:lnSpc>
                <a:spcPct val="100000"/>
              </a:lnSpc>
              <a:defRPr/>
            </a:pPr>
            <a:r>
              <a:rPr sz="850" b="0">
                <a:solidFill>
                  <a:srgbClr val="5D6C82"/>
                </a:solidFill>
                <a:latin typeface="Aptos"/>
              </a:rPr>
              <a:t>Nguyễn Minh Cường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720180954"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05 • TỔNG HỢP</a:t>
            </a:r>
            <a:endParaRPr/>
          </a:p>
        </p:txBody>
      </p:sp>
      <p:sp>
        <p:nvSpPr>
          <p:cNvPr id="2004313312"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Bài học rút ra: 3 lỗ hổng &amp; cơ chế phòng thủ</a:t>
            </a:r>
            <a:endParaRPr/>
          </a:p>
        </p:txBody>
      </p:sp>
      <p:sp>
        <p:nvSpPr>
          <p:cNvPr id="591055782"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95582561"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18</a:t>
            </a:r>
            <a:endParaRPr/>
          </a:p>
        </p:txBody>
      </p:sp>
      <p:sp>
        <p:nvSpPr>
          <p:cNvPr id="1006566722" name="Rounded Rectangle 5"/>
          <p:cNvSpPr/>
          <p:nvPr/>
        </p:nvSpPr>
        <p:spPr bwMode="auto">
          <a:xfrm>
            <a:off x="594360" y="1371600"/>
            <a:ext cx="3429000" cy="452628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2813061" name="Rectangle 6"/>
          <p:cNvSpPr/>
          <p:nvPr/>
        </p:nvSpPr>
        <p:spPr bwMode="auto">
          <a:xfrm>
            <a:off x="594360" y="1371600"/>
            <a:ext cx="3429000" cy="82296"/>
          </a:xfrm>
          <a:prstGeom prst="rect">
            <a:avLst/>
          </a:prstGeom>
          <a:solidFill>
            <a:srgbClr val="EF5B5B"/>
          </a:solidFill>
          <a:ln>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35258155" name="TextBox 7"/>
          <p:cNvSpPr txBox="1"/>
          <p:nvPr/>
        </p:nvSpPr>
        <p:spPr bwMode="auto">
          <a:xfrm>
            <a:off x="795528" y="1664208"/>
            <a:ext cx="3017519" cy="347472"/>
          </a:xfrm>
          <a:prstGeom prst="rect">
            <a:avLst/>
          </a:prstGeom>
          <a:noFill/>
        </p:spPr>
        <p:txBody>
          <a:bodyPr wrap="none" lIns="45720" rIns="45720" anchor="t">
            <a:spAutoFit/>
          </a:bodyPr>
          <a:lstStyle/>
          <a:p>
            <a:pPr algn="l">
              <a:lnSpc>
                <a:spcPct val="100000"/>
              </a:lnSpc>
              <a:defRPr/>
            </a:pPr>
            <a:r>
              <a:rPr sz="1600" b="1">
                <a:solidFill>
                  <a:srgbClr val="EF5B5B"/>
                </a:solidFill>
                <a:latin typeface="Aptos"/>
              </a:rPr>
              <a:t>SQL INJECTION</a:t>
            </a:r>
            <a:endParaRPr/>
          </a:p>
        </p:txBody>
      </p:sp>
      <p:sp>
        <p:nvSpPr>
          <p:cNvPr id="2141746680" name="TextBox 8"/>
          <p:cNvSpPr txBox="1"/>
          <p:nvPr/>
        </p:nvSpPr>
        <p:spPr bwMode="auto">
          <a:xfrm>
            <a:off x="795528" y="2331720"/>
            <a:ext cx="2971800" cy="256032"/>
          </a:xfrm>
          <a:prstGeom prst="rect">
            <a:avLst/>
          </a:prstGeom>
          <a:noFill/>
        </p:spPr>
        <p:txBody>
          <a:bodyPr wrap="none" lIns="45720" rIns="45720" anchor="t">
            <a:spAutoFit/>
          </a:bodyPr>
          <a:lstStyle/>
          <a:p>
            <a:pPr algn="l">
              <a:lnSpc>
                <a:spcPct val="100000"/>
              </a:lnSpc>
              <a:defRPr/>
            </a:pPr>
            <a:r>
              <a:rPr sz="900" b="1">
                <a:solidFill>
                  <a:srgbClr val="5D6C82"/>
                </a:solidFill>
                <a:latin typeface="Aptos"/>
              </a:rPr>
              <a:t>NGUYÊN NHÂN CỐT LÕI</a:t>
            </a:r>
            <a:endParaRPr/>
          </a:p>
        </p:txBody>
      </p:sp>
      <p:sp>
        <p:nvSpPr>
          <p:cNvPr id="902968279" name="TextBox 9"/>
          <p:cNvSpPr txBox="1"/>
          <p:nvPr/>
        </p:nvSpPr>
        <p:spPr bwMode="auto">
          <a:xfrm>
            <a:off x="795528" y="2697480"/>
            <a:ext cx="2971800" cy="960120"/>
          </a:xfrm>
          <a:prstGeom prst="rect">
            <a:avLst/>
          </a:prstGeom>
          <a:noFill/>
        </p:spPr>
        <p:txBody>
          <a:bodyPr wrap="none" lIns="45720" rIns="45720" anchor="t">
            <a:spAutoFit/>
          </a:bodyPr>
          <a:lstStyle/>
          <a:p>
            <a:pPr algn="l">
              <a:lnSpc>
                <a:spcPct val="100000"/>
              </a:lnSpc>
              <a:defRPr/>
            </a:pPr>
            <a:r>
              <a:rPr sz="1300" b="1">
                <a:solidFill>
                  <a:srgbClr val="121F34"/>
                </a:solidFill>
                <a:latin typeface="Aptos"/>
              </a:rPr>
              <a:t>Ghép chuỗi SQL trực tiếp.</a:t>
            </a:r>
            <a:endParaRPr/>
          </a:p>
        </p:txBody>
      </p:sp>
      <p:sp>
        <p:nvSpPr>
          <p:cNvPr id="990076449" name="Rectangle 10"/>
          <p:cNvSpPr/>
          <p:nvPr/>
        </p:nvSpPr>
        <p:spPr bwMode="auto">
          <a:xfrm>
            <a:off x="795528" y="3840480"/>
            <a:ext cx="297180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6406444" name="TextBox 11"/>
          <p:cNvSpPr txBox="1"/>
          <p:nvPr/>
        </p:nvSpPr>
        <p:spPr bwMode="auto">
          <a:xfrm>
            <a:off x="795528" y="4114800"/>
            <a:ext cx="2971800" cy="256032"/>
          </a:xfrm>
          <a:prstGeom prst="rect">
            <a:avLst/>
          </a:prstGeom>
          <a:noFill/>
        </p:spPr>
        <p:txBody>
          <a:bodyPr wrap="none" lIns="45720" rIns="45720" anchor="t">
            <a:spAutoFit/>
          </a:bodyPr>
          <a:lstStyle/>
          <a:p>
            <a:pPr algn="l">
              <a:lnSpc>
                <a:spcPct val="100000"/>
              </a:lnSpc>
              <a:defRPr/>
            </a:pPr>
            <a:r>
              <a:rPr sz="900" b="1">
                <a:solidFill>
                  <a:srgbClr val="5D6C82"/>
                </a:solidFill>
                <a:latin typeface="Aptos"/>
              </a:rPr>
              <a:t>PHÒNG THỦ</a:t>
            </a:r>
            <a:endParaRPr/>
          </a:p>
        </p:txBody>
      </p:sp>
      <p:sp>
        <p:nvSpPr>
          <p:cNvPr id="425520585" name="TextBox 12"/>
          <p:cNvSpPr txBox="1"/>
          <p:nvPr/>
        </p:nvSpPr>
        <p:spPr bwMode="auto">
          <a:xfrm>
            <a:off x="795528" y="4480560"/>
            <a:ext cx="2971800" cy="777240"/>
          </a:xfrm>
          <a:prstGeom prst="rect">
            <a:avLst/>
          </a:prstGeom>
          <a:noFill/>
        </p:spPr>
        <p:txBody>
          <a:bodyPr wrap="none" lIns="45720" rIns="45720" anchor="t">
            <a:spAutoFit/>
          </a:bodyPr>
          <a:lstStyle/>
          <a:p>
            <a:pPr algn="l">
              <a:lnSpc>
                <a:spcPct val="100000"/>
              </a:lnSpc>
              <a:defRPr/>
            </a:pPr>
            <a:r>
              <a:rPr sz="1300" b="1">
                <a:solidFill>
                  <a:srgbClr val="121F34"/>
                </a:solidFill>
                <a:latin typeface="Aptos"/>
              </a:rPr>
              <a:t>Parameterized Query</a:t>
            </a:r>
            <a:br>
              <a:rPr sz="1300" b="1">
                <a:solidFill>
                  <a:srgbClr val="121F34"/>
                </a:solidFill>
                <a:latin typeface="Aptos"/>
              </a:rPr>
            </a:br>
            <a:r>
              <a:rPr sz="1300" b="1">
                <a:solidFill>
                  <a:srgbClr val="121F34"/>
                </a:solidFill>
                <a:latin typeface="Aptos"/>
              </a:rPr>
              <a:t>EF Core LINQ</a:t>
            </a:r>
            <a:endParaRPr/>
          </a:p>
        </p:txBody>
      </p:sp>
      <p:sp>
        <p:nvSpPr>
          <p:cNvPr id="1955612195" name="TextBox 13"/>
          <p:cNvSpPr txBox="1"/>
          <p:nvPr/>
        </p:nvSpPr>
        <p:spPr bwMode="auto">
          <a:xfrm>
            <a:off x="795528" y="5440680"/>
            <a:ext cx="2971800" cy="228600"/>
          </a:xfrm>
          <a:prstGeom prst="rect">
            <a:avLst/>
          </a:prstGeom>
          <a:noFill/>
        </p:spPr>
        <p:txBody>
          <a:bodyPr wrap="none" lIns="45720" rIns="45720" anchor="t">
            <a:spAutoFit/>
          </a:bodyPr>
          <a:lstStyle/>
          <a:p>
            <a:pPr algn="l">
              <a:lnSpc>
                <a:spcPct val="100000"/>
              </a:lnSpc>
              <a:defRPr/>
            </a:pPr>
            <a:r>
              <a:rPr sz="900" b="0">
                <a:solidFill>
                  <a:srgbClr val="5D6C82"/>
                </a:solidFill>
                <a:latin typeface="Aptos"/>
              </a:rPr>
              <a:t>Nguyễn Danh Học</a:t>
            </a:r>
            <a:endParaRPr/>
          </a:p>
        </p:txBody>
      </p:sp>
      <p:sp>
        <p:nvSpPr>
          <p:cNvPr id="1741866677" name="Rounded Rectangle 14"/>
          <p:cNvSpPr/>
          <p:nvPr/>
        </p:nvSpPr>
        <p:spPr bwMode="auto">
          <a:xfrm>
            <a:off x="4343400" y="1371600"/>
            <a:ext cx="3429000" cy="452628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60847414" name="Rectangle 15"/>
          <p:cNvSpPr/>
          <p:nvPr/>
        </p:nvSpPr>
        <p:spPr bwMode="auto">
          <a:xfrm>
            <a:off x="4343400" y="1371600"/>
            <a:ext cx="3429000" cy="82296"/>
          </a:xfrm>
          <a:prstGeom prst="rect">
            <a:avLst/>
          </a:prstGeom>
          <a:solidFill>
            <a:srgbClr val="F1BE48"/>
          </a:solidFill>
          <a:ln>
            <a:solidFill>
              <a:srgbClr val="F1B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3917274" name="TextBox 16"/>
          <p:cNvSpPr txBox="1"/>
          <p:nvPr/>
        </p:nvSpPr>
        <p:spPr bwMode="auto">
          <a:xfrm>
            <a:off x="4544568" y="1664208"/>
            <a:ext cx="3017519" cy="347472"/>
          </a:xfrm>
          <a:prstGeom prst="rect">
            <a:avLst/>
          </a:prstGeom>
          <a:noFill/>
        </p:spPr>
        <p:txBody>
          <a:bodyPr wrap="none" lIns="45720" rIns="45720" anchor="t">
            <a:spAutoFit/>
          </a:bodyPr>
          <a:lstStyle/>
          <a:p>
            <a:pPr algn="l">
              <a:lnSpc>
                <a:spcPct val="100000"/>
              </a:lnSpc>
              <a:defRPr/>
            </a:pPr>
            <a:r>
              <a:rPr sz="1600" b="1">
                <a:solidFill>
                  <a:srgbClr val="F1BE48"/>
                </a:solidFill>
                <a:latin typeface="Aptos"/>
              </a:rPr>
              <a:t>STORED XSS</a:t>
            </a:r>
            <a:endParaRPr/>
          </a:p>
        </p:txBody>
      </p:sp>
      <p:sp>
        <p:nvSpPr>
          <p:cNvPr id="1767425433" name="TextBox 17"/>
          <p:cNvSpPr txBox="1"/>
          <p:nvPr/>
        </p:nvSpPr>
        <p:spPr bwMode="auto">
          <a:xfrm>
            <a:off x="4544568" y="2331720"/>
            <a:ext cx="2971800" cy="256032"/>
          </a:xfrm>
          <a:prstGeom prst="rect">
            <a:avLst/>
          </a:prstGeom>
          <a:noFill/>
        </p:spPr>
        <p:txBody>
          <a:bodyPr wrap="none" lIns="45720" rIns="45720" anchor="t">
            <a:spAutoFit/>
          </a:bodyPr>
          <a:lstStyle/>
          <a:p>
            <a:pPr algn="l">
              <a:lnSpc>
                <a:spcPct val="100000"/>
              </a:lnSpc>
              <a:defRPr/>
            </a:pPr>
            <a:r>
              <a:rPr sz="900" b="1">
                <a:solidFill>
                  <a:srgbClr val="5D6C82"/>
                </a:solidFill>
                <a:latin typeface="Aptos"/>
              </a:rPr>
              <a:t>NGUYÊN NHÂN CỐT LÕI</a:t>
            </a:r>
            <a:endParaRPr/>
          </a:p>
        </p:txBody>
      </p:sp>
      <p:sp>
        <p:nvSpPr>
          <p:cNvPr id="565838671" name="TextBox 18"/>
          <p:cNvSpPr txBox="1"/>
          <p:nvPr/>
        </p:nvSpPr>
        <p:spPr bwMode="auto">
          <a:xfrm>
            <a:off x="4544568" y="2697480"/>
            <a:ext cx="2971800" cy="960120"/>
          </a:xfrm>
          <a:prstGeom prst="rect">
            <a:avLst/>
          </a:prstGeom>
          <a:noFill/>
        </p:spPr>
        <p:txBody>
          <a:bodyPr wrap="none" lIns="45720" rIns="45720" anchor="t">
            <a:spAutoFit/>
          </a:bodyPr>
          <a:lstStyle/>
          <a:p>
            <a:pPr algn="l">
              <a:lnSpc>
                <a:spcPct val="100000"/>
              </a:lnSpc>
              <a:defRPr/>
            </a:pPr>
            <a:r>
              <a:rPr sz="1300" b="1">
                <a:solidFill>
                  <a:srgbClr val="121F34"/>
                </a:solidFill>
                <a:latin typeface="Aptos"/>
              </a:rPr>
              <a:t>Lưu script thô + @Html.Raw().</a:t>
            </a:r>
            <a:endParaRPr/>
          </a:p>
        </p:txBody>
      </p:sp>
      <p:sp>
        <p:nvSpPr>
          <p:cNvPr id="2084425765" name="Rectangle 19"/>
          <p:cNvSpPr/>
          <p:nvPr/>
        </p:nvSpPr>
        <p:spPr bwMode="auto">
          <a:xfrm>
            <a:off x="4544568" y="3840480"/>
            <a:ext cx="297180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6055602" name="TextBox 20"/>
          <p:cNvSpPr txBox="1"/>
          <p:nvPr/>
        </p:nvSpPr>
        <p:spPr bwMode="auto">
          <a:xfrm>
            <a:off x="4544568" y="4114800"/>
            <a:ext cx="2971800" cy="256032"/>
          </a:xfrm>
          <a:prstGeom prst="rect">
            <a:avLst/>
          </a:prstGeom>
          <a:noFill/>
        </p:spPr>
        <p:txBody>
          <a:bodyPr wrap="none" lIns="45720" rIns="45720" anchor="t">
            <a:spAutoFit/>
          </a:bodyPr>
          <a:lstStyle/>
          <a:p>
            <a:pPr algn="l">
              <a:lnSpc>
                <a:spcPct val="100000"/>
              </a:lnSpc>
              <a:defRPr/>
            </a:pPr>
            <a:r>
              <a:rPr sz="900" b="1">
                <a:solidFill>
                  <a:srgbClr val="5D6C82"/>
                </a:solidFill>
                <a:latin typeface="Aptos"/>
              </a:rPr>
              <a:t>PHÒNG THỦ</a:t>
            </a:r>
            <a:endParaRPr/>
          </a:p>
        </p:txBody>
      </p:sp>
      <p:sp>
        <p:nvSpPr>
          <p:cNvPr id="1625754615" name="TextBox 21"/>
          <p:cNvSpPr txBox="1"/>
          <p:nvPr/>
        </p:nvSpPr>
        <p:spPr bwMode="auto">
          <a:xfrm>
            <a:off x="4544568" y="4480560"/>
            <a:ext cx="2971800" cy="777240"/>
          </a:xfrm>
          <a:prstGeom prst="rect">
            <a:avLst/>
          </a:prstGeom>
          <a:noFill/>
        </p:spPr>
        <p:txBody>
          <a:bodyPr wrap="none" lIns="45720" rIns="45720" anchor="t">
            <a:spAutoFit/>
          </a:bodyPr>
          <a:lstStyle/>
          <a:p>
            <a:pPr algn="l">
              <a:lnSpc>
                <a:spcPct val="100000"/>
              </a:lnSpc>
              <a:defRPr/>
            </a:pPr>
            <a:r>
              <a:rPr sz="1300" b="1">
                <a:solidFill>
                  <a:srgbClr val="121F34"/>
                </a:solidFill>
                <a:latin typeface="Aptos"/>
              </a:rPr>
              <a:t>HTML Encoding</a:t>
            </a:r>
            <a:br>
              <a:rPr sz="1300" b="1">
                <a:solidFill>
                  <a:srgbClr val="121F34"/>
                </a:solidFill>
                <a:latin typeface="Aptos"/>
              </a:rPr>
            </a:br>
            <a:r>
              <a:rPr sz="1300" b="1">
                <a:solidFill>
                  <a:srgbClr val="121F34"/>
                </a:solidFill>
                <a:latin typeface="Aptos"/>
              </a:rPr>
              <a:t>+ HttpOnly</a:t>
            </a:r>
            <a:endParaRPr/>
          </a:p>
        </p:txBody>
      </p:sp>
      <p:sp>
        <p:nvSpPr>
          <p:cNvPr id="359239298" name="TextBox 22"/>
          <p:cNvSpPr txBox="1"/>
          <p:nvPr/>
        </p:nvSpPr>
        <p:spPr bwMode="auto">
          <a:xfrm>
            <a:off x="4544568" y="5440680"/>
            <a:ext cx="2971800" cy="228600"/>
          </a:xfrm>
          <a:prstGeom prst="rect">
            <a:avLst/>
          </a:prstGeom>
          <a:noFill/>
        </p:spPr>
        <p:txBody>
          <a:bodyPr wrap="none" lIns="45720" rIns="45720" anchor="t">
            <a:spAutoFit/>
          </a:bodyPr>
          <a:lstStyle/>
          <a:p>
            <a:pPr algn="l">
              <a:lnSpc>
                <a:spcPct val="100000"/>
              </a:lnSpc>
              <a:defRPr/>
            </a:pPr>
            <a:r>
              <a:rPr sz="900" b="0">
                <a:solidFill>
                  <a:srgbClr val="5D6C82"/>
                </a:solidFill>
                <a:latin typeface="Aptos"/>
              </a:rPr>
              <a:t>Nguyễn Thanh Bình</a:t>
            </a:r>
            <a:endParaRPr/>
          </a:p>
        </p:txBody>
      </p:sp>
      <p:sp>
        <p:nvSpPr>
          <p:cNvPr id="1635108428" name="Rounded Rectangle 23"/>
          <p:cNvSpPr/>
          <p:nvPr/>
        </p:nvSpPr>
        <p:spPr bwMode="auto">
          <a:xfrm>
            <a:off x="8092440" y="1371600"/>
            <a:ext cx="3429000" cy="452628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9039091" name="Rectangle 24"/>
          <p:cNvSpPr/>
          <p:nvPr/>
        </p:nvSpPr>
        <p:spPr bwMode="auto">
          <a:xfrm>
            <a:off x="8092440" y="1371600"/>
            <a:ext cx="3429000" cy="82296"/>
          </a:xfrm>
          <a:prstGeom prst="rect">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4829174" name="TextBox 25"/>
          <p:cNvSpPr txBox="1"/>
          <p:nvPr/>
        </p:nvSpPr>
        <p:spPr bwMode="auto">
          <a:xfrm>
            <a:off x="8293607" y="1664208"/>
            <a:ext cx="3017519" cy="347472"/>
          </a:xfrm>
          <a:prstGeom prst="rect">
            <a:avLst/>
          </a:prstGeom>
          <a:noFill/>
        </p:spPr>
        <p:txBody>
          <a:bodyPr wrap="none" lIns="45720" rIns="45720" anchor="t">
            <a:spAutoFit/>
          </a:bodyPr>
          <a:lstStyle/>
          <a:p>
            <a:pPr algn="l">
              <a:lnSpc>
                <a:spcPct val="100000"/>
              </a:lnSpc>
              <a:defRPr/>
            </a:pPr>
            <a:r>
              <a:rPr sz="1600" b="1">
                <a:solidFill>
                  <a:srgbClr val="39C480"/>
                </a:solidFill>
                <a:latin typeface="Aptos"/>
              </a:rPr>
              <a:t>CSRF ATTACK</a:t>
            </a:r>
            <a:endParaRPr/>
          </a:p>
        </p:txBody>
      </p:sp>
      <p:sp>
        <p:nvSpPr>
          <p:cNvPr id="1921455151" name="TextBox 26"/>
          <p:cNvSpPr txBox="1"/>
          <p:nvPr/>
        </p:nvSpPr>
        <p:spPr bwMode="auto">
          <a:xfrm>
            <a:off x="8293607" y="2331720"/>
            <a:ext cx="2971800" cy="256032"/>
          </a:xfrm>
          <a:prstGeom prst="rect">
            <a:avLst/>
          </a:prstGeom>
          <a:noFill/>
        </p:spPr>
        <p:txBody>
          <a:bodyPr wrap="none" lIns="45720" rIns="45720" anchor="t">
            <a:spAutoFit/>
          </a:bodyPr>
          <a:lstStyle/>
          <a:p>
            <a:pPr algn="l">
              <a:lnSpc>
                <a:spcPct val="100000"/>
              </a:lnSpc>
              <a:defRPr/>
            </a:pPr>
            <a:r>
              <a:rPr sz="900" b="1">
                <a:solidFill>
                  <a:srgbClr val="5D6C82"/>
                </a:solidFill>
                <a:latin typeface="Aptos"/>
              </a:rPr>
              <a:t>NGUYÊN NHÂN CỐT LÕI</a:t>
            </a:r>
            <a:endParaRPr/>
          </a:p>
        </p:txBody>
      </p:sp>
      <p:sp>
        <p:nvSpPr>
          <p:cNvPr id="1029904966" name="TextBox 27"/>
          <p:cNvSpPr txBox="1"/>
          <p:nvPr/>
        </p:nvSpPr>
        <p:spPr bwMode="auto">
          <a:xfrm>
            <a:off x="8293607" y="2697480"/>
            <a:ext cx="2971800" cy="960120"/>
          </a:xfrm>
          <a:prstGeom prst="rect">
            <a:avLst/>
          </a:prstGeom>
          <a:noFill/>
        </p:spPr>
        <p:txBody>
          <a:bodyPr wrap="none" lIns="45720" rIns="45720" anchor="t">
            <a:spAutoFit/>
          </a:bodyPr>
          <a:lstStyle/>
          <a:p>
            <a:pPr algn="l">
              <a:lnSpc>
                <a:spcPct val="100000"/>
              </a:lnSpc>
              <a:defRPr/>
            </a:pPr>
            <a:r>
              <a:rPr sz="1300" b="1">
                <a:solidFill>
                  <a:srgbClr val="121F34"/>
                </a:solidFill>
                <a:latin typeface="Aptos"/>
              </a:rPr>
              <a:t>Chỉ kiểm tra Cookie; thiếu xác thực request.</a:t>
            </a:r>
            <a:endParaRPr/>
          </a:p>
        </p:txBody>
      </p:sp>
      <p:sp>
        <p:nvSpPr>
          <p:cNvPr id="1335028060" name="Rectangle 28"/>
          <p:cNvSpPr/>
          <p:nvPr/>
        </p:nvSpPr>
        <p:spPr bwMode="auto">
          <a:xfrm>
            <a:off x="8293607" y="3840480"/>
            <a:ext cx="297180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51179322" name="TextBox 29"/>
          <p:cNvSpPr txBox="1"/>
          <p:nvPr/>
        </p:nvSpPr>
        <p:spPr bwMode="auto">
          <a:xfrm>
            <a:off x="8293607" y="4114800"/>
            <a:ext cx="2971800" cy="256032"/>
          </a:xfrm>
          <a:prstGeom prst="rect">
            <a:avLst/>
          </a:prstGeom>
          <a:noFill/>
        </p:spPr>
        <p:txBody>
          <a:bodyPr wrap="none" lIns="45720" rIns="45720" anchor="t">
            <a:spAutoFit/>
          </a:bodyPr>
          <a:lstStyle/>
          <a:p>
            <a:pPr algn="l">
              <a:lnSpc>
                <a:spcPct val="100000"/>
              </a:lnSpc>
              <a:defRPr/>
            </a:pPr>
            <a:r>
              <a:rPr sz="900" b="1">
                <a:solidFill>
                  <a:srgbClr val="5D6C82"/>
                </a:solidFill>
                <a:latin typeface="Aptos"/>
              </a:rPr>
              <a:t>PHÒNG THỦ</a:t>
            </a:r>
            <a:endParaRPr/>
          </a:p>
        </p:txBody>
      </p:sp>
      <p:sp>
        <p:nvSpPr>
          <p:cNvPr id="1323957868" name="TextBox 30"/>
          <p:cNvSpPr txBox="1"/>
          <p:nvPr/>
        </p:nvSpPr>
        <p:spPr bwMode="auto">
          <a:xfrm>
            <a:off x="8293607" y="4480560"/>
            <a:ext cx="2971800" cy="777240"/>
          </a:xfrm>
          <a:prstGeom prst="rect">
            <a:avLst/>
          </a:prstGeom>
          <a:noFill/>
        </p:spPr>
        <p:txBody>
          <a:bodyPr wrap="none" lIns="45720" rIns="45720" anchor="t">
            <a:spAutoFit/>
          </a:bodyPr>
          <a:lstStyle/>
          <a:p>
            <a:pPr algn="l">
              <a:lnSpc>
                <a:spcPct val="100000"/>
              </a:lnSpc>
              <a:defRPr/>
            </a:pPr>
            <a:r>
              <a:rPr sz="1300" b="1">
                <a:solidFill>
                  <a:srgbClr val="121F34"/>
                </a:solidFill>
                <a:latin typeface="Aptos"/>
              </a:rPr>
              <a:t>Synchronizer Token</a:t>
            </a:r>
            <a:br>
              <a:rPr sz="1300" b="1">
                <a:solidFill>
                  <a:srgbClr val="121F34"/>
                </a:solidFill>
                <a:latin typeface="Aptos"/>
              </a:rPr>
            </a:br>
            <a:r>
              <a:rPr sz="1300" b="1">
                <a:solidFill>
                  <a:srgbClr val="121F34"/>
                </a:solidFill>
                <a:latin typeface="Aptos"/>
              </a:rPr>
              <a:t>@Html.AntiForgeryToken</a:t>
            </a:r>
            <a:endParaRPr/>
          </a:p>
        </p:txBody>
      </p:sp>
      <p:sp>
        <p:nvSpPr>
          <p:cNvPr id="844179815" name="TextBox 31"/>
          <p:cNvSpPr txBox="1"/>
          <p:nvPr/>
        </p:nvSpPr>
        <p:spPr bwMode="auto">
          <a:xfrm>
            <a:off x="8293607" y="5440680"/>
            <a:ext cx="2971800" cy="228600"/>
          </a:xfrm>
          <a:prstGeom prst="rect">
            <a:avLst/>
          </a:prstGeom>
          <a:noFill/>
        </p:spPr>
        <p:txBody>
          <a:bodyPr wrap="none" lIns="45720" rIns="45720" anchor="t">
            <a:spAutoFit/>
          </a:bodyPr>
          <a:lstStyle/>
          <a:p>
            <a:pPr algn="l">
              <a:lnSpc>
                <a:spcPct val="100000"/>
              </a:lnSpc>
              <a:defRPr/>
            </a:pPr>
            <a:r>
              <a:rPr sz="900" b="0">
                <a:solidFill>
                  <a:srgbClr val="5D6C82"/>
                </a:solidFill>
                <a:latin typeface="Aptos"/>
              </a:rPr>
              <a:t>Nguyễn Minh Cường</a:t>
            </a:r>
            <a:endParaRPr/>
          </a:p>
        </p:txBody>
      </p:sp>
      <p:sp>
        <p:nvSpPr>
          <p:cNvPr id="290537258" name="TextBox 32"/>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9FD"/>
        </a:solidFill>
      </p:bgPr>
    </p:bg>
    <p:spTree>
      <p:nvGrpSpPr>
        <p:cNvPr id="1" name=""/>
        <p:cNvGrpSpPr/>
        <p:nvPr/>
      </p:nvGrpSpPr>
      <p:grpSpPr bwMode="auto">
        <a:xfrm>
          <a:off x="0" y="0"/>
          <a:ext cx="0" cy="0"/>
          <a:chOff x="0" y="0"/>
          <a:chExt cx="0" cy="0"/>
        </a:xfrm>
      </p:grpSpPr>
      <p:sp>
        <p:nvSpPr>
          <p:cNvPr id="1367286547" name="TextBox 1"/>
          <p:cNvSpPr txBox="1"/>
          <p:nvPr/>
        </p:nvSpPr>
        <p:spPr bwMode="auto">
          <a:xfrm>
            <a:off x="502920" y="201168"/>
            <a:ext cx="3657600" cy="256032"/>
          </a:xfrm>
          <a:prstGeom prst="rect">
            <a:avLst/>
          </a:prstGeom>
          <a:noFill/>
        </p:spPr>
        <p:txBody>
          <a:bodyPr wrap="none" lIns="45720" rIns="45720" anchor="t">
            <a:spAutoFit/>
          </a:bodyPr>
          <a:lstStyle/>
          <a:p>
            <a:pPr algn="l">
              <a:lnSpc>
                <a:spcPct val="100000"/>
              </a:lnSpc>
              <a:defRPr/>
            </a:pPr>
            <a:r>
              <a:rPr sz="1000" b="1">
                <a:solidFill>
                  <a:srgbClr val="4191FF"/>
                </a:solidFill>
                <a:latin typeface="Aptos"/>
              </a:rPr>
              <a:t>06 • KẾT LUẬN</a:t>
            </a:r>
            <a:endParaRPr/>
          </a:p>
        </p:txBody>
      </p:sp>
      <p:sp>
        <p:nvSpPr>
          <p:cNvPr id="1834445334" name="TextBox 2"/>
          <p:cNvSpPr txBox="1"/>
          <p:nvPr/>
        </p:nvSpPr>
        <p:spPr bwMode="auto">
          <a:xfrm>
            <a:off x="502920" y="475488"/>
            <a:ext cx="10789920" cy="502920"/>
          </a:xfrm>
          <a:prstGeom prst="rect">
            <a:avLst/>
          </a:prstGeom>
          <a:noFill/>
        </p:spPr>
        <p:txBody>
          <a:bodyPr wrap="none" lIns="45720" rIns="45720" anchor="t">
            <a:spAutoFit/>
          </a:bodyPr>
          <a:lstStyle/>
          <a:p>
            <a:pPr algn="l">
              <a:lnSpc>
                <a:spcPct val="100000"/>
              </a:lnSpc>
              <a:defRPr/>
            </a:pPr>
            <a:r>
              <a:rPr sz="2500" b="1">
                <a:solidFill>
                  <a:srgbClr val="121F34"/>
                </a:solidFill>
                <a:latin typeface="Aptos"/>
              </a:rPr>
              <a:t>Từ khai thác thực nghiệm đến phòng thủ đa tầng</a:t>
            </a:r>
            <a:endParaRPr/>
          </a:p>
        </p:txBody>
      </p:sp>
      <p:sp>
        <p:nvSpPr>
          <p:cNvPr id="2120594133" name="Rectangle 3"/>
          <p:cNvSpPr/>
          <p:nvPr/>
        </p:nvSpPr>
        <p:spPr bwMode="auto">
          <a:xfrm>
            <a:off x="502920" y="1051560"/>
            <a:ext cx="11155680" cy="13716"/>
          </a:xfrm>
          <a:prstGeom prst="rect">
            <a:avLst/>
          </a:prstGeom>
          <a:solidFill>
            <a:srgbClr val="D6E0ED"/>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9132593" name="TextBox 4"/>
          <p:cNvSpPr txBox="1"/>
          <p:nvPr/>
        </p:nvSpPr>
        <p:spPr bwMode="auto">
          <a:xfrm>
            <a:off x="10972800" y="201168"/>
            <a:ext cx="685800" cy="256032"/>
          </a:xfrm>
          <a:prstGeom prst="rect">
            <a:avLst/>
          </a:prstGeom>
          <a:noFill/>
        </p:spPr>
        <p:txBody>
          <a:bodyPr wrap="none" lIns="45720" rIns="45720" anchor="t">
            <a:spAutoFit/>
          </a:bodyPr>
          <a:lstStyle/>
          <a:p>
            <a:pPr algn="r">
              <a:lnSpc>
                <a:spcPct val="100000"/>
              </a:lnSpc>
              <a:defRPr/>
            </a:pPr>
            <a:r>
              <a:rPr sz="1000" b="1">
                <a:solidFill>
                  <a:srgbClr val="5D6C82"/>
                </a:solidFill>
                <a:latin typeface="Aptos"/>
              </a:rPr>
              <a:t>19</a:t>
            </a:r>
            <a:endParaRPr/>
          </a:p>
        </p:txBody>
      </p:sp>
      <p:sp>
        <p:nvSpPr>
          <p:cNvPr id="85423201" name="Rounded Rectangle 5"/>
          <p:cNvSpPr/>
          <p:nvPr/>
        </p:nvSpPr>
        <p:spPr bwMode="auto">
          <a:xfrm>
            <a:off x="594360" y="1325880"/>
            <a:ext cx="10972800" cy="114300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31628253" name="Rectangle 6"/>
          <p:cNvSpPr/>
          <p:nvPr/>
        </p:nvSpPr>
        <p:spPr bwMode="auto">
          <a:xfrm>
            <a:off x="594360" y="1325880"/>
            <a:ext cx="54864" cy="1143000"/>
          </a:xfrm>
          <a:prstGeom prst="rect">
            <a:avLst/>
          </a:prstGeom>
          <a:solidFill>
            <a:srgbClr val="4191FF"/>
          </a:solidFill>
          <a:ln>
            <a:solidFill>
              <a:srgbClr val="41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70732010" name="TextBox 7"/>
          <p:cNvSpPr txBox="1"/>
          <p:nvPr/>
        </p:nvSpPr>
        <p:spPr bwMode="auto">
          <a:xfrm>
            <a:off x="795528" y="1490472"/>
            <a:ext cx="10607040" cy="320040"/>
          </a:xfrm>
          <a:prstGeom prst="rect">
            <a:avLst/>
          </a:prstGeom>
          <a:noFill/>
        </p:spPr>
        <p:txBody>
          <a:bodyPr wrap="none" lIns="45720" rIns="45720" anchor="t">
            <a:spAutoFit/>
          </a:bodyPr>
          <a:lstStyle/>
          <a:p>
            <a:pPr algn="l">
              <a:lnSpc>
                <a:spcPct val="100000"/>
              </a:lnSpc>
              <a:defRPr/>
            </a:pPr>
            <a:r>
              <a:rPr sz="1500" b="1">
                <a:solidFill>
                  <a:srgbClr val="4191FF"/>
                </a:solidFill>
                <a:latin typeface="Aptos"/>
              </a:rPr>
              <a:t>→  01  •  TÁI LẬP LỖ HỔNG</a:t>
            </a:r>
            <a:endParaRPr/>
          </a:p>
        </p:txBody>
      </p:sp>
      <p:sp>
        <p:nvSpPr>
          <p:cNvPr id="2013059443" name="TextBox 8"/>
          <p:cNvSpPr txBox="1"/>
          <p:nvPr/>
        </p:nvSpPr>
        <p:spPr bwMode="auto">
          <a:xfrm>
            <a:off x="795528" y="1901952"/>
            <a:ext cx="10607040" cy="42976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Nhóm biểu diễn thành công kịch bản trên 3 bề mặt: Web UI, gói tin mạng (Chrome DevTools) và CSDL SQL Server 2025.</a:t>
            </a:r>
            <a:endParaRPr/>
          </a:p>
        </p:txBody>
      </p:sp>
      <p:sp>
        <p:nvSpPr>
          <p:cNvPr id="2009434401" name="Rounded Rectangle 9"/>
          <p:cNvSpPr/>
          <p:nvPr/>
        </p:nvSpPr>
        <p:spPr bwMode="auto">
          <a:xfrm>
            <a:off x="594360" y="2697480"/>
            <a:ext cx="10972800" cy="114300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48176918" name="Rectangle 10"/>
          <p:cNvSpPr/>
          <p:nvPr/>
        </p:nvSpPr>
        <p:spPr bwMode="auto">
          <a:xfrm>
            <a:off x="594360" y="2697480"/>
            <a:ext cx="54864" cy="1143000"/>
          </a:xfrm>
          <a:prstGeom prst="rect">
            <a:avLst/>
          </a:prstGeom>
          <a:solidFill>
            <a:srgbClr val="39C480"/>
          </a:solidFill>
          <a:ln>
            <a:solidFill>
              <a:srgbClr val="39C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4667904" name="TextBox 11"/>
          <p:cNvSpPr txBox="1"/>
          <p:nvPr/>
        </p:nvSpPr>
        <p:spPr bwMode="auto">
          <a:xfrm>
            <a:off x="795528" y="2862072"/>
            <a:ext cx="10607040" cy="320040"/>
          </a:xfrm>
          <a:prstGeom prst="rect">
            <a:avLst/>
          </a:prstGeom>
          <a:noFill/>
        </p:spPr>
        <p:txBody>
          <a:bodyPr wrap="none" lIns="45720" rIns="45720" anchor="t">
            <a:spAutoFit/>
          </a:bodyPr>
          <a:lstStyle/>
          <a:p>
            <a:pPr algn="l">
              <a:lnSpc>
                <a:spcPct val="100000"/>
              </a:lnSpc>
              <a:defRPr/>
            </a:pPr>
            <a:r>
              <a:rPr sz="1500" b="1">
                <a:solidFill>
                  <a:srgbClr val="39C480"/>
                </a:solidFill>
                <a:latin typeface="Aptos"/>
              </a:rPr>
              <a:t>✓  02  •  KIỂM CHỨNG PHÒNG THỦ</a:t>
            </a:r>
            <a:endParaRPr/>
          </a:p>
        </p:txBody>
      </p:sp>
      <p:sp>
        <p:nvSpPr>
          <p:cNvPr id="855218593" name="TextBox 12"/>
          <p:cNvSpPr txBox="1"/>
          <p:nvPr/>
        </p:nvSpPr>
        <p:spPr bwMode="auto">
          <a:xfrm>
            <a:off x="795528" y="3273552"/>
            <a:ext cx="10607040" cy="42976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Parameterized Query, HTML Encoding và Anti-Forgery Token được dùng để chặn các vector tấn công trong lab.</a:t>
            </a:r>
            <a:endParaRPr/>
          </a:p>
        </p:txBody>
      </p:sp>
      <p:sp>
        <p:nvSpPr>
          <p:cNvPr id="2004668543" name="Rounded Rectangle 13"/>
          <p:cNvSpPr/>
          <p:nvPr/>
        </p:nvSpPr>
        <p:spPr bwMode="auto">
          <a:xfrm>
            <a:off x="594360" y="4069080"/>
            <a:ext cx="10972800" cy="1143000"/>
          </a:xfrm>
          <a:prstGeom prst="roundRect">
            <a:avLst>
              <a:gd name="adj" fmla="val 8000"/>
            </a:avLst>
          </a:prstGeom>
          <a:solidFill>
            <a:srgbClr val="FFFFFF"/>
          </a:solidFill>
          <a:ln>
            <a:solidFill>
              <a:srgbClr val="D6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1972341" name="Rectangle 14"/>
          <p:cNvSpPr/>
          <p:nvPr/>
        </p:nvSpPr>
        <p:spPr bwMode="auto">
          <a:xfrm>
            <a:off x="594360" y="4069080"/>
            <a:ext cx="54864" cy="1143000"/>
          </a:xfrm>
          <a:prstGeom prst="rect">
            <a:avLst/>
          </a:prstGeom>
          <a:solidFill>
            <a:srgbClr val="F1BE48"/>
          </a:solidFill>
          <a:ln>
            <a:solidFill>
              <a:srgbClr val="F1B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13423534" name="TextBox 15"/>
          <p:cNvSpPr txBox="1"/>
          <p:nvPr/>
        </p:nvSpPr>
        <p:spPr bwMode="auto">
          <a:xfrm>
            <a:off x="795528" y="4233672"/>
            <a:ext cx="10607040" cy="320040"/>
          </a:xfrm>
          <a:prstGeom prst="rect">
            <a:avLst/>
          </a:prstGeom>
          <a:noFill/>
        </p:spPr>
        <p:txBody>
          <a:bodyPr wrap="none" lIns="45720" rIns="45720" anchor="t">
            <a:spAutoFit/>
          </a:bodyPr>
          <a:lstStyle/>
          <a:p>
            <a:pPr algn="l">
              <a:lnSpc>
                <a:spcPct val="100000"/>
              </a:lnSpc>
              <a:defRPr/>
            </a:pPr>
            <a:r>
              <a:rPr sz="1500" b="1">
                <a:solidFill>
                  <a:srgbClr val="F1BE48"/>
                </a:solidFill>
                <a:latin typeface="Aptos"/>
              </a:rPr>
              <a:t>◆  03  •  SECURITY PRINCIPLE</a:t>
            </a:r>
            <a:endParaRPr/>
          </a:p>
        </p:txBody>
      </p:sp>
      <p:sp>
        <p:nvSpPr>
          <p:cNvPr id="604978285" name="TextBox 16"/>
          <p:cNvSpPr txBox="1"/>
          <p:nvPr/>
        </p:nvSpPr>
        <p:spPr bwMode="auto">
          <a:xfrm>
            <a:off x="795528" y="4645152"/>
            <a:ext cx="10607040" cy="429768"/>
          </a:xfrm>
          <a:prstGeom prst="rect">
            <a:avLst/>
          </a:prstGeom>
          <a:noFill/>
        </p:spPr>
        <p:txBody>
          <a:bodyPr wrap="none" lIns="45720" rIns="45720" anchor="t">
            <a:spAutoFit/>
          </a:bodyPr>
          <a:lstStyle/>
          <a:p>
            <a:pPr algn="l">
              <a:lnSpc>
                <a:spcPct val="100000"/>
              </a:lnSpc>
              <a:defRPr/>
            </a:pPr>
            <a:r>
              <a:rPr sz="1250" b="0">
                <a:solidFill>
                  <a:srgbClr val="121F34"/>
                </a:solidFill>
                <a:latin typeface="Aptos"/>
              </a:rPr>
              <a:t>Never trust user-controlled input.</a:t>
            </a:r>
            <a:br>
              <a:rPr sz="1250" b="0">
                <a:solidFill>
                  <a:srgbClr val="121F34"/>
                </a:solidFill>
                <a:latin typeface="Aptos"/>
              </a:rPr>
            </a:br>
            <a:r>
              <a:rPr sz="1250" b="0">
                <a:solidFill>
                  <a:srgbClr val="121F34"/>
                </a:solidFill>
                <a:latin typeface="Aptos"/>
              </a:rPr>
              <a:t>Separate data from executable instructions.</a:t>
            </a:r>
            <a:endParaRPr/>
          </a:p>
        </p:txBody>
      </p:sp>
      <p:sp>
        <p:nvSpPr>
          <p:cNvPr id="279859149" name="TextBox 17"/>
          <p:cNvSpPr txBox="1"/>
          <p:nvPr/>
        </p:nvSpPr>
        <p:spPr bwMode="auto">
          <a:xfrm>
            <a:off x="3517163" y="5715000"/>
            <a:ext cx="5037912" cy="350879"/>
          </a:xfrm>
          <a:prstGeom prst="rect">
            <a:avLst/>
          </a:prstGeom>
          <a:noFill/>
        </p:spPr>
        <p:txBody>
          <a:bodyPr wrap="none" lIns="45720" rIns="45720" anchor="t">
            <a:spAutoFit/>
          </a:bodyPr>
          <a:lstStyle/>
          <a:p>
            <a:pPr algn="ctr">
              <a:lnSpc>
                <a:spcPct val="100000"/>
              </a:lnSpc>
              <a:defRPr/>
            </a:pPr>
            <a:r>
              <a:rPr sz="1700" b="1">
                <a:solidFill>
                  <a:srgbClr val="121F34"/>
                </a:solidFill>
                <a:latin typeface="Aptos"/>
              </a:rPr>
              <a:t>XIN TRÂN TRỌNG CẢM ƠN THẦY VÀ CÁC BẠN!  </a:t>
            </a:r>
            <a:endParaRPr/>
          </a:p>
        </p:txBody>
      </p:sp>
      <p:sp>
        <p:nvSpPr>
          <p:cNvPr id="933928868" name="TextBox 18"/>
          <p:cNvSpPr txBox="1"/>
          <p:nvPr/>
        </p:nvSpPr>
        <p:spPr bwMode="auto">
          <a:xfrm>
            <a:off x="502920" y="6547104"/>
            <a:ext cx="8686800" cy="182880"/>
          </a:xfrm>
          <a:prstGeom prst="rect">
            <a:avLst/>
          </a:prstGeom>
          <a:noFill/>
        </p:spPr>
        <p:txBody>
          <a:bodyPr wrap="none" lIns="45720" rIns="45720" anchor="t">
            <a:spAutoFit/>
          </a:bodyPr>
          <a:lstStyle/>
          <a:p>
            <a:pPr algn="l">
              <a:lnSpc>
                <a:spcPct val="100000"/>
              </a:lnSpc>
              <a:defRPr/>
            </a:pPr>
            <a:r>
              <a:rPr sz="850" b="0">
                <a:solidFill>
                  <a:srgbClr val="5D6C82"/>
                </a:solidFill>
                <a:latin typeface="Aptos"/>
              </a:rPr>
              <a:t>WNC.G01  •  Lập trình Web nâng cao  •  Trường Đại học Mở Hà Nội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19</Slides>
  <Notes>19</Notes>
  <HiddenSlides>0</HiddenSlides>
  <MMClips>2</MMClips>
  <ScaleCrop>0</ScaleCrop>
  <HeadingPairs>
    <vt:vector size="4" baseType="variant">
      <vt:variant>
        <vt:lpstr>Theme</vt:lpstr>
      </vt:variant>
      <vt:variant>
        <vt:i4>1</vt:i4>
      </vt:variant>
      <vt:variant>
        <vt:lpstr>Slide Titles</vt:lpstr>
      </vt:variant>
      <vt:variant>
        <vt:i4>19</vt:i4>
      </vt:variant>
    </vt:vector>
  </HeadingPairs>
  <TitlesOfParts>
    <vt:vector size="2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3</cp:revision>
  <dcterms:created xsi:type="dcterms:W3CDTF">2013-01-27T09:14:16Z</dcterms:created>
  <dcterms:modified xsi:type="dcterms:W3CDTF">2026-09-27T05:06:02Z</dcterms:modified>
  <cp:category/>
</cp:coreProperties>
</file>