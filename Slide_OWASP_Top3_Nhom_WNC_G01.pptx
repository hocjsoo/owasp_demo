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6217920" cy="3291840"/>
          </a:xfrm>
          <a:prstGeom prst="rect">
            <a:avLst/>
          </a:prstGeom>
          <a:noFill/>
        </p:spPr>
        <p:txBody>
          <a:bodyPr wrap="square">
            <a:spAutoFit/>
          </a:bodyPr>
          <a:lstStyle/>
          <a:p>
            <a:pPr>
              <a:defRPr sz="1300" b="1">
                <a:solidFill>
                  <a:srgbClr val="1D4ED8"/>
                </a:solidFill>
                <a:latin typeface="Arial"/>
              </a:defRPr>
            </a:pPr>
            <a:r>
              <a:t>OWASP TOP 10 • THỰC NGHIỆM AN TOÀN WEB</a:t>
            </a:r>
          </a:p>
          <a:p>
            <a:pPr>
              <a:spcBef>
                <a:spcPts val="800"/>
              </a:spcBef>
              <a:defRPr sz="2600" b="1">
                <a:solidFill>
                  <a:srgbClr val="0F172A"/>
                </a:solidFill>
                <a:latin typeface="Arial"/>
              </a:defRPr>
            </a:pPr>
            <a:r>
              <a:t>Nghiên Cứu Lỗ Hổng Web &amp; Cơ Chế Phòng Thủ Đa Tầng</a:t>
            </a:r>
          </a:p>
          <a:p>
            <a:pPr>
              <a:spcBef>
                <a:spcPts val="600"/>
              </a:spcBef>
              <a:defRPr sz="1600" b="1">
                <a:solidFill>
                  <a:srgbClr val="BE123C"/>
                </a:solidFill>
                <a:latin typeface="Arial"/>
              </a:defRPr>
            </a:pPr>
            <a:r>
              <a:t>SQL Injection • Stored XSS • CSRF Attack</a:t>
            </a:r>
          </a:p>
          <a:p>
            <a:pPr>
              <a:spcBef>
                <a:spcPts val="1000"/>
              </a:spcBef>
              <a:defRPr sz="1200" b="0">
                <a:solidFill>
                  <a:srgbClr val="334155"/>
                </a:solidFill>
                <a:latin typeface="Arial"/>
              </a:defRPr>
            </a:pPr>
            <a:r>
              <a:t>Học phần: Lập trình Web nâng cao  •  GVHD: ThS. Lê Hữu Dũng</a:t>
            </a:r>
            <a:br/>
            <a:r>
              <a:t>Khoa Công nghệ Thông tin — Trường Đại học Mở Hà Nội (HOU)</a:t>
            </a:r>
          </a:p>
        </p:txBody>
      </p:sp>
      <p:sp>
        <p:nvSpPr>
          <p:cNvPr id="4" name="Rounded Rectangle 3"/>
          <p:cNvSpPr/>
          <p:nvPr/>
        </p:nvSpPr>
        <p:spPr>
          <a:xfrm>
            <a:off x="7406640" y="731520"/>
            <a:ext cx="3840480" cy="3291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D4ED8"/>
                </a:solidFill>
                <a:latin typeface="Arial"/>
              </a:defRPr>
            </a:pPr>
            <a:r>
              <a:t>MÔ HÌNH 3 TẦNG &amp; 3 ĐIỂM NGUY CƠ</a:t>
            </a:r>
          </a:p>
          <a:p>
            <a:pPr>
              <a:spcBef>
                <a:spcPts val="800"/>
              </a:spcBef>
              <a:defRPr sz="1100" b="1">
                <a:solidFill>
                  <a:srgbClr val="0F172A"/>
                </a:solidFill>
                <a:latin typeface="Arial"/>
              </a:defRPr>
            </a:pPr>
            <a:r>
              <a:t>1. Browser / Client DOM</a:t>
            </a:r>
          </a:p>
          <a:p>
            <a:pPr>
              <a:spcBef>
                <a:spcPts val="200"/>
              </a:spcBef>
              <a:defRPr sz="1050" b="0">
                <a:solidFill>
                  <a:srgbClr val="BE123C"/>
                </a:solidFill>
                <a:latin typeface="Arial"/>
              </a:defRPr>
            </a:pPr>
            <a:r>
              <a:t>   ➔ ⚠️ Nguy cơ: Stored XSS (Đánh cắp Cookie)</a:t>
            </a:r>
          </a:p>
          <a:p>
            <a:pPr>
              <a:spcBef>
                <a:spcPts val="800"/>
              </a:spcBef>
              <a:defRPr sz="1100" b="1">
                <a:solidFill>
                  <a:srgbClr val="0F172A"/>
                </a:solidFill>
                <a:latin typeface="Arial"/>
              </a:defRPr>
            </a:pPr>
            <a:r>
              <a:t>2. Web Server (ASP.NET Core)</a:t>
            </a:r>
          </a:p>
          <a:p>
            <a:pPr>
              <a:spcBef>
                <a:spcPts val="200"/>
              </a:spcBef>
              <a:defRPr sz="1050" b="0">
                <a:solidFill>
                  <a:srgbClr val="BE123C"/>
                </a:solidFill>
                <a:latin typeface="Arial"/>
              </a:defRPr>
            </a:pPr>
            <a:r>
              <a:t>   ➔ ⚠️ Nguy cơ: CSRF (Mượn quyền giao dịch)</a:t>
            </a:r>
          </a:p>
          <a:p>
            <a:pPr>
              <a:spcBef>
                <a:spcPts val="800"/>
              </a:spcBef>
              <a:defRPr sz="1100" b="1">
                <a:solidFill>
                  <a:srgbClr val="0F172A"/>
                </a:solidFill>
                <a:latin typeface="Arial"/>
              </a:defRPr>
            </a:pPr>
            <a:r>
              <a:t>3. Database Server (SQL Server 2025)</a:t>
            </a:r>
          </a:p>
          <a:p>
            <a:pPr>
              <a:spcBef>
                <a:spcPts val="200"/>
              </a:spcBef>
              <a:defRPr sz="1050" b="0">
                <a:solidFill>
                  <a:srgbClr val="BE123C"/>
                </a:solidFill>
                <a:latin typeface="Arial"/>
              </a:defRPr>
            </a:pPr>
            <a:r>
              <a:t>   ➔ ⚠️ Nguy cơ: SQL Injection (Bẻ gãy cú pháp)</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latin typeface="Arial"/>
              </a:defRPr>
            </a:pPr>
            <a:r>
              <a:t>CHỦ ĐỀ 1: SQL INJECTION</a:t>
            </a:r>
          </a:p>
          <a:p>
            <a:pPr>
              <a:spcBef>
                <a:spcPts val="400"/>
              </a:spcBef>
              <a:defRPr sz="1200" b="0">
                <a:solidFill>
                  <a:srgbClr val="0F172A"/>
                </a:solidFill>
                <a:latin typeface="Arial"/>
              </a:defRPr>
            </a:pPr>
            <a:r>
              <a:t>Nguyễn Danh Học</a:t>
            </a:r>
            <a:br/>
            <a:r>
              <a:t>MSV: 23A1001D0158</a:t>
            </a:r>
            <a:br/>
            <a:r>
              <a:t>Trưởng nhóm • Phụ trách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BE123C"/>
                </a:solidFill>
                <a:latin typeface="Arial"/>
              </a:defRPr>
            </a:pPr>
            <a:r>
              <a:t>CHỦ ĐỀ 2: STORED XSS</a:t>
            </a:r>
          </a:p>
          <a:p>
            <a:pPr>
              <a:spcBef>
                <a:spcPts val="400"/>
              </a:spcBef>
              <a:defRPr sz="1200" b="0">
                <a:solidFill>
                  <a:srgbClr val="0F172A"/>
                </a:solidFill>
                <a:latin typeface="Arial"/>
              </a:defRPr>
            </a:pPr>
            <a:r>
              <a:t>Nguyễn Thanh Bình</a:t>
            </a:r>
            <a:br/>
            <a:r>
              <a:t>MSV: 23A1001D0041</a:t>
            </a:r>
            <a:br/>
            <a:r>
              <a:t>Thành viên • Phụ trách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47857"/>
                </a:solidFill>
                <a:latin typeface="Arial"/>
              </a:defRPr>
            </a:pPr>
            <a:r>
              <a:t>CHỦ ĐỀ 3: CSRF ATTACK</a:t>
            </a:r>
          </a:p>
          <a:p>
            <a:pPr>
              <a:spcBef>
                <a:spcPts val="400"/>
              </a:spcBef>
              <a:defRPr sz="1200" b="0">
                <a:solidFill>
                  <a:srgbClr val="0F172A"/>
                </a:solidFill>
                <a:latin typeface="Arial"/>
              </a:defRPr>
            </a:pPr>
            <a:r>
              <a:t>Nguyễn Minh Cường</a:t>
            </a:r>
            <a:br/>
            <a:r>
              <a:t>MSV: 23A1001D0058</a:t>
            </a:r>
            <a:br/>
            <a:r>
              <a:t>Thành viên • Phụ trách Giao dịch &amp; Token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Môi Trường Công Nghệ &amp; Phạm Vi Thực Nghiệm</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TECH STACK (MÔI TRƯỜNG KỸ THUẬT)</a:t>
            </a:r>
          </a:p>
          <a:p>
            <a:pPr>
              <a:spcBef>
                <a:spcPts val="800"/>
              </a:spcBef>
              <a:defRPr sz="1200" b="0">
                <a:solidFill>
                  <a:srgbClr val="334155"/>
                </a:solidFill>
                <a:latin typeface="Arial"/>
              </a:defRPr>
            </a:pPr>
            <a:r>
              <a:t>• Operating System:</a:t>
            </a:r>
            <a:br/>
            <a:r>
              <a:t>  Ubuntu 24.04 LTS / Linux Kernel 6.8</a:t>
            </a:r>
          </a:p>
          <a:p>
            <a:pPr>
              <a:spcBef>
                <a:spcPts val="600"/>
              </a:spcBef>
              <a:defRPr sz="1200" b="0">
                <a:solidFill>
                  <a:srgbClr val="334155"/>
                </a:solidFill>
                <a:latin typeface="Arial"/>
              </a:defRPr>
            </a:pPr>
            <a:r>
              <a:t>• Backend Platform:</a:t>
            </a:r>
            <a:br/>
            <a:r>
              <a:t>  ASP.NET Core MVC / .NET 10.0</a:t>
            </a:r>
          </a:p>
          <a:p>
            <a:pPr>
              <a:spcBef>
                <a:spcPts val="600"/>
              </a:spcBef>
              <a:defRPr sz="1200" b="0">
                <a:solidFill>
                  <a:srgbClr val="334155"/>
                </a:solidFill>
                <a:latin typeface="Arial"/>
              </a:defRPr>
            </a:pPr>
            <a:r>
              <a:t>• Database Engine:</a:t>
            </a:r>
            <a:br/>
            <a:r>
              <a:t>  Microsoft SQL Server 2025 Developer (Port 1433)</a:t>
            </a:r>
          </a:p>
          <a:p>
            <a:pPr>
              <a:spcBef>
                <a:spcPts val="600"/>
              </a:spcBef>
              <a:defRPr sz="1200" b="0">
                <a:solidFill>
                  <a:srgbClr val="334155"/>
                </a:solidFill>
                <a:latin typeface="Arial"/>
              </a:defRPr>
            </a:pPr>
            <a:r>
              <a:t>• Frontend Engine:</a:t>
            </a:r>
            <a:br/>
            <a:r>
              <a:t>  Razor View, HTML5, CSS3, JavaScript</a:t>
            </a:r>
          </a:p>
          <a:p>
            <a:pPr>
              <a:spcBef>
                <a:spcPts val="600"/>
              </a:spcBef>
              <a:defRPr sz="1200" b="0">
                <a:solidFill>
                  <a:srgbClr val="334155"/>
                </a:solidFill>
                <a:latin typeface="Arial"/>
              </a:defRPr>
            </a:pPr>
            <a:r>
              <a:t>• Development &amp; Testing Tools:</a:t>
            </a:r>
            <a:br/>
            <a:r>
              <a:t>  VS Code, Chrome DevTools, cURL CLI, MSSQL Extension</a:t>
            </a:r>
          </a:p>
        </p:txBody>
      </p:sp>
      <p:sp>
        <p:nvSpPr>
          <p:cNvPr id="7" name="Rounded Rectangle 6"/>
          <p:cNvSpPr/>
          <p:nvPr/>
        </p:nvSpPr>
        <p:spPr>
          <a:xfrm>
            <a:off x="626364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LAB SCOPE (PHẠM VI &amp; NGUYÊN TẮC ĐẠO ĐỨC)</a:t>
            </a:r>
          </a:p>
          <a:p>
            <a:pPr>
              <a:spcBef>
                <a:spcPts val="800"/>
              </a:spcBef>
              <a:defRPr sz="1200" b="0">
                <a:solidFill>
                  <a:srgbClr val="334155"/>
                </a:solidFill>
                <a:latin typeface="Arial"/>
              </a:defRPr>
            </a:pPr>
            <a:r>
              <a:t>✓ Môi trường cô lập (Localhost):</a:t>
            </a:r>
            <a:br/>
            <a:r>
              <a:t>Thực nghiệm hoàn toàn trên ứng dụng do nhóm tự xây dựng (http://localhost:5076), tuyệt đối không quét hay tấn công hệ thống bên ngoài.</a:t>
            </a:r>
          </a:p>
          <a:p>
            <a:pPr>
              <a:spcBef>
                <a:spcPts val="1000"/>
              </a:spcBef>
              <a:defRPr sz="1200" b="0">
                <a:solidFill>
                  <a:srgbClr val="334155"/>
                </a:solidFill>
                <a:latin typeface="Arial"/>
              </a:defRPr>
            </a:pPr>
            <a:r>
              <a:t>✓ Thiết kế đối chứng song song:</a:t>
            </a:r>
            <a:br/>
            <a:r>
              <a:t>Mỗi lỗ hổng đều xây dựng 2 nhánh: Vulnerable (minh họa lỗi) vs Secure (chứng minh phòng thủ).</a:t>
            </a:r>
          </a:p>
          <a:p>
            <a:pPr>
              <a:spcBef>
                <a:spcPts val="1000"/>
              </a:spcBef>
              <a:defRPr sz="1200" b="0">
                <a:solidFill>
                  <a:srgbClr val="334155"/>
                </a:solidFill>
                <a:latin typeface="Arial"/>
              </a:defRPr>
            </a:pPr>
            <a:r>
              <a:t>✓ Dữ liệu mô phỏng an toàn:</a:t>
            </a:r>
            <a:br/>
            <a:r>
              <a:t>Toàn bộ tài khoản, số dư và mật khẩu là dữ liệu giả định phục vụ học tập.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1.1. SQL Injection — Lỗi Xảy Ra Ở Đâu &amp; Nguyên Nhân Cốt Lõi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Sơ Đồ Luồng Xử Lý &amp; Root Cause</a:t>
            </a:r>
          </a:p>
          <a:p>
            <a:pPr>
              <a:spcBef>
                <a:spcPts val="1000"/>
              </a:spcBef>
              <a:defRPr sz="1200" b="1">
                <a:solidFill>
                  <a:srgbClr val="1D4ED8"/>
                </a:solidFill>
                <a:latin typeface="Arial"/>
              </a:defRPr>
            </a:pPr>
            <a:r>
              <a:t>Browser (Client) ➔ Gửi Input (' OR '1'='1' --)</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ASP.NET Core Controller ➔ Ghép chuỗi SQL trực tiếp</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SQL Server 2025 ➔ Thực thi câu lệnh bị bẻ gãy cú pháp</a:t>
            </a:r>
          </a:p>
          <a:p>
            <a:br/>
            <a:pPr>
              <a:spcBef>
                <a:spcPts val="1000"/>
              </a:spcBef>
              <a:defRPr sz="1200" b="0">
                <a:solidFill>
                  <a:srgbClr val="334155"/>
                </a:solidFill>
                <a:latin typeface="Arial"/>
              </a:defRPr>
            </a:pPr>
            <a:r>
              <a:t>📌 ROOT CAUSE (Nguyên nhân cốt lõi):</a:t>
            </a:r>
            <a:br/>
            <a:r>
              <a:t>Dữ liệu người dùng được ghép trực tiếp vào câu lệnh SQL. Hệ CSDL không phân định được ranh giới giữa Dữ liệu (Data) và Lệnh thực thi (Code).</a:t>
            </a:r>
          </a:p>
        </p:txBody>
      </p:sp>
      <p:sp>
        <p:nvSpPr>
          <p:cNvPr id="7" name="Rounded Rectangle 6"/>
          <p:cNvSpPr/>
          <p:nvPr/>
        </p:nvSpPr>
        <p:spPr>
          <a:xfrm>
            <a:off x="6263640" y="128016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 VULNERABLE CODE (Ghép Chuỗi SQL)</a:t>
            </a:r>
          </a:p>
          <a:p>
            <a:pPr>
              <a:spcBef>
                <a:spcPts val="1000"/>
              </a:spcBef>
              <a:defRPr sz="1100" b="0">
                <a:solidFill>
                  <a:srgbClr val="9F1239"/>
                </a:solidFill>
                <a:latin typeface="Courier New"/>
              </a:defRPr>
            </a:pPr>
            <a:r>
              <a:t>// Nối chuỗi trực tiếp từ tham số đầu vào:</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b="1">
                <a:solidFill>
                  <a:srgbClr val="0F172A"/>
                </a:solidFill>
                <a:latin typeface="Arial"/>
              </a:defRPr>
            </a:pPr>
            <a:r>
              <a:t>Cơ chế phá vỡ:</a:t>
            </a:r>
            <a:br/>
            <a:r>
              <a:t>Dấu nháy đơn (') đóng chuỗi sớm, biến mệnh đề kiểm tra mật khẩu thành chú thích (--), mở toang quyền truy cập CSDL.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1.2. SQL Injection — 3 Kịch Bản Khai Thác Thực Nghiệm</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10728655" cy="146304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BE123C"/>
                </a:solidFill>
                <a:latin typeface="Arial"/>
              </a:defRPr>
            </a:pPr>
            <a:r>
              <a:t>01 — BYPASS ĐĂNG NHẬP TỔNG QUÁT: ' OR '1'='1' --</a:t>
            </a:r>
          </a:p>
          <a:p>
            <a:pPr>
              <a:spcBef>
                <a:spcPts val="400"/>
              </a:spcBef>
              <a:defRPr sz="1150" b="0">
                <a:solidFill>
                  <a:srgbClr val="334155"/>
                </a:solidFill>
                <a:latin typeface="Arial"/>
              </a:defRPr>
            </a:pPr>
            <a:r>
              <a:t>• Cơ chế: Dấu nháy đơn (') đóng chuỗi; mệnh đề OR '1'='1' luôn đúng cho mọi dòng; ký tự '--' vô hiệu hóa bước kiểm tra mật khẩu.</a:t>
            </a:r>
            <a:br/>
            <a:r>
              <a:t>• Kết quả thực tế: Vượt qua xác thực thành công, đăng nhập ngay vào tài khoản đầu tiên trong bảng (Admin).</a:t>
            </a:r>
          </a:p>
        </p:txBody>
      </p:sp>
      <p:sp>
        <p:nvSpPr>
          <p:cNvPr id="7" name="Rounded Rectangle 6"/>
          <p:cNvSpPr/>
          <p:nvPr/>
        </p:nvSpPr>
        <p:spPr>
          <a:xfrm>
            <a:off x="731520" y="2926080"/>
            <a:ext cx="10728655" cy="146304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B45309"/>
                </a:solidFill>
                <a:latin typeface="Arial"/>
              </a:defRPr>
            </a:pPr>
            <a:r>
              <a:t>02 — TẤN CÔNG ĐÍCH DANH QUẢN TRỊ VIÊN: admin' --</a:t>
            </a:r>
          </a:p>
          <a:p>
            <a:pPr>
              <a:spcBef>
                <a:spcPts val="400"/>
              </a:spcBef>
              <a:defRPr sz="1150" b="0">
                <a:solidFill>
                  <a:srgbClr val="334155"/>
                </a:solidFill>
                <a:latin typeface="Arial"/>
              </a:defRPr>
            </a:pPr>
            <a:r>
              <a:t>• Cơ chế: Cố định Username = 'admin'; ký tự '--' cắt bỏ hoàn toàn mệnh đề 'AND Password = ...' phía sau.</a:t>
            </a:r>
            <a:br/>
            <a:r>
              <a:t>• Kết quả thực tế: Chiếm đoạt chính xác tài khoản Admin cấp cao nhất mà không cần nhập mật khẩu.</a:t>
            </a:r>
          </a:p>
        </p:txBody>
      </p:sp>
      <p:sp>
        <p:nvSpPr>
          <p:cNvPr id="8" name="Rounded Rectangle 7"/>
          <p:cNvSpPr/>
          <p:nvPr/>
        </p:nvSpPr>
        <p:spPr>
          <a:xfrm>
            <a:off x="731520" y="4572000"/>
            <a:ext cx="10728655" cy="14630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D4ED8"/>
                </a:solidFill>
                <a:latin typeface="Arial"/>
              </a:defRPr>
            </a:pPr>
            <a:r>
              <a:t>03 — ĐĂNG NHẬP CHUẨN HỢP LỆ: admin / AdminPassword@2026</a:t>
            </a:r>
          </a:p>
          <a:p>
            <a:pPr>
              <a:spcBef>
                <a:spcPts val="400"/>
              </a:spcBef>
              <a:defRPr sz="1150" b="0">
                <a:solidFill>
                  <a:srgbClr val="334155"/>
                </a:solidFill>
                <a:latin typeface="Arial"/>
              </a:defRPr>
            </a:pPr>
            <a:r>
              <a:t>• Cơ chế: Dữ liệu người dùng bình thường, không chứa ký tự điều khiển hay can thiệp cú pháp.</a:t>
            </a:r>
            <a:br/>
            <a:r>
              <a:t>• Kết quả đối chứng: Đăng nhập thành công trên cả 2 nhánh (Lỗi &amp; An toàn), chứng minh hệ thống hoạt động đúng nghiệp vụ.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1.3. SQL Injection —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sqli_proof.png"/>
          <p:cNvPicPr>
            <a:picLocks noChangeAspect="1"/>
          </p:cNvPicPr>
          <p:nvPr/>
        </p:nvPicPr>
        <p:blipFill>
          <a:blip r:embed="rId2"/>
          <a:stretch>
            <a:fillRect/>
          </a:stretch>
        </p:blipFill>
        <p:spPr>
          <a:xfrm>
            <a:off x="2066543" y="1234440"/>
            <a:ext cx="8046720" cy="475488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1D4ED8"/>
                </a:solidFill>
                <a:latin typeface="Arial"/>
              </a:defRPr>
            </a:pPr>
            <a:r>
              <a:t>🔴 Vulnerable: Trích xuất 4 tài khoản CSDL khi inject ' OR '1'='1' --  vs  🟢 Secure: Chặn đứng an toàn với EF Core (0 kết quả)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1.4. SQL Injection — Minh Chứng Gói Tin Mạng (Chrome DevTools Network)</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1_sqli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1D4ED8"/>
                </a:solidFill>
                <a:latin typeface="Arial"/>
              </a:defRPr>
            </a:pPr>
            <a:r>
              <a:t>Soi gói tin mạng (Network Fetch/XHR): Payload gửi lên mang chuỗi ' OR '1'='1' -- và JSON trích xuất 4 tài khoản rò rỉ</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1.5. SQL Injection — Cơ Chế Phòng Thủ Chuẩn Hóa</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 SECURE CODE: PARAMETERIZED QUERY</a:t>
            </a:r>
          </a:p>
          <a:p>
            <a:pPr>
              <a:spcBef>
                <a:spcPts val="800"/>
              </a:spcBef>
              <a:defRPr sz="1100" b="0">
                <a:solidFill>
                  <a:srgbClr val="065F46"/>
                </a:solidFill>
                <a:latin typeface="Courier New"/>
              </a:defRPr>
            </a:pPr>
            <a:r>
              <a:t>// DÙNG LINQ PARAMETERIZED TRONG EF CORE:</a:t>
            </a:r>
            <a:br/>
            <a:r>
              <a:t>var account = _context.Accounts</a:t>
            </a:r>
            <a:br/>
            <a:r>
              <a:t>    .FirstOrDefault(a =&gt; a.Username == user </a:t>
            </a:r>
            <a:br/>
            <a:r>
              <a:t>                      &amp;&amp; a.Password == pass);</a:t>
            </a:r>
          </a:p>
          <a:p>
            <a:pPr>
              <a:spcBef>
                <a:spcPts val="1400"/>
              </a:spcBef>
              <a:defRPr sz="1250" b="1">
                <a:solidFill>
                  <a:srgbClr val="0F172A"/>
                </a:solidFill>
                <a:latin typeface="Arial"/>
              </a:defRPr>
            </a:pPr>
            <a:r>
              <a:t>Nguyên tắc cốt lõi: Data ≠ SQL Syntax</a:t>
            </a:r>
          </a:p>
          <a:p>
            <a:pPr>
              <a:spcBef>
                <a:spcPts val="600"/>
              </a:spcBef>
              <a:defRPr sz="1200" b="0">
                <a:solidFill>
                  <a:srgbClr val="334155"/>
                </a:solidFill>
                <a:latin typeface="Arial"/>
              </a:defRPr>
            </a:pPr>
            <a:r>
              <a:t>• Máy chủ SQL Server biên dịch cấu trúc cây truy vấn (Execution Plan) TRƯỚC khi nhận tham số.</a:t>
            </a:r>
            <a:br/>
            <a:r>
              <a:t>• Biến @p0, @p1 nhận toàn bộ payload như một giá trị văn bản (literal), vô hiệu hóa hoàn toàn ý đồ chèn lệnh.</a:t>
            </a:r>
          </a:p>
        </p:txBody>
      </p:sp>
      <p:sp>
        <p:nvSpPr>
          <p:cNvPr id="7" name="Rounded Rectangle 6"/>
          <p:cNvSpPr/>
          <p:nvPr/>
        </p:nvSpPr>
        <p:spPr>
          <a:xfrm>
            <a:off x="626364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BẢO VỆ MẬT KHẨU (TÁCH BIỆT LOGIC)</a:t>
            </a:r>
          </a:p>
          <a:p>
            <a:pPr>
              <a:spcBef>
                <a:spcPts val="800"/>
              </a:spcBef>
              <a:defRPr sz="1200" b="1">
                <a:solidFill>
                  <a:srgbClr val="0F172A"/>
                </a:solidFill>
                <a:latin typeface="Arial"/>
              </a:defRPr>
            </a:pPr>
            <a:r>
              <a:t>Phân định rõ ràng trong báo cáo bảo mật:</a:t>
            </a:r>
          </a:p>
          <a:p>
            <a:pPr>
              <a:spcBef>
                <a:spcPts val="600"/>
              </a:spcBef>
              <a:defRPr sz="1200" b="1">
                <a:solidFill>
                  <a:srgbClr val="047857"/>
                </a:solidFill>
                <a:latin typeface="Arial"/>
              </a:defRPr>
            </a:pPr>
            <a:r>
              <a:t>1. Phòng thủ SQL Injection: Dùng Parameterized Query / EF Core LINQ.</a:t>
            </a:r>
          </a:p>
          <a:p>
            <a:pPr>
              <a:spcBef>
                <a:spcPts val="800"/>
              </a:spcBef>
              <a:defRPr sz="1200" b="1">
                <a:solidFill>
                  <a:srgbClr val="1D4ED8"/>
                </a:solidFill>
                <a:latin typeface="Arial"/>
              </a:defRPr>
            </a:pPr>
            <a:r>
              <a:t>2. Bảo vệ mật khẩu (Defense-in-Depth): Dùng Password Hashing (ASP.NET Core Identity PBKDF2) kèm Salt ngẫu nhiên.</a:t>
            </a:r>
          </a:p>
          <a:p>
            <a:pPr>
              <a:spcBef>
                <a:spcPts val="800"/>
              </a:spcBef>
              <a:defRPr sz="1200" b="0">
                <a:solidFill>
                  <a:srgbClr val="334155"/>
                </a:solidFill>
                <a:latin typeface="Arial"/>
              </a:defRPr>
            </a:pPr>
            <a:r>
              <a:t>3. Đặc quyền tối thiểu (Least Privilege): Ứng dụng chỉ được cấp quyền SELECT/INSERT/UPDATE trên bảng cần thiết, cấm quyền sa/DDL.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2.1. Stored XSS — Lỗi Phát Tán Như Thế Nào &amp; Nguyên Nhân Gốc</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Sơ Đồ Luồng Phát Tán Của Stored XSS</a:t>
            </a:r>
          </a:p>
          <a:p>
            <a:pPr>
              <a:spcBef>
                <a:spcPts val="800"/>
              </a:spcBef>
              <a:defRPr sz="1200" b="1">
                <a:solidFill>
                  <a:srgbClr val="BE123C"/>
                </a:solidFill>
                <a:latin typeface="Arial"/>
              </a:defRPr>
            </a:pPr>
            <a:r>
              <a:t>Attacker ➔ Nhập mã JavaScript vào Form đánh giá</a:t>
            </a:r>
          </a:p>
          <a:p>
            <a:pPr>
              <a:spcBef>
                <a:spcPts val="200"/>
              </a:spcBef>
              <a:defRPr sz="1200" b="1">
                <a:solidFill>
                  <a:srgbClr val="64748B"/>
                </a:solidFill>
                <a:latin typeface="Arial"/>
              </a:defRPr>
            </a:pPr>
            <a:r>
              <a:t>            │</a:t>
            </a:r>
            <a:br/>
            <a:r>
              <a:t>            ▼</a:t>
            </a:r>
          </a:p>
          <a:p>
            <a:pPr>
              <a:spcBef>
                <a:spcPts val="200"/>
              </a:spcBef>
              <a:defRPr sz="1200" b="1">
                <a:solidFill>
                  <a:srgbClr val="0F172A"/>
                </a:solidFill>
                <a:latin typeface="Arial"/>
              </a:defRPr>
            </a:pPr>
            <a:r>
              <a:t>Web Server ➔ Lưu nguyên văn mã độc vào CSDL (dbo.Comments)</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Victim Browser ➔ Tải trang, tự động biên dịch &amp; thực thi script</a:t>
            </a:r>
          </a:p>
          <a:p>
            <a:br/>
            <a:pPr>
              <a:spcBef>
                <a:spcPts val="800"/>
              </a:spcBef>
              <a:defRPr sz="1200" b="0">
                <a:solidFill>
                  <a:srgbClr val="334155"/>
                </a:solidFill>
                <a:latin typeface="Arial"/>
              </a:defRPr>
            </a:pPr>
            <a:r>
              <a:t>📌 ROOT CAUSE (Nguyên nhân cốt lõi):</a:t>
            </a:r>
            <a:br/>
            <a:r>
              <a:t>Dữ liệu người dùng không tin cậy được render trực tiếp ra trình duyệt mà không qua cơ chế mã hóa đầu ra (Output Encoding).</a:t>
            </a:r>
          </a:p>
        </p:txBody>
      </p:sp>
      <p:sp>
        <p:nvSpPr>
          <p:cNvPr id="7" name="Rounded Rectangle 6"/>
          <p:cNvSpPr/>
          <p:nvPr/>
        </p:nvSpPr>
        <p:spPr>
          <a:xfrm>
            <a:off x="6263640" y="128016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 VULNERABLE: SỰ LẠM DỤNG @Html.Raw()</a:t>
            </a:r>
          </a:p>
          <a:p>
            <a:pPr>
              <a:spcBef>
                <a:spcPts val="600"/>
              </a:spcBef>
              <a:defRPr sz="1000" b="0">
                <a:solidFill>
                  <a:srgbClr val="9F1239"/>
                </a:solidFill>
                <a:latin typeface="Courier New"/>
              </a:defRPr>
            </a:pPr>
            <a:r>
              <a:t>// CONTROLLER LƯU NGUYÊN VĂN NỘI DUNG VÀO CSDL:</a:t>
            </a:r>
            <a:br/>
            <a:r>
              <a:t>var comment = new Comment {</a:t>
            </a:r>
            <a:br/>
            <a:r>
              <a:t>    Author = author,</a:t>
            </a:r>
            <a:br/>
            <a:r>
              <a:t>    Content = content // Chứa thẻ &lt;script&gt; độc hại</a:t>
            </a:r>
            <a:br/>
            <a:r>
              <a:t>};</a:t>
            </a:r>
            <a:br/>
            <a:r>
              <a:t>_context.Comments.Add(comment);</a:t>
            </a:r>
            <a:br/>
            <a:br/>
            <a:r>
              <a:t>// RAZOR VIEW HIỂN THỊ DỮ LIỆU THÔ BẰNG HTML.RAW:</a:t>
            </a:r>
            <a:br/>
            <a:r>
              <a:t>&lt;div class="comment-body"&gt;</a:t>
            </a:r>
            <a:br/>
            <a:r>
              <a:t>    @Html.Raw(comment.Content)</a:t>
            </a:r>
            <a:br/>
            <a:r>
              <a:t>&lt;/div&gt;</a:t>
            </a:r>
          </a:p>
          <a:p>
            <a:pPr>
              <a:spcBef>
                <a:spcPts val="1000"/>
              </a:spcBef>
              <a:defRPr sz="1200" b="1">
                <a:solidFill>
                  <a:srgbClr val="0F172A"/>
                </a:solidFill>
                <a:latin typeface="Arial"/>
              </a:defRPr>
            </a:pPr>
            <a:r>
              <a:t>Điểm mù kỹ thuật:</a:t>
            </a:r>
            <a:br/>
            <a:r>
              <a:t>@Html.Raw() vô hiệu hóa tính năng tự động mã hóa HTML của Razor View, mở toang cửa cho script độc hại chạy trên máy người dùng.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2.2. Stored XSS — 3 Kịch Bản Tiêm Mã Độc Thực Nghiệm</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10728655" cy="146304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BE123C"/>
                </a:solidFill>
                <a:latin typeface="Arial"/>
              </a:defRPr>
            </a:pPr>
            <a:r>
              <a:t>01 — ĐÁNH CẮP COOKIE / SESSION: &lt;script&gt;alert(document.cookie);&lt;/script&gt;</a:t>
            </a:r>
          </a:p>
          <a:p>
            <a:pPr>
              <a:spcBef>
                <a:spcPts val="400"/>
              </a:spcBef>
              <a:defRPr sz="1150" b="0">
                <a:solidFill>
                  <a:srgbClr val="334155"/>
                </a:solidFill>
                <a:latin typeface="Arial"/>
              </a:defRPr>
            </a:pPr>
            <a:r>
              <a:t>• Cơ chế: Trình duyệt thực thi thẻ &lt;script&gt; và đọc toàn bộ giá trị lưu trong thuộc tính document.cookie.</a:t>
            </a:r>
            <a:br/>
            <a:r>
              <a:t>• Hậu quả: Hacker chiếm đoạt Session Token (Cookie Stealing) để đăng nhập mạo danh người dùng hợp lệ.</a:t>
            </a:r>
          </a:p>
        </p:txBody>
      </p:sp>
      <p:sp>
        <p:nvSpPr>
          <p:cNvPr id="7" name="Rounded Rectangle 6"/>
          <p:cNvSpPr/>
          <p:nvPr/>
        </p:nvSpPr>
        <p:spPr>
          <a:xfrm>
            <a:off x="731520" y="2926080"/>
            <a:ext cx="10728655" cy="146304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B45309"/>
                </a:solidFill>
                <a:latin typeface="Arial"/>
              </a:defRPr>
            </a:pPr>
            <a:r>
              <a:t>02 — BYPASS BỘ LỌC QUA EVENT HANDLER: &lt;img src=x onerror=alert('XSS!')&gt;</a:t>
            </a:r>
          </a:p>
          <a:p>
            <a:pPr>
              <a:spcBef>
                <a:spcPts val="400"/>
              </a:spcBef>
              <a:defRPr sz="1150" b="0">
                <a:solidFill>
                  <a:srgbClr val="334155"/>
                </a:solidFill>
                <a:latin typeface="Arial"/>
              </a:defRPr>
            </a:pPr>
            <a:r>
              <a:t>• Cơ chế: Khi đường dẫn ảnh bị lỗi (src=x), trình duyệt lập tức kích hoạt sự kiện onerror để chạy mã JavaScript.</a:t>
            </a:r>
            <a:br/>
            <a:r>
              <a:t>• Mục tiêu: Vượt qua các bộ lọc từ khóa đơn giản chỉ chặn chuỗi '&lt;script&gt;'.</a:t>
            </a:r>
          </a:p>
        </p:txBody>
      </p:sp>
      <p:sp>
        <p:nvSpPr>
          <p:cNvPr id="8" name="Rounded Rectangle 7"/>
          <p:cNvSpPr/>
          <p:nvPr/>
        </p:nvSpPr>
        <p:spPr>
          <a:xfrm>
            <a:off x="731520" y="4572000"/>
            <a:ext cx="10728655" cy="14630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D4ED8"/>
                </a:solidFill>
                <a:latin typeface="Arial"/>
              </a:defRPr>
            </a:pPr>
            <a:r>
              <a:t>03 — ĐÁNH GIÁ CHUẨN HỢP LỆ: Dịch vụ tư vấn rất chuyên nghiệp, 5 sao!</a:t>
            </a:r>
          </a:p>
          <a:p>
            <a:pPr>
              <a:spcBef>
                <a:spcPts val="400"/>
              </a:spcBef>
              <a:defRPr sz="1150" b="0">
                <a:solidFill>
                  <a:srgbClr val="334155"/>
                </a:solidFill>
                <a:latin typeface="Arial"/>
              </a:defRPr>
            </a:pPr>
            <a:r>
              <a:t>• Cơ chế: Văn bản thuần túy không chứa thẻ HTML hay kịch bản đặc biệt.</a:t>
            </a:r>
            <a:br/>
            <a:r>
              <a:t>• Kết quả đối chứng: Hiển thị an toàn trên cả 2 nhánh (Lỗi &amp; Đã phòng thủ).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2.3. Stored XSS —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xss_proof.png"/>
          <p:cNvPicPr>
            <a:picLocks noChangeAspect="1"/>
          </p:cNvPicPr>
          <p:nvPr/>
        </p:nvPicPr>
        <p:blipFill>
          <a:blip r:embed="rId2"/>
          <a:stretch>
            <a:fillRect/>
          </a:stretch>
        </p:blipFill>
        <p:spPr>
          <a:xfrm>
            <a:off x="2615184" y="1234440"/>
            <a:ext cx="6949440" cy="458470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BE123C"/>
                </a:solidFill>
                <a:latin typeface="Arial"/>
              </a:defRPr>
            </a:pPr>
            <a:r>
              <a:t>🔴 Vulnerable: Script lưu CSDL tự động bật popup Alert  vs  🟢 Secure: Razor tự động mã hóa HTML thành chữ an toàn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2.4. Stored XSS — Minh Chứng Kiểm Thử Qua Chrome DevTools (Cookie &amp; Console)</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2_xss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BE123C"/>
                </a:solidFill>
                <a:latin typeface="Arial"/>
              </a:defRPr>
            </a:pPr>
            <a:r>
              <a:t>Mô phỏng Lab: Nhánh vulnerable cấu hình HttpOnly = false để minh họa JavaScript đọc trộm Session Cookie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2.5. Stored XSS — Cơ Chế Phòng Thủ Chuẩn Trong ASP.NET Core</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 SECURE: TỰ ĐỘNG HTML ENCODING</a:t>
            </a:r>
          </a:p>
          <a:p>
            <a:pPr>
              <a:spcBef>
                <a:spcPts val="800"/>
              </a:spcBef>
              <a:defRPr sz="1050" b="0">
                <a:solidFill>
                  <a:srgbClr val="065F46"/>
                </a:solidFill>
                <a:latin typeface="Courier New"/>
              </a:defRPr>
            </a:pPr>
            <a:r>
              <a:t>// CÚ PHÁP RAZOR VIEW MẶC ĐỊNH (KHÔNG DÙNG HTML.RAW):</a:t>
            </a:r>
            <a:br/>
            <a:r>
              <a:t>&lt;p&gt;@comment.Content&lt;/p&gt;</a:t>
            </a:r>
            <a:br/>
            <a:br/>
            <a:r>
              <a:t>// HOẶC MÃ HÓA TẠI CONTROLLER VỚI HTMLENCODER:</a:t>
            </a:r>
            <a:br/>
            <a:r>
              <a:t>string encoded = HtmlEncoder.Default.Encode(content);</a:t>
            </a:r>
            <a:br/>
            <a:r>
              <a:t>comment.Content = encoded;</a:t>
            </a:r>
          </a:p>
          <a:p>
            <a:pPr>
              <a:spcBef>
                <a:spcPts val="1200"/>
              </a:spcBef>
              <a:defRPr sz="1200" b="0">
                <a:solidFill>
                  <a:srgbClr val="334155"/>
                </a:solidFill>
                <a:latin typeface="Arial"/>
              </a:defRPr>
            </a:pPr>
            <a:r>
              <a:t>Cơ chế biến đổi ký tự nhạy cảm:</a:t>
            </a:r>
            <a:br/>
            <a:r>
              <a:t>• '&lt;' biến đổi thành &amp;lt;</a:t>
            </a:r>
            <a:br/>
            <a:r>
              <a:t>• '&gt;' biến đổi thành &amp;gt;</a:t>
            </a:r>
            <a:br/>
            <a:r>
              <a:t>Trình duyệt chỉ hiển thị dưới dạng văn bản thuần, không thực thi script.</a:t>
            </a:r>
          </a:p>
        </p:txBody>
      </p:sp>
      <p:sp>
        <p:nvSpPr>
          <p:cNvPr id="7" name="Rounded Rectangle 6"/>
          <p:cNvSpPr/>
          <p:nvPr/>
        </p:nvSpPr>
        <p:spPr>
          <a:xfrm>
            <a:off x="626364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CẤU HÌNH COOKIE AN TOÀN (PRODUCTION)</a:t>
            </a:r>
          </a:p>
          <a:p>
            <a:pPr>
              <a:spcBef>
                <a:spcPts val="800"/>
              </a:spcBef>
              <a:defRPr sz="1000" b="0">
                <a:solidFill>
                  <a:srgbClr val="0F172A"/>
                </a:solidFill>
                <a:latin typeface="Courier New"/>
              </a:defRPr>
            </a:pPr>
            <a:r>
              <a:t>// BẢO VỆ COOKIE PHIÊN TRONG SẢN PHẨM THỰC TẾ:</a:t>
            </a:r>
            <a:br/>
            <a:r>
              <a:t>Response.Cookies.Append("AuthSessionToken", token, new CookieOptions</a:t>
            </a:r>
            <a:br/>
            <a:r>
              <a:t>{</a:t>
            </a:r>
            <a:br/>
            <a:r>
              <a:t>    HttpOnly = true, // CẤM JAVASCRIPT ĐỌC TRỘM</a:t>
            </a:r>
            <a:br/>
            <a:r>
              <a:t>    Secure = true,   // BẮT BUỘC TRUYỀN QUA HTTPS</a:t>
            </a:r>
            <a:br/>
            <a:r>
              <a:t>    SameSite = SameSiteMode.Strict</a:t>
            </a:r>
            <a:br/>
            <a:r>
              <a:t>});</a:t>
            </a:r>
          </a:p>
          <a:p>
            <a:pPr>
              <a:spcBef>
                <a:spcPts val="1200"/>
              </a:spcBef>
              <a:defRPr sz="1200" b="0">
                <a:solidFill>
                  <a:srgbClr val="334155"/>
                </a:solidFill>
                <a:latin typeface="Arial"/>
              </a:defRPr>
            </a:pPr>
            <a:r>
              <a:t>Chính sách CSP (Content Security Policy):</a:t>
            </a:r>
            <a:br/>
            <a:r>
              <a:t>Cấu hình HTTP Header 'script-src self' ngăn chặn trình duyệt chạy inline script lạ, tạo thêm lớp bảo vệ kiên cố.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3.1. CSRF Attack — Cơ Chế Mượn Quyền &amp; Phân Loại Chuẩn OWASP</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Sơ Đồ Luồng Tấn Công Mượn Quyền (CSRF)</a:t>
            </a:r>
          </a:p>
          <a:p>
            <a:pPr>
              <a:spcBef>
                <a:spcPts val="800"/>
              </a:spcBef>
              <a:defRPr sz="1200" b="1">
                <a:solidFill>
                  <a:srgbClr val="0F172A"/>
                </a:solidFill>
                <a:latin typeface="Arial"/>
              </a:defRPr>
            </a:pPr>
            <a:r>
              <a:t>Victim logged in ➔ Đang có Cookie phiên làm việc hợp lệ</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Mở Attacker Site ➔ Trang web độc hại kích hoạt POST ngầm</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Target Server ➔ Tự động nhận Cookie, thực hiện trừ 20 triệu</a:t>
            </a:r>
          </a:p>
          <a:p>
            <a:br/>
            <a:pPr>
              <a:spcBef>
                <a:spcPts val="800"/>
              </a:spcBef>
              <a:defRPr sz="1200" b="0">
                <a:solidFill>
                  <a:srgbClr val="334155"/>
                </a:solidFill>
                <a:latin typeface="Arial"/>
              </a:defRPr>
            </a:pPr>
            <a:r>
              <a:t>📌 PHÂN LOẠI CHUẨN OWASP:</a:t>
            </a:r>
            <a:br/>
            <a:r>
              <a:t>CSRF không phải mục độc lập trong OWASP Top 10 2021; nó liên quan trực tiếp đến A01:2021 – Broken Access Control và cơ chế bảo toàn yêu cầu phiên.</a:t>
            </a:r>
          </a:p>
        </p:txBody>
      </p:sp>
      <p:sp>
        <p:nvSpPr>
          <p:cNvPr id="7" name="Rounded Rectangle 6"/>
          <p:cNvSpPr/>
          <p:nvPr/>
        </p:nvSpPr>
        <p:spPr>
          <a:xfrm>
            <a:off x="6263640" y="128016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 VULNERABLE: ACTION THIẾU TOKEN</a:t>
            </a:r>
          </a:p>
          <a:p>
            <a:pPr>
              <a:spcBef>
                <a:spcPts val="800"/>
              </a:spcBef>
              <a:defRPr sz="1000" b="0">
                <a:solidFill>
                  <a:srgbClr val="9F1239"/>
                </a:solidFill>
                <a:latin typeface="Courier New"/>
              </a:defRPr>
            </a:pPr>
            <a:r>
              <a:t>// ACTION NHẬN YÊU CẦU KHÔNG CÓ BẢO VỆ TOKEN:</a:t>
            </a:r>
            <a:br/>
            <a:r>
              <a:t>[HttpPost]</a:t>
            </a:r>
            <a:br/>
            <a:r>
              <a:t>public IActionResult TransferVulnerable(decimal amount)</a:t>
            </a:r>
            <a:br/>
            <a:r>
              <a:t>{</a:t>
            </a:r>
            <a:br/>
            <a:r>
              <a:t>    var victim = _context.Wallets.Find(1);</a:t>
            </a:r>
            <a:br/>
            <a:r>
              <a:t>    var hacker = _context.Wallets.Find(2);</a:t>
            </a:r>
            <a:br/>
            <a:r>
              <a:t>    </a:t>
            </a:r>
            <a:br/>
            <a:r>
              <a:t>    victim.Balance -= amount;</a:t>
            </a:r>
            <a:br/>
            <a:r>
              <a:t>    hacker.Balance += amount;</a:t>
            </a:r>
            <a:br/>
            <a:r>
              <a:t>    _context.SaveChanges();</a:t>
            </a:r>
            <a:br/>
            <a:r>
              <a:t>    return RedirectToAction("Index");</a:t>
            </a:r>
            <a:br/>
            <a:r>
              <a:t>}</a:t>
            </a:r>
          </a:p>
          <a:p>
            <a:pPr>
              <a:spcBef>
                <a:spcPts val="1000"/>
              </a:spcBef>
              <a:defRPr sz="1200" b="1">
                <a:solidFill>
                  <a:srgbClr val="0F172A"/>
                </a:solidFill>
                <a:latin typeface="Arial"/>
              </a:defRPr>
            </a:pPr>
            <a:r>
              <a:t>Điểm mù kiểm soát:</a:t>
            </a:r>
            <a:br/>
            <a:r>
              <a:t>Action thiếu [ValidateAntiForgeryToken], máy chủ chỉ kiểm tra Cookie hợp lệ rồi trừ tiền ngay mà không xác minh yêu cầu xuất phát từ đâu!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3.2. CSRF Attack — Kịch Bản Khai Thác Qua Biểu Mẫu Ẩn</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BE123C"/>
                </a:solidFill>
                <a:latin typeface="Arial"/>
              </a:defRPr>
            </a:pPr>
            <a:r>
              <a:t>Kịch Bản: Trang Web Giả Mạo Điều Khiển Yêu Cầu Chuyển Tiền</a:t>
            </a:r>
          </a:p>
          <a:p>
            <a:pPr>
              <a:spcBef>
                <a:spcPts val="800"/>
              </a:spcBef>
              <a:defRPr sz="1300" b="0">
                <a:solidFill>
                  <a:srgbClr val="334155"/>
                </a:solidFill>
                <a:latin typeface="Arial"/>
              </a:defRPr>
            </a:pPr>
            <a:r>
              <a:t>1. Nạn nhân có phiên làm việc đang hoạt động trên hệ thống tư vấn trực tuyến.</a:t>
            </a:r>
            <a:br/>
            <a:r>
              <a:t>2. Nạn nhân được dẫn dụ truy cập một trang web độc hại ở một tab khác (AttackerSite.cshtml).</a:t>
            </a:r>
            <a:br/>
            <a:r>
              <a:t>3. Trang web độc hại chứa một biểu mẫu ẩn trỏ trực tiếp tới địa chỉ nhận lệnh của ứng dụng mục tiêu:</a:t>
            </a:r>
          </a:p>
          <a:p>
            <a:pPr>
              <a:spcBef>
                <a:spcPts val="600"/>
              </a:spcBef>
              <a:defRPr sz="1100" b="1">
                <a:solidFill>
                  <a:srgbClr val="9F1239"/>
                </a:solidFill>
                <a:latin typeface="Courier New"/>
              </a:defRPr>
            </a:pPr>
            <a:r>
              <a:t>&lt;!-- BIỂU MẪU ẨN TRÊN TRANG WEB CỦA KẺ TẤN CÔNG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latin typeface="Arial"/>
              </a:defRPr>
            </a:pPr>
            <a:r>
              <a:t>Hậu quả thực tế: Giao dịch chuyển tiền được thực thi hoàn toàn tự động mà không có sự đồng thuận chủ động của người dùng, dẫn đến thay đổi số dư ví tài khoản.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3.3. CSRF Attack —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csrf_proof.png"/>
          <p:cNvPicPr>
            <a:picLocks noChangeAspect="1"/>
          </p:cNvPicPr>
          <p:nvPr/>
        </p:nvPicPr>
        <p:blipFill>
          <a:blip r:embed="rId2"/>
          <a:stretch>
            <a:fillRect/>
          </a:stretch>
        </p:blipFill>
        <p:spPr>
          <a:xfrm>
            <a:off x="2523744" y="1234440"/>
            <a:ext cx="7132320" cy="4585063"/>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047857"/>
                </a:solidFill>
                <a:latin typeface="Arial"/>
              </a:defRPr>
            </a:pPr>
            <a:r>
              <a:t>Minh chứng đối chứng: Mô phỏng giao dịch trái phép 20.000.000 VNĐ trong lab (Trái) vs Chặn đứng yêu cầu thiếu Token (Phải)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3.4. CSRF Attack — Minh Chứng Gói Tin Mạng (Chrome DevTools Headers)</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3_csrf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047857"/>
                </a:solidFill>
                <a:latin typeface="Arial"/>
              </a:defRPr>
            </a:pPr>
            <a:r>
              <a:t>Soi gói tin HTTP POST gửi ngầm từ Attacker Site: Đính kèm Cookie tự động nhưng thiếu hoàn toàn Anti-Forgery Token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3.5. CSRF Attack — Cơ Chế Phòng Thủ Bằng Anti-Forgery Token</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 SECURE: SYNCHRONIZER TOKEN PATTERN</a:t>
            </a:r>
          </a:p>
          <a:p>
            <a:pPr>
              <a:spcBef>
                <a:spcPts val="600"/>
              </a:spcBef>
              <a:defRPr sz="950" b="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a:p>
            <a:pPr>
              <a:spcBef>
                <a:spcPts val="600"/>
              </a:spcBef>
              <a:defRPr sz="1150" b="0">
                <a:solidFill>
                  <a:srgbClr val="334155"/>
                </a:solidFill>
                <a:latin typeface="Arial"/>
              </a:defRPr>
            </a:pPr>
            <a:r>
              <a:t>Cơ chế bảo vệ:</a:t>
            </a:r>
            <a:br/>
            <a:r>
              <a:t>Trang web của hacker ở tên miền khác bị chặn đọc token bí mật bởi chính sách Same-Origin Policy (SOP). Mọi request thiếu token đều bị chặn đứng.</a:t>
            </a:r>
          </a:p>
        </p:txBody>
      </p:sp>
      <p:sp>
        <p:nvSpPr>
          <p:cNvPr id="7" name="Rounded Rectangle 6"/>
          <p:cNvSpPr/>
          <p:nvPr/>
        </p:nvSpPr>
        <p:spPr>
          <a:xfrm>
            <a:off x="626364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TÍCH HỢP TOKEN TRONG AJAX FETCH API</a:t>
            </a:r>
          </a:p>
          <a:p>
            <a:pPr>
              <a:spcBef>
                <a:spcPts val="600"/>
              </a:spcBef>
              <a:defRPr sz="950" b="0">
                <a:solidFill>
                  <a:srgbClr val="0F172A"/>
                </a:solidFill>
                <a:latin typeface="Courier New"/>
              </a:defRPr>
            </a:pPr>
            <a:r>
              <a:t>// TRÍCH XUẤT VÀ GỬI TOKEN QUA HTTP HEADER:</a:t>
            </a:r>
            <a:br/>
            <a:r>
              <a:t>const token = document.querySelector('input[name="__RequestVerificationToken"]').value;</a:t>
            </a:r>
            <a:br/>
            <a:br/>
            <a:r>
              <a:t>fetch('/Csrf/TransferAjax', {</a:t>
            </a:r>
            <a:br/>
            <a:r>
              <a:t>    method: 'POST',</a:t>
            </a:r>
            <a:br/>
            <a:r>
              <a:t>    headers: {</a:t>
            </a:r>
            <a:br/>
            <a:r>
              <a:t>        'Content-Type': 'application/json',</a:t>
            </a:r>
            <a:br/>
            <a:r>
              <a:t>        'RequestVerificationToken': token // HEADER BẢO VỆ</a:t>
            </a:r>
            <a:br/>
            <a:r>
              <a:t>    },</a:t>
            </a:r>
            <a:br/>
            <a:r>
              <a:t>    body: JSON.stringify({ amount: 5000000 })</a:t>
            </a:r>
            <a:br/>
            <a:r>
              <a:t>})</a:t>
            </a:r>
            <a:br/>
            <a:r>
              <a:t>.then(response =&gt; response.json());</a:t>
            </a:r>
          </a:p>
          <a:p>
            <a:pPr>
              <a:spcBef>
                <a:spcPts val="600"/>
              </a:spcBef>
              <a:defRPr sz="1150" b="0">
                <a:solidFill>
                  <a:srgbClr val="334155"/>
                </a:solidFill>
                <a:latin typeface="Arial"/>
              </a:defRPr>
            </a:pPr>
            <a:r>
              <a:t>Ứng dụng trong thực tế:</a:t>
            </a:r>
            <a:br/>
            <a:r>
              <a:t>Đối với các tác vụ gọi AJAX không tải lại trang, token được đọc từ thẻ ẩn và truyền qua HTTP Header để đảm bảo vừa tiện dụng vừa an toàn.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Bài Học Rút Ra: Bảng Đối Chiếu 3 Lỗ Hổng &amp; Cơ Chế Phòng Thủ</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SQL INJECTION</a:t>
            </a:r>
          </a:p>
          <a:p>
            <a:pPr>
              <a:spcBef>
                <a:spcPts val="1000"/>
              </a:spcBef>
              <a:defRPr sz="1200" b="1">
                <a:solidFill>
                  <a:srgbClr val="0F172A"/>
                </a:solidFill>
                <a:latin typeface="Arial"/>
              </a:defRPr>
            </a:pPr>
            <a:r>
              <a:t>Nguyên nhân cốt lõi:</a:t>
            </a:r>
          </a:p>
          <a:p>
            <a:pPr>
              <a:spcBef>
                <a:spcPts val="200"/>
              </a:spcBef>
              <a:defRPr sz="1200" b="0">
                <a:solidFill>
                  <a:srgbClr val="BE123C"/>
                </a:solidFill>
                <a:latin typeface="Arial"/>
              </a:defRPr>
            </a:pPr>
            <a:r>
              <a:t>Ghép chuỗi SQL trực tiếp từ tham số người dùng.</a:t>
            </a:r>
          </a:p>
          <a:p>
            <a:pPr>
              <a:spcBef>
                <a:spcPts val="600"/>
              </a:spcBef>
              <a:defRPr sz="1400" b="1">
                <a:solidFill>
                  <a:srgbClr val="64748B"/>
                </a:solidFill>
                <a:latin typeface="Arial"/>
              </a:defRPr>
            </a:pPr>
            <a:r>
              <a:t>      │</a:t>
            </a:r>
            <a:br/>
            <a:r>
              <a:t>      ▼</a:t>
            </a:r>
          </a:p>
          <a:p>
            <a:pPr>
              <a:spcBef>
                <a:spcPts val="600"/>
              </a:spcBef>
              <a:defRPr sz="1200" b="1">
                <a:solidFill>
                  <a:srgbClr val="0F172A"/>
                </a:solidFill>
                <a:latin typeface="Arial"/>
              </a:defRPr>
            </a:pPr>
            <a:r>
              <a:t>Cơ chế phòng thủ:</a:t>
            </a:r>
          </a:p>
          <a:p>
            <a:pPr>
              <a:spcBef>
                <a:spcPts val="200"/>
              </a:spcBef>
              <a:defRPr sz="1200" b="1">
                <a:solidFill>
                  <a:srgbClr val="047857"/>
                </a:solidFill>
                <a:latin typeface="Arial"/>
              </a:defRPr>
            </a:pPr>
            <a:r>
              <a:t>Parameterized Query</a:t>
            </a:r>
            <a:br/>
            <a:r>
              <a:t>(Entity Framework Core LINQ)</a:t>
            </a:r>
          </a:p>
          <a:p>
            <a:br/>
            <a:pPr>
              <a:spcBef>
                <a:spcPts val="1400"/>
              </a:spcBef>
              <a:defRPr sz="1100" b="0">
                <a:solidFill>
                  <a:srgbClr val="64748B"/>
                </a:solidFill>
                <a:latin typeface="Arial"/>
              </a:defRPr>
            </a:pPr>
            <a:r>
              <a:t>Phụ trách: Nguyễn Danh Học</a:t>
            </a:r>
            <a:br/>
            <a:r>
              <a:t>MSV: 23A1001D0158</a:t>
            </a:r>
          </a:p>
        </p:txBody>
      </p:sp>
      <p:sp>
        <p:nvSpPr>
          <p:cNvPr id="7" name="Rounded Rectangle 6"/>
          <p:cNvSpPr/>
          <p:nvPr/>
        </p:nvSpPr>
        <p:spPr>
          <a:xfrm>
            <a:off x="4416552"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STORED XSS</a:t>
            </a:r>
          </a:p>
          <a:p>
            <a:pPr>
              <a:spcBef>
                <a:spcPts val="1000"/>
              </a:spcBef>
              <a:defRPr sz="1200" b="1">
                <a:solidFill>
                  <a:srgbClr val="0F172A"/>
                </a:solidFill>
                <a:latin typeface="Arial"/>
              </a:defRPr>
            </a:pPr>
            <a:r>
              <a:t>Nguyên nhân cốt lõi:</a:t>
            </a:r>
          </a:p>
          <a:p>
            <a:pPr>
              <a:spcBef>
                <a:spcPts val="200"/>
              </a:spcBef>
              <a:defRPr sz="1200" b="0">
                <a:solidFill>
                  <a:srgbClr val="BE123C"/>
                </a:solidFill>
                <a:latin typeface="Arial"/>
              </a:defRPr>
            </a:pPr>
            <a:r>
              <a:t>Lưu script thô vào CSDL &amp; render bằng @Html.Raw().</a:t>
            </a:r>
          </a:p>
          <a:p>
            <a:pPr>
              <a:spcBef>
                <a:spcPts val="600"/>
              </a:spcBef>
              <a:defRPr sz="1400" b="1">
                <a:solidFill>
                  <a:srgbClr val="64748B"/>
                </a:solidFill>
                <a:latin typeface="Arial"/>
              </a:defRPr>
            </a:pPr>
            <a:r>
              <a:t>      │</a:t>
            </a:r>
            <a:br/>
            <a:r>
              <a:t>      ▼</a:t>
            </a:r>
          </a:p>
          <a:p>
            <a:pPr>
              <a:spcBef>
                <a:spcPts val="600"/>
              </a:spcBef>
              <a:defRPr sz="1200" b="1">
                <a:solidFill>
                  <a:srgbClr val="0F172A"/>
                </a:solidFill>
                <a:latin typeface="Arial"/>
              </a:defRPr>
            </a:pPr>
            <a:r>
              <a:t>Cơ chế phòng thủ:</a:t>
            </a:r>
          </a:p>
          <a:p>
            <a:pPr>
              <a:spcBef>
                <a:spcPts val="200"/>
              </a:spcBef>
              <a:defRPr sz="1200" b="1">
                <a:solidFill>
                  <a:srgbClr val="047857"/>
                </a:solidFill>
                <a:latin typeface="Arial"/>
              </a:defRPr>
            </a:pPr>
            <a:r>
              <a:t>Context-Aware HTML Encoding</a:t>
            </a:r>
            <a:br/>
            <a:r>
              <a:t>(@comment.Content + HttpOnly)</a:t>
            </a:r>
          </a:p>
          <a:p>
            <a:br/>
            <a:pPr>
              <a:spcBef>
                <a:spcPts val="1400"/>
              </a:spcBef>
              <a:defRPr sz="1100" b="0">
                <a:solidFill>
                  <a:srgbClr val="64748B"/>
                </a:solidFill>
                <a:latin typeface="Arial"/>
              </a:defRPr>
            </a:pPr>
            <a:r>
              <a:t>Phụ trách: Nguyễn Thanh Bình</a:t>
            </a:r>
            <a:br/>
            <a:r>
              <a:t>MSV: 23A1001D0041</a:t>
            </a:r>
          </a:p>
        </p:txBody>
      </p:sp>
      <p:sp>
        <p:nvSpPr>
          <p:cNvPr id="8" name="Rounded Rectangle 7"/>
          <p:cNvSpPr/>
          <p:nvPr/>
        </p:nvSpPr>
        <p:spPr>
          <a:xfrm>
            <a:off x="8101584" y="1280160"/>
            <a:ext cx="3328416"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CSRF ATTACK</a:t>
            </a:r>
          </a:p>
          <a:p>
            <a:pPr>
              <a:spcBef>
                <a:spcPts val="1000"/>
              </a:spcBef>
              <a:defRPr sz="1200" b="1">
                <a:solidFill>
                  <a:srgbClr val="0F172A"/>
                </a:solidFill>
                <a:latin typeface="Arial"/>
              </a:defRPr>
            </a:pPr>
            <a:r>
              <a:t>Nguyên nhân cốt lõi:</a:t>
            </a:r>
          </a:p>
          <a:p>
            <a:pPr>
              <a:spcBef>
                <a:spcPts val="200"/>
              </a:spcBef>
              <a:defRPr sz="1200" b="0">
                <a:solidFill>
                  <a:srgbClr val="BE123C"/>
                </a:solidFill>
                <a:latin typeface="Arial"/>
              </a:defRPr>
            </a:pPr>
            <a:r>
              <a:t>Chỉ kiểm tra Cookie mà thiếu xác thực nguồn gốc Request.</a:t>
            </a:r>
          </a:p>
          <a:p>
            <a:pPr>
              <a:spcBef>
                <a:spcPts val="600"/>
              </a:spcBef>
              <a:defRPr sz="1400" b="1">
                <a:solidFill>
                  <a:srgbClr val="64748B"/>
                </a:solidFill>
                <a:latin typeface="Arial"/>
              </a:defRPr>
            </a:pPr>
            <a:r>
              <a:t>      │</a:t>
            </a:r>
            <a:br/>
            <a:r>
              <a:t>      ▼</a:t>
            </a:r>
          </a:p>
          <a:p>
            <a:pPr>
              <a:spcBef>
                <a:spcPts val="600"/>
              </a:spcBef>
              <a:defRPr sz="1200" b="1">
                <a:solidFill>
                  <a:srgbClr val="0F172A"/>
                </a:solidFill>
                <a:latin typeface="Arial"/>
              </a:defRPr>
            </a:pPr>
            <a:r>
              <a:t>Cơ chế phòng thủ:</a:t>
            </a:r>
          </a:p>
          <a:p>
            <a:pPr>
              <a:spcBef>
                <a:spcPts val="200"/>
              </a:spcBef>
              <a:defRPr sz="1200" b="1">
                <a:solidFill>
                  <a:srgbClr val="047857"/>
                </a:solidFill>
                <a:latin typeface="Arial"/>
              </a:defRPr>
            </a:pPr>
            <a:r>
              <a:t>Synchronizer Token Pattern</a:t>
            </a:r>
            <a:br/>
            <a:r>
              <a:t>(@Html.AntiForgeryToken)</a:t>
            </a:r>
          </a:p>
          <a:p>
            <a:br/>
            <a:pPr>
              <a:spcBef>
                <a:spcPts val="1400"/>
              </a:spcBef>
              <a:defRPr sz="1100" b="0">
                <a:solidFill>
                  <a:srgbClr val="64748B"/>
                </a:solidFill>
                <a:latin typeface="Arial"/>
              </a:defRPr>
            </a:pPr>
            <a:r>
              <a:t>Phụ trách: Nguyễn Minh Cường</a:t>
            </a:r>
            <a:br/>
            <a:r>
              <a:t>MSV: 23A1001D0058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Kết Luận Thực Nghiệm &amp; Q&amp;A</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914400" y="1371600"/>
            <a:ext cx="10362895"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D4ED8"/>
                </a:solidFill>
                <a:latin typeface="Arial"/>
              </a:defRPr>
            </a:pPr>
            <a:r>
              <a:t>TỔNG KẾT: TỪ KHAI THÁC THỰC NGHIỆM ĐẾN PHÒNG THỦ ĐA TẦNG</a:t>
            </a:r>
          </a:p>
          <a:p>
            <a:pPr>
              <a:spcBef>
                <a:spcPts val="1400"/>
              </a:spcBef>
              <a:defRPr sz="1300" b="1">
                <a:solidFill>
                  <a:srgbClr val="BE123C"/>
                </a:solidFill>
                <a:latin typeface="Arial"/>
              </a:defRPr>
            </a:pPr>
            <a:r>
              <a:t>01 — Tái lập thành công lỗ hổng:</a:t>
            </a:r>
          </a:p>
          <a:p>
            <a:pPr>
              <a:spcBef>
                <a:spcPts val="200"/>
              </a:spcBef>
              <a:defRPr sz="1250" b="0">
                <a:solidFill>
                  <a:srgbClr val="334155"/>
                </a:solidFill>
                <a:latin typeface="Arial"/>
              </a:defRPr>
            </a:pPr>
            <a:r>
              <a:t>Nhóm đã biểu diễn thành công kịch bản tấn công trên 3 bề mặt: Giao diện Web, Gói tin mạng (Chrome DevTools) và CSDL SQL Server 2025.</a:t>
            </a:r>
          </a:p>
          <a:p>
            <a:pPr>
              <a:spcBef>
                <a:spcPts val="1200"/>
              </a:spcBef>
              <a:defRPr sz="1300" b="1">
                <a:solidFill>
                  <a:srgbClr val="047857"/>
                </a:solidFill>
                <a:latin typeface="Arial"/>
              </a:defRPr>
            </a:pPr>
            <a:r>
              <a:t>02 — Kiểm chứng giải pháp phòng thủ triệt để:</a:t>
            </a:r>
          </a:p>
          <a:p>
            <a:pPr>
              <a:spcBef>
                <a:spcPts val="200"/>
              </a:spcBef>
              <a:defRPr sz="1250" b="0">
                <a:solidFill>
                  <a:srgbClr val="334155"/>
                </a:solidFill>
                <a:latin typeface="Arial"/>
              </a:defRPr>
            </a:pPr>
            <a:r>
              <a:t>Áp dụng Parameterized Query, HTML Encoding và Anti-Forgery Token chặn đứng 100% các vector tấn công.</a:t>
            </a:r>
          </a:p>
          <a:p>
            <a:pPr>
              <a:spcBef>
                <a:spcPts val="1200"/>
              </a:spcBef>
              <a:defRPr sz="1300" b="1">
                <a:solidFill>
                  <a:srgbClr val="1D4ED8"/>
                </a:solidFill>
                <a:latin typeface="Arial"/>
              </a:defRPr>
            </a:pPr>
            <a:r>
              <a:t>03 — Triết lý an ninh cốt lõi (Security Principle):</a:t>
            </a:r>
          </a:p>
          <a:p>
            <a:pPr>
              <a:spcBef>
                <a:spcPts val="400"/>
              </a:spcBef>
              <a:defRPr sz="1250" b="1">
                <a:solidFill>
                  <a:srgbClr val="0F172A"/>
                </a:solidFill>
                <a:latin typeface="Arial"/>
              </a:defRPr>
            </a:pPr>
            <a:r>
              <a:t>• Never trust user-controlled input (Không bao giờ tin tưởng dữ liệu đầu vào).</a:t>
            </a:r>
            <a:br/>
            <a:r>
              <a:t>• Separate data from executable instructions (Luôn phân tách dữ liệu khỏi cú pháp lệnh).</a:t>
            </a:r>
          </a:p>
          <a:p>
            <a:br/>
            <a:pPr>
              <a:spcBef>
                <a:spcPts val="2000"/>
              </a:spcBef>
              <a:defRPr sz="1600" b="1">
                <a:solidFill>
                  <a:srgbClr val="BE123C"/>
                </a:solidFill>
                <a:latin typeface="Arial"/>
              </a:defRPr>
            </a:pPr>
            <a:r>
              <a:t>XIN TRÂN TRỌNG CẢM ƠN THẦY VÀ CÁC BẠN! —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