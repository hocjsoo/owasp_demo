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640080"/>
            <a:ext cx="5303520" cy="384048"/>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1D4ED8"/>
                </a:solidFill>
              </a:defRPr>
            </a:pPr>
            <a:r>
              <a:t>TRƯỜNG ĐẠI HỌC MỞ HÀ NỘI — KHOA CÔNG NGHỆ THÔNG TIN</a:t>
            </a:r>
          </a:p>
        </p:txBody>
      </p:sp>
      <p:sp>
        <p:nvSpPr>
          <p:cNvPr id="4" name="TextBox 3"/>
          <p:cNvSpPr txBox="1"/>
          <p:nvPr/>
        </p:nvSpPr>
        <p:spPr>
          <a:xfrm>
            <a:off x="914400" y="1143000"/>
            <a:ext cx="10362895" cy="2926080"/>
          </a:xfrm>
          <a:prstGeom prst="rect">
            <a:avLst/>
          </a:prstGeom>
          <a:noFill/>
        </p:spPr>
        <p:txBody>
          <a:bodyPr wrap="square">
            <a:spAutoFit/>
          </a:bodyPr>
          <a:lstStyle/>
          <a:p>
            <a:pPr>
              <a:defRPr sz="1600" b="1">
                <a:solidFill>
                  <a:srgbClr val="BE123C"/>
                </a:solidFill>
              </a:defRPr>
            </a:pPr>
            <a:r>
              <a:t>BÁO CÁO THỰC NGHIỆM AN TOÀN WEB (OWASP TOP 10)</a:t>
            </a:r>
          </a:p>
          <a:p>
            <a:pPr>
              <a:spcBef>
                <a:spcPts val="800"/>
              </a:spcBef>
              <a:defRPr sz="3000" b="1">
                <a:solidFill>
                  <a:srgbClr val="0F172A"/>
                </a:solidFill>
              </a:defRPr>
            </a:pPr>
            <a:r>
              <a:t>Bộ 3 Lỗ Hổng Kinh Điển &amp; Cơ Chế Phòng Thủ</a:t>
            </a:r>
            <a:br/>
            <a:r>
              <a:t>(SQL Injection • Stored XSS • CSRF Attack)</a:t>
            </a:r>
          </a:p>
          <a:p>
            <a:pPr>
              <a:spcBef>
                <a:spcPts val="800"/>
              </a:spcBef>
              <a:defRPr sz="1400">
                <a:solidFill>
                  <a:srgbClr val="334155"/>
                </a:solidFill>
              </a:defRPr>
            </a:pPr>
            <a:r>
              <a:t>Môn học: Lập trình Web nâng cao  •  Giảng viên hướng dẫn: ThS. Lê Hữu Dũng</a:t>
            </a:r>
          </a:p>
        </p:txBody>
      </p:sp>
      <p:sp>
        <p:nvSpPr>
          <p:cNvPr id="5" name="Rounded Rectangle 4"/>
          <p:cNvSpPr/>
          <p:nvPr/>
        </p:nvSpPr>
        <p:spPr>
          <a:xfrm>
            <a:off x="914400" y="4297680"/>
            <a:ext cx="3328416" cy="1828800"/>
          </a:xfrm>
          <a:prstGeom prst="roundRect">
            <a:avLst/>
          </a:prstGeom>
          <a:solidFill>
            <a:srgbClr val="F8FAFC"/>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D4ED8"/>
                </a:solidFill>
              </a:defRPr>
            </a:pPr>
            <a:r>
              <a:t>CHỦ ĐỀ 1: SQL INJECTION</a:t>
            </a:r>
          </a:p>
          <a:p>
            <a:pPr>
              <a:spcBef>
                <a:spcPts val="400"/>
              </a:spcBef>
              <a:defRPr sz="1200">
                <a:solidFill>
                  <a:srgbClr val="0F172A"/>
                </a:solidFill>
              </a:defRPr>
            </a:pPr>
            <a:r>
              <a:t>Nguyễn Danh Học</a:t>
            </a:r>
            <a:br/>
            <a:r>
              <a:t>MSV: 23A1001D0158</a:t>
            </a:r>
            <a:br/>
            <a:r>
              <a:t>Trưởng nhóm • Demo CSDL &amp; API</a:t>
            </a:r>
          </a:p>
        </p:txBody>
      </p:sp>
      <p:sp>
        <p:nvSpPr>
          <p:cNvPr id="6" name="Rounded Rectangle 5"/>
          <p:cNvSpPr/>
          <p:nvPr/>
        </p:nvSpPr>
        <p:spPr>
          <a:xfrm>
            <a:off x="4425696" y="4297680"/>
            <a:ext cx="3328416" cy="1828800"/>
          </a:xfrm>
          <a:prstGeom prst="roundRect">
            <a:avLst/>
          </a:prstGeom>
          <a:solidFill>
            <a:srgbClr val="F8FAFC"/>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BE123C"/>
                </a:solidFill>
              </a:defRPr>
            </a:pPr>
            <a:r>
              <a:t>CHỦ ĐỀ 2: STORED XSS</a:t>
            </a:r>
          </a:p>
          <a:p>
            <a:pPr>
              <a:spcBef>
                <a:spcPts val="400"/>
              </a:spcBef>
              <a:defRPr sz="1200">
                <a:solidFill>
                  <a:srgbClr val="0F172A"/>
                </a:solidFill>
              </a:defRPr>
            </a:pPr>
            <a:r>
              <a:t>Nguyễn Thanh Bình</a:t>
            </a:r>
            <a:br/>
            <a:r>
              <a:t>MSV: 23A1001D0041</a:t>
            </a:r>
            <a:br/>
            <a:r>
              <a:t>Thành viên • Demo Cookie &amp; DOM</a:t>
            </a:r>
          </a:p>
        </p:txBody>
      </p:sp>
      <p:sp>
        <p:nvSpPr>
          <p:cNvPr id="7" name="Rounded Rectangle 6"/>
          <p:cNvSpPr/>
          <p:nvPr/>
        </p:nvSpPr>
        <p:spPr>
          <a:xfrm>
            <a:off x="7936992" y="4297680"/>
            <a:ext cx="3328416" cy="1828800"/>
          </a:xfrm>
          <a:prstGeom prst="roundRect">
            <a:avLst/>
          </a:prstGeom>
          <a:solidFill>
            <a:srgbClr val="F8FAFC"/>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47857"/>
                </a:solidFill>
              </a:defRPr>
            </a:pPr>
            <a:r>
              <a:t>CHỦ ĐỀ 3: CSRF ATTACK</a:t>
            </a:r>
          </a:p>
          <a:p>
            <a:pPr>
              <a:spcBef>
                <a:spcPts val="400"/>
              </a:spcBef>
              <a:defRPr sz="1200">
                <a:solidFill>
                  <a:srgbClr val="0F172A"/>
                </a:solidFill>
              </a:defRPr>
            </a:pPr>
            <a:r>
              <a:t>Nguyễn Minh Cường</a:t>
            </a:r>
            <a:br/>
            <a:r>
              <a:t>MSV: 23A1001D0058</a:t>
            </a:r>
            <a:br/>
            <a:r>
              <a:t>Thành viên • Demo Form ẩn giả mạo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OWASP TOP 10 • THỰC NGHIỆM AN TOÀN WEB</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Mục Tiêu &amp; Phương Châm Báo Cáo Thực Nghiệm OWASP</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BE123C"/>
                </a:solidFill>
              </a:defRPr>
            </a:pPr>
            <a:r>
              <a:t>🎯 Yêu Cầu Của Giảng Viên (ThS. Lê Hữu Dũng)</a:t>
            </a:r>
          </a:p>
          <a:p>
            <a:pPr>
              <a:spcBef>
                <a:spcPts val="1000"/>
              </a:spcBef>
              <a:defRPr sz="1300">
                <a:solidFill>
                  <a:srgbClr val="334155"/>
                </a:solidFill>
              </a:defRPr>
            </a:pPr>
            <a:r>
              <a:t>• Không dịch lý thuyết tiếng Anh sách vở.</a:t>
            </a:r>
            <a:br/>
            <a:r>
              <a:t>• Thấy được lỗ hổng thực sự nguy hiểm đến mức nào trong môi trường thực tế.</a:t>
            </a:r>
            <a:br/>
            <a:r>
              <a:t>• Bắt buộc phải thực nghiệm demo: Muốn phòng thủ an toàn, phải hiểu hacker tấn công hệ thống theo cách nào.</a:t>
            </a:r>
            <a:br/>
            <a:r>
              <a:t>• Báo cáo đối chứng: Minh chứng rõ ràng giữa code dính lỗi và code đã vá chuẩn.</a:t>
            </a:r>
          </a:p>
        </p:txBody>
      </p:sp>
      <p:sp>
        <p:nvSpPr>
          <p:cNvPr id="7" name="Rounded Rectangle 6"/>
          <p:cNvSpPr/>
          <p:nvPr/>
        </p:nvSpPr>
        <p:spPr>
          <a:xfrm>
            <a:off x="6263640" y="1280160"/>
            <a:ext cx="5166360" cy="48463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D4ED8"/>
                </a:solidFill>
              </a:defRPr>
            </a:pPr>
            <a:r>
              <a:t>🚀 Phương Pháp Thực Hiện Của Nhóm WNC.G01</a:t>
            </a:r>
          </a:p>
          <a:p>
            <a:pPr>
              <a:spcBef>
                <a:spcPts val="1000"/>
              </a:spcBef>
              <a:defRPr sz="1300">
                <a:solidFill>
                  <a:srgbClr val="334155"/>
                </a:solidFill>
              </a:defRPr>
            </a:pPr>
            <a:r>
              <a:t>• Xây dựng ứng dụng thực nghiệm độc lập (OWASP_Demo) trên ASP.NET Core MVC .NET 10.</a:t>
            </a:r>
            <a:br/>
            <a:r>
              <a:t>• Kết nối trực tiếp máy chủ CSDL Microsoft SQL Server 2025 Developer trên Localhost.</a:t>
            </a:r>
            <a:br/>
            <a:r>
              <a:t>• Tạo sẵn 3 phân hệ tương tác riêng biệt cho 3 thành viên: Bấm 1 click nạp payload và quan sát kết quả tức thì.</a:t>
            </a:r>
            <a:br/>
            <a:r>
              <a:t>• Áp dụng kết quả thực nghiệm vào thiết kế kiến trúc bảo mật (Security View) của Đồ án BTL.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1 • NGUYỄN DANH HỌC (23A1001D0158)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1.1. SQL Injection: Bản Chất Kỹ Thuật &amp; Nguyên Nhân Gốc Rễ</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Nguyên Nhân Cốt Lõi: Nhầm Lẫn Giữa Code &amp; Data</a:t>
            </a:r>
          </a:p>
          <a:p>
            <a:pPr>
              <a:spcBef>
                <a:spcPts val="800"/>
              </a:spcBef>
              <a:defRPr sz="1250">
                <a:solidFill>
                  <a:srgbClr val="334155"/>
                </a:solidFill>
              </a:defRPr>
            </a:pPr>
            <a:r>
              <a:t>• Không phân tách giữa DỮ LIỆU (Data) và CÂU LỆNH (Code).</a:t>
            </a:r>
            <a:br/>
            <a:r>
              <a:t>• Lập trình viên sử dụng kỹ thuật ghép chuỗi trực tiếp (String Concatenation hoặc Interpolation) để tạo câu SQL từ input của người dùng.</a:t>
            </a:r>
            <a:br/>
            <a:r>
              <a:t>• Hệ quản trị CSDL khi phân tích cú pháp (Parsing) không thể biết đâu là dữ liệu của user và đâu là cấu trúc lệnh do lập trình viên định nghĩa.</a:t>
            </a:r>
            <a:br/>
            <a:r>
              <a:t>• Ký tự điều khiển (', --, ;) giúp hacker 'thoát' khỏi phạm vi dữ liệu và ép SQL Server thực thi logic của hacker.</a:t>
            </a:r>
          </a:p>
        </p:txBody>
      </p:sp>
      <p:sp>
        <p:nvSpPr>
          <p:cNvPr id="7" name="Rounded Rectangle 6"/>
          <p:cNvSpPr/>
          <p:nvPr/>
        </p:nvSpPr>
        <p:spPr>
          <a:xfrm>
            <a:off x="6263640" y="1280160"/>
            <a:ext cx="5166360"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Đoạn Code Gây Lỗi Thực Tế Trong Controller</a:t>
            </a:r>
          </a:p>
          <a:p>
            <a:pPr>
              <a:spcBef>
                <a:spcPts val="800"/>
              </a:spcBef>
              <a:defRPr sz="1100">
                <a:solidFill>
                  <a:srgbClr val="9F1239"/>
                </a:solidFill>
                <a:latin typeface="Courier New"/>
              </a:defRPr>
            </a:pPr>
            <a:r>
              <a:t>// LỖI NỐI CHUỖI TRỰC TIẾP:</a:t>
            </a:r>
            <a:br/>
            <a:r>
              <a:t>string rawSql = $"SELECT * FROM Accounts " +</a:t>
            </a:r>
            <a:br/>
            <a:r>
              <a:t>                $"WHERE Username = '{username}' " +</a:t>
            </a:r>
            <a:br/>
            <a:r>
              <a:t>                $"AND Password = '{password}'";</a:t>
            </a:r>
            <a:br/>
            <a:br/>
            <a:r>
              <a:t>var accounts = _context.Accounts</a:t>
            </a:r>
            <a:br/>
            <a:r>
              <a:t>                       .FromSqlRaw(rawSql)</a:t>
            </a:r>
            <a:br/>
            <a:r>
              <a:t>                       .ToList();</a:t>
            </a:r>
          </a:p>
          <a:p>
            <a:pPr>
              <a:spcBef>
                <a:spcPts val="1400"/>
              </a:spcBef>
              <a:defRPr sz="1200">
                <a:solidFill>
                  <a:srgbClr val="0F172A"/>
                </a:solidFill>
              </a:defRPr>
            </a:pPr>
            <a:r>
              <a:t>⚠️ Điểm mù chết người:</a:t>
            </a:r>
            <a:br/>
            <a:r>
              <a:t>Lập trình viên mặc định tin rằng input chỉ chứa chữ cái. Khi hacker truyền vào dấu nháy đơn ('), toàn bộ cây cú pháp của câu truy vấn bị bẻ gãy hoàn toàn.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1 • NGUYỄN DANH HỌC (23A1001D0158)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1.2. SQL Injection: Thang Đo Nguy Hiểm &amp; Hậu Quả Thực Tế</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3328416"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E123C"/>
                </a:solidFill>
              </a:defRPr>
            </a:pPr>
            <a:r>
              <a:t>🚨 CHIẾM QUYỀN HỆ THỐNG</a:t>
            </a:r>
            <a:br/>
            <a:r>
              <a:t>(Authentication Bypass)</a:t>
            </a:r>
          </a:p>
          <a:p>
            <a:pPr>
              <a:spcBef>
                <a:spcPts val="1000"/>
              </a:spcBef>
              <a:defRPr sz="1200">
                <a:solidFill>
                  <a:srgbClr val="334155"/>
                </a:solidFill>
              </a:defRPr>
            </a:pPr>
            <a:r>
              <a:t>• Không cần biết mật khẩu của bất kỳ ai.</a:t>
            </a:r>
            <a:br/>
            <a:r>
              <a:t>• Chỉ với 1 chuỗi payload ngắn, kẻ tấn công đăng nhập thẳng vào tài khoản Quản trị viên (Admin).</a:t>
            </a:r>
            <a:br/>
            <a:r>
              <a:t>• Chiếm đoạt phiên làm việc, đổi quyền hạn và kiểm soát toàn bộ hệ thống.</a:t>
            </a:r>
          </a:p>
        </p:txBody>
      </p:sp>
      <p:sp>
        <p:nvSpPr>
          <p:cNvPr id="7" name="Rounded Rectangle 6"/>
          <p:cNvSpPr/>
          <p:nvPr/>
        </p:nvSpPr>
        <p:spPr>
          <a:xfrm>
            <a:off x="4416552" y="1280160"/>
            <a:ext cx="3328416" cy="4846320"/>
          </a:xfrm>
          <a:prstGeom prst="roundRect">
            <a:avLst/>
          </a:prstGeom>
          <a:solidFill>
            <a:srgbClr val="FFFBEB"/>
          </a:solidFill>
          <a:ln>
            <a:solidFill>
              <a:srgbClr val="FEF0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45309"/>
                </a:solidFill>
              </a:defRPr>
            </a:pPr>
            <a:r>
              <a:t>📂 ĐÁNH CẮP TOÀN BỘ CSDL</a:t>
            </a:r>
            <a:br/>
            <a:r>
              <a:t>(Data Exfiltration)</a:t>
            </a:r>
          </a:p>
          <a:p>
            <a:pPr>
              <a:spcBef>
                <a:spcPts val="1000"/>
              </a:spcBef>
              <a:defRPr sz="1200">
                <a:solidFill>
                  <a:srgbClr val="334155"/>
                </a:solidFill>
              </a:defRPr>
            </a:pPr>
            <a:r>
              <a:t>• Trích xuất thông tin khách hàng, hồ sơ chuyên gia, số dư tài khoản ngân hàng.</a:t>
            </a:r>
            <a:br/>
            <a:r>
              <a:t>• Rò rỉ mật khẩu và bệnh án cá nhân (Secret Notes).</a:t>
            </a:r>
            <a:br/>
            <a:r>
              <a:t>• Vi phạm nghiêm trọng an ninh dữ liệu, phá vỡ uy tín của nền tảng tư vấn trực tuyến.</a:t>
            </a:r>
          </a:p>
        </p:txBody>
      </p:sp>
      <p:sp>
        <p:nvSpPr>
          <p:cNvPr id="8" name="Rounded Rectangle 7"/>
          <p:cNvSpPr/>
          <p:nvPr/>
        </p:nvSpPr>
        <p:spPr>
          <a:xfrm>
            <a:off x="8101584" y="1280160"/>
            <a:ext cx="3328416" cy="48463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D4ED8"/>
                </a:solidFill>
              </a:defRPr>
            </a:pPr>
            <a:r>
              <a:t>💣 PHÁ HỦY / THỰC THI LỆNH</a:t>
            </a:r>
            <a:br/>
            <a:r>
              <a:t>(System Takeover)</a:t>
            </a:r>
          </a:p>
          <a:p>
            <a:pPr>
              <a:spcBef>
                <a:spcPts val="1000"/>
              </a:spcBef>
              <a:defRPr sz="1200">
                <a:solidFill>
                  <a:srgbClr val="334155"/>
                </a:solidFill>
              </a:defRPr>
            </a:pPr>
            <a:r>
              <a:t>• Xóa sạch CSDL với lệnh DROP TABLE hoặc TRUNCATE.</a:t>
            </a:r>
            <a:br/>
            <a:r>
              <a:t>• Giả mạo số dư tiền trong tài khoản.</a:t>
            </a:r>
            <a:br/>
            <a:r>
              <a:t>• Trong các CSDL cấu hình lỏng lẻo, hacker có thể bật xp_cmdshell để chiếm quyền điều khiển cả máy chủ hệ điều hành.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1 • NGUYỄN DANH HỌC (23A1001D0158)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1.3. SQL Injection: Phân Tích Cú Pháp Khai Thác &amp; Live Demo</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10728655" cy="3840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Kịch bản: Bắn Payload Bypass Xác Thực Đăng Nhập Admin</a:t>
            </a:r>
          </a:p>
          <a:p>
            <a:pPr>
              <a:spcBef>
                <a:spcPts val="600"/>
              </a:spcBef>
              <a:defRPr sz="1200" b="1">
                <a:solidFill>
                  <a:srgbClr val="1D4ED8"/>
                </a:solidFill>
                <a:latin typeface="Courier New"/>
              </a:defRPr>
            </a:pPr>
            <a:r>
              <a:t>Payload đưa vào ô Username: ' OR '1'='1' --  | Mật khẩu: (nhập bất kỳ hoặc bỏ trống)</a:t>
            </a:r>
            <a:br/>
            <a:r>
              <a:t>Câu truy vấn thực tế được SQL Server thông dịch:</a:t>
            </a:r>
            <a:br/>
            <a:r>
              <a:t>SELECT * FROM Accounts WHERE Username = '' OR '1'='1' --' AND Password = 'xyz'</a:t>
            </a:r>
          </a:p>
          <a:p>
            <a:pPr>
              <a:spcBef>
                <a:spcPts val="1000"/>
              </a:spcBef>
              <a:defRPr sz="1200">
                <a:solidFill>
                  <a:srgbClr val="334155"/>
                </a:solidFill>
              </a:defRPr>
            </a:pPr>
            <a:r>
              <a:t>Giải phẫu 3 thành phần payload:</a:t>
            </a:r>
            <a:br/>
            <a:r>
              <a:t>1. Dấu nháy đơn (') : Đóng sớm chuỗi Username, đưa ngữ cảnh trở lại câu lệnh SQL.</a:t>
            </a:r>
            <a:br/>
            <a:r>
              <a:t>2. Mệnh đề OR '1'='1' : Biểu thức logic chân lý (luôn TRUE cho mọi bản ghi trong bảng Accounts).</a:t>
            </a:r>
            <a:br/>
            <a:r>
              <a:t>3. Ký tự chú thích (--) : Vô hiệu hóa hoàn toàn bước kiểm tra mật khẩu phía sau (AND Password = '...').</a:t>
            </a:r>
          </a:p>
        </p:txBody>
      </p:sp>
      <p:sp>
        <p:nvSpPr>
          <p:cNvPr id="7" name="Rounded Rectangle 6"/>
          <p:cNvSpPr/>
          <p:nvPr/>
        </p:nvSpPr>
        <p:spPr>
          <a:xfrm>
            <a:off x="731520" y="5303520"/>
            <a:ext cx="10728655" cy="86868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D4ED8"/>
                </a:solidFill>
              </a:defRPr>
            </a:pPr>
            <a:r>
              <a:t>💻 [HỌC LIVE DEMO]: Chuyển sang Web UI Tab 1 &amp; VS Code SQL Server</a:t>
            </a:r>
          </a:p>
          <a:p>
            <a:pPr>
              <a:spcBef>
                <a:spcPts val="200"/>
              </a:spcBef>
              <a:defRPr sz="1100">
                <a:solidFill>
                  <a:srgbClr val="334155"/>
                </a:solidFill>
              </a:defRPr>
            </a:pPr>
            <a:r>
              <a:t>Thao tác trực tiếp: Nạp payload ' OR '1'='1' -- -&gt; Bấm submit bên Đỏ (rò rỉ 4 tài khoản) -&gt; Chuyển VS Code đối chiếu query.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1 • NGUYỄN DANH HỌC (23A1001D0158)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1.4. SQL Injection: Cơ Chế Phòng Thủ Chuẩn EF Core LINQ</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47857"/>
                </a:solidFill>
              </a:defRPr>
            </a:pPr>
            <a:r>
              <a:t>Cách Viết Code Chuẩn Hóa Với EF Core</a:t>
            </a:r>
          </a:p>
          <a:p>
            <a:pPr>
              <a:spcBef>
                <a:spcPts val="800"/>
              </a:spcBef>
              <a:defRPr sz="1000">
                <a:solidFill>
                  <a:srgbClr val="065F46"/>
                </a:solidFill>
                <a:latin typeface="Courier New"/>
              </a:defRPr>
            </a:pPr>
            <a:r>
              <a:t>// DÙNG LINQ PARAMETERIZED (KHUYÊN DÙNG):</a:t>
            </a:r>
            <a:br/>
            <a:r>
              <a:t>var account = _context.Accounts</a:t>
            </a:r>
            <a:br/>
            <a:r>
              <a:t>    .FirstOrDefault(a =&gt; a.Username == user </a:t>
            </a:r>
            <a:br/>
            <a:r>
              <a:t>                      &amp;&amp; a.Password == pass);</a:t>
            </a:r>
            <a:br/>
            <a:br/>
            <a:r>
              <a:t>// HOẶC DÙNG FROMSQLINTERPOLATED (NẾU DÙNG SQL THUẦN):</a:t>
            </a:r>
            <a:br/>
            <a:r>
              <a:t>var account = _context.Accounts</a:t>
            </a:r>
            <a:br/>
            <a:r>
              <a:t>    .FromSqlInterpolated($"SELECT * FROM Accounts " +</a:t>
            </a:r>
            <a:br/>
            <a:r>
              <a:t>                         $"WHERE Username={user} " +</a:t>
            </a:r>
            <a:br/>
            <a:r>
              <a:t>                         $"AND Password={pass}")</a:t>
            </a:r>
            <a:br/>
            <a:r>
              <a:t>    .FirstOrDefault();</a:t>
            </a:r>
          </a:p>
          <a:p>
            <a:pPr>
              <a:spcBef>
                <a:spcPts val="1200"/>
              </a:spcBef>
              <a:defRPr sz="1200">
                <a:solidFill>
                  <a:srgbClr val="0F172A"/>
                </a:solidFill>
              </a:defRPr>
            </a:pPr>
            <a:r>
              <a:t>Tại sao cách này an toàn tuyệt đối?</a:t>
            </a:r>
            <a:br/>
            <a:r>
              <a:t>SQL Server biên dịch cây thực thi (Execution Plan) TRƯỚC khi gán dữ liệu. Biến @p0 nhận toàn bộ payload như một chuỗi chữ bình thường, vô hiệu hóa hoàn toàn ý đồ chèn lệnh.</a:t>
            </a:r>
          </a:p>
        </p:txBody>
      </p:sp>
      <p:sp>
        <p:nvSpPr>
          <p:cNvPr id="7" name="Rounded Rectangle 6"/>
          <p:cNvSpPr/>
          <p:nvPr/>
        </p:nvSpPr>
        <p:spPr>
          <a:xfrm>
            <a:off x="626364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D4ED8"/>
                </a:solidFill>
              </a:defRPr>
            </a:pPr>
            <a:r>
              <a:t>Bộ Quy Tắc Phòng Thủ Toàn Diện (Defense-in-Depth)</a:t>
            </a:r>
          </a:p>
          <a:p>
            <a:pPr>
              <a:spcBef>
                <a:spcPts val="1000"/>
              </a:spcBef>
              <a:defRPr sz="1200">
                <a:solidFill>
                  <a:srgbClr val="334155"/>
                </a:solidFill>
              </a:defRPr>
            </a:pPr>
            <a:r>
              <a:t>1. Luôn sử dụng Parameterized Query / ORM:</a:t>
            </a:r>
            <a:br/>
            <a:r>
              <a:t>Tuyệt đối không ghép chuỗi SQL thủ công dưới bất kỳ hình thức nào.</a:t>
            </a:r>
            <a:br/>
            <a:br/>
            <a:r>
              <a:t>2. Nguyên tắc đặc quyền tối thiểu (Least Privilege):</a:t>
            </a:r>
            <a:br/>
            <a:r>
              <a:t>Tài khoản kết nối CSDL của ứng dụng chỉ có quyền SELECT/INSERT/UPDATE trên các bảng cần thiết, không bao giờ dùng tài khoản 'sa' hay quyền DDL (DROP, ALTER).</a:t>
            </a:r>
            <a:br/>
            <a:br/>
            <a:r>
              <a:t>3. Xác thực dữ liệu đầu vào (Input Validation):</a:t>
            </a:r>
            <a:br/>
            <a:r>
              <a:t>Sử dụng Data Annotations ([RegularExpression], [StringLength]) kiểm tra chặt chẽ khuôn dạng dữ liệu.</a:t>
            </a:r>
            <a:br/>
            <a:br/>
            <a:r>
              <a:t>4. Mã hóa mật khẩu một chiều (Password Hashing):</a:t>
            </a:r>
            <a:br/>
            <a:r>
              <a:t>Sử dụng ASP.NET Core Identity (PBKDF2/BCrypt) để nếu CSDL có bị lộ, mật khẩu vẫn được bảo vệ an toàn.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2 • NGUYỄN THANH BÌNH (23A1001D0041)</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2.1. Stored XSS: Bản Chất Kỹ Thuật &amp; Ngữ Cảnh Bài Toán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Ngữ Cảnh Nghiệp Vụ Trong Website Tư Vấn</a:t>
            </a:r>
          </a:p>
          <a:p>
            <a:pPr>
              <a:spcBef>
                <a:spcPts val="800"/>
              </a:spcBef>
              <a:defRPr sz="1250">
                <a:solidFill>
                  <a:srgbClr val="334155"/>
                </a:solidFill>
              </a:defRPr>
            </a:pPr>
            <a:r>
              <a:t>• Trong website tư vấn trực tuyến, khách hàng có chức năng đăng đánh giá, nhận xét và gửi câu hỏi tư vấn.</a:t>
            </a:r>
            <a:br/>
            <a:r>
              <a:t>• Bản chất Stored XSS (Persistent XSS): Kẻ tấn công nhúng mã JavaScript độc hại vào nội dung nhận xét.</a:t>
            </a:r>
            <a:br/>
            <a:r>
              <a:t>• Máy chủ không lọc mà lưu thẳng mã độc vào CSDL (bảng dbo.Comments).</a:t>
            </a:r>
            <a:br/>
            <a:r>
              <a:t>• Nguy hiểm: Mỗi khi bất kỳ người dùng khác, chuyên gia hoặc quản trị viên mở trang đánh giá, trình duyệt của họ sẽ tự động biên dịch và thực thi đoạn script độc hại đó.</a:t>
            </a:r>
          </a:p>
        </p:txBody>
      </p:sp>
      <p:sp>
        <p:nvSpPr>
          <p:cNvPr id="7" name="Rounded Rectangle 6"/>
          <p:cNvSpPr/>
          <p:nvPr/>
        </p:nvSpPr>
        <p:spPr>
          <a:xfrm>
            <a:off x="6263640" y="1280160"/>
            <a:ext cx="5166360"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Mã Nguồn C# Gây Lỗi &amp; Sự Lạm Dụng @@Html.Raw</a:t>
            </a:r>
          </a:p>
          <a:p>
            <a:pPr>
              <a:spcBef>
                <a:spcPts val="800"/>
              </a:spcBef>
              <a:defRPr sz="1050">
                <a:solidFill>
                  <a:srgbClr val="9F1239"/>
                </a:solidFill>
                <a:latin typeface="Courier New"/>
              </a:defRPr>
            </a:pPr>
            <a:r>
              <a:t>// 1. CONTROLLER LƯU NGUYÊN VĂN KHÔNG LÀM SẠCH:</a:t>
            </a:r>
            <a:br/>
            <a:r>
              <a:t>var comment = new Comment {</a:t>
            </a:r>
            <a:br/>
            <a:r>
              <a:t>    Author = author,</a:t>
            </a:r>
            <a:br/>
            <a:r>
              <a:t>    Content = content // Chứa thẻ &lt;script&gt; độc hại</a:t>
            </a:r>
            <a:br/>
            <a:r>
              <a:t>};</a:t>
            </a:r>
            <a:br/>
            <a:r>
              <a:t>_context.Comments.Add(comment);</a:t>
            </a:r>
            <a:br/>
            <a:br/>
            <a:r>
              <a:t>// 2. RAZOR VIEW LẠM DỤNG HTML.RAW:</a:t>
            </a:r>
            <a:br/>
            <a:r>
              <a:t>&lt;div class="comment-body"&gt;</a:t>
            </a:r>
            <a:br/>
            <a:r>
              <a:t>    @Html.Raw(comment.Content) </a:t>
            </a:r>
            <a:br/>
            <a:r>
              <a:t>&lt;/div&gt;</a:t>
            </a:r>
          </a:p>
          <a:p>
            <a:pPr>
              <a:spcBef>
                <a:spcPts val="1200"/>
              </a:spcBef>
              <a:defRPr sz="1200">
                <a:solidFill>
                  <a:srgbClr val="0F172A"/>
                </a:solidFill>
              </a:defRPr>
            </a:pPr>
            <a:r>
              <a:t>⚠️ Điểm mù lập trình viên:</a:t>
            </a:r>
            <a:br/>
            <a:r>
              <a:t>Sử dụng @Html.Raw() với mục đích cho phép hiển thị format HTML nhưng vô tình mở toang cánh cửa cho hacker thực thi JavaScript trên máy nạn nhân.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2 • NGUYỄN THANH BÌNH (23A1001D0041)</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2.2. Stored XSS: Mối Đe Dọa Đánh Cắp Cookie &amp; Session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3328416"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E123C"/>
                </a:solidFill>
              </a:defRPr>
            </a:pPr>
            <a:r>
              <a:t>🍪 ĐÁNH CẮP SESSION COOKIE</a:t>
            </a:r>
            <a:br/>
            <a:r>
              <a:t>(Cookie Stealing)</a:t>
            </a:r>
          </a:p>
          <a:p>
            <a:pPr>
              <a:spcBef>
                <a:spcPts val="1000"/>
              </a:spcBef>
              <a:defRPr sz="1200">
                <a:solidFill>
                  <a:srgbClr val="334155"/>
                </a:solidFill>
              </a:defRPr>
            </a:pPr>
            <a:r>
              <a:t>• Mã độc truy cập document.cookie để trích xuất Session Token của nạn nhân.</a:t>
            </a:r>
            <a:br/>
            <a:r>
              <a:t>• Tự động gửi token về máy chủ của hacker.</a:t>
            </a:r>
            <a:br/>
            <a:r>
              <a:t>• Hacker giả mạo danh tính nạn nhân (Session Hijacking) đăng nhập vào tài khoản mà không cần mật khẩu.</a:t>
            </a:r>
          </a:p>
        </p:txBody>
      </p:sp>
      <p:sp>
        <p:nvSpPr>
          <p:cNvPr id="7" name="Rounded Rectangle 6"/>
          <p:cNvSpPr/>
          <p:nvPr/>
        </p:nvSpPr>
        <p:spPr>
          <a:xfrm>
            <a:off x="4416552" y="1280160"/>
            <a:ext cx="3328416" cy="4846320"/>
          </a:xfrm>
          <a:prstGeom prst="roundRect">
            <a:avLst/>
          </a:prstGeom>
          <a:solidFill>
            <a:srgbClr val="FFFBEB"/>
          </a:solidFill>
          <a:ln>
            <a:solidFill>
              <a:srgbClr val="FEF08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B45309"/>
                </a:solidFill>
              </a:defRPr>
            </a:pPr>
            <a:r>
              <a:t>🎣 THAY ĐỔI NỘI DUNG GIAO DIỆN</a:t>
            </a:r>
            <a:br/>
            <a:r>
              <a:t>(DOM Defacement &amp; Phishing)</a:t>
            </a:r>
          </a:p>
          <a:p>
            <a:pPr>
              <a:spcBef>
                <a:spcPts val="1000"/>
              </a:spcBef>
              <a:defRPr sz="1200">
                <a:solidFill>
                  <a:srgbClr val="334155"/>
                </a:solidFill>
              </a:defRPr>
            </a:pPr>
            <a:r>
              <a:t>• Hacker dùng JavaScript chèn form đăng nhập giả mạo đè lên giao diện website thật.</a:t>
            </a:r>
            <a:br/>
            <a:r>
              <a:t>• Lừa người dùng nhập lại tài khoản ngân hàng hoặc mật khẩu.</a:t>
            </a:r>
            <a:br/>
            <a:r>
              <a:t>• Chuyển hướng người dùng sang trang web lừa đảo (Open Redirect).</a:t>
            </a:r>
          </a:p>
        </p:txBody>
      </p:sp>
      <p:sp>
        <p:nvSpPr>
          <p:cNvPr id="8" name="Rounded Rectangle 7"/>
          <p:cNvSpPr/>
          <p:nvPr/>
        </p:nvSpPr>
        <p:spPr>
          <a:xfrm>
            <a:off x="8101584" y="1280160"/>
            <a:ext cx="3328416" cy="4846320"/>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D4ED8"/>
                </a:solidFill>
              </a:defRPr>
            </a:pPr>
            <a:r>
              <a:t>🤖 THỰC HIỆN THAO TÁC NGẦM</a:t>
            </a:r>
            <a:br/>
            <a:r>
              <a:t>(XSS-Keylogger)</a:t>
            </a:r>
          </a:p>
          <a:p>
            <a:pPr>
              <a:spcBef>
                <a:spcPts val="1000"/>
              </a:spcBef>
              <a:defRPr sz="1200">
                <a:solidFill>
                  <a:srgbClr val="334155"/>
                </a:solidFill>
              </a:defRPr>
            </a:pPr>
            <a:r>
              <a:t>• Lắng nghe sự kiện bàn phím của nạn nhân (Keylogging) khi họ chat với chuyên gia.</a:t>
            </a:r>
            <a:br/>
            <a:r>
              <a:t>• Tự động gửi tin nhắn hoặc đánh giá 5 sao giả mạo danh nghĩa của người dùng.</a:t>
            </a:r>
            <a:br/>
            <a:r>
              <a:t>• Biến trình duyệt nạn nhân thành botnet tấn công từ chối dịch vụ.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2 • NGUYỄN THANH BÌNH (23A1001D0041)</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2.3. Stored XSS: Kịch Bản Khai Thác &amp; Live Demo Tương Tác</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10728655" cy="3840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Kịch bản: Chèn Script Đánh Cắp Cookie Vào Chức Năng Đánh Giá</a:t>
            </a:r>
          </a:p>
          <a:p>
            <a:pPr>
              <a:spcBef>
                <a:spcPts val="600"/>
              </a:spcBef>
              <a:defRPr sz="1150" b="1">
                <a:solidFill>
                  <a:srgbClr val="1D4ED8"/>
                </a:solidFill>
                <a:latin typeface="Courier New"/>
              </a:defRPr>
            </a:pPr>
            <a:r>
              <a:t>Payload 1 (Thẻ Script): &lt;script&gt;alert('Lộ Cookie: ' + document.cookie);&lt;/script&gt;</a:t>
            </a:r>
            <a:br/>
            <a:r>
              <a:t>Payload 2 (Bypass qua thẻ ảnh): &lt;img src=x onerror=alert('XSS kích hoạt qua onerror!')&gt;</a:t>
            </a:r>
            <a:br/>
            <a:r>
              <a:t>Payload 3 (Defacement): &lt;script&gt;document.body.innerHTML='&lt;h1&gt;WEB ĐÃ BỊ HACK&lt;/h1&gt;';&lt;/script&gt;</a:t>
            </a:r>
          </a:p>
          <a:p>
            <a:pPr>
              <a:spcBef>
                <a:spcPts val="1000"/>
              </a:spcBef>
              <a:defRPr sz="1200">
                <a:solidFill>
                  <a:srgbClr val="334155"/>
                </a:solidFill>
              </a:defRPr>
            </a:pPr>
            <a:r>
              <a:t>Cơ chế kích hoạt thực nghiệm:</a:t>
            </a:r>
            <a:br/>
            <a:r>
              <a:t>1. Hacker gửi bình luận chứa payload lên máy chủ qua form dính lỗi.</a:t>
            </a:r>
            <a:br/>
            <a:r>
              <a:t>2. Máy chủ lưu trực tiếp đoạn mã vào bảng dbo.Comments.</a:t>
            </a:r>
            <a:br/>
            <a:r>
              <a:t>3. Khi tải lại trang, trình duyệt đọc thấy thẻ &lt;script&gt; và lập tức thực thi: Popup Alert bật lên hiển thị giá trị AuthSessionToken giả lập được lưu trong cookie!</a:t>
            </a:r>
          </a:p>
        </p:txBody>
      </p:sp>
      <p:sp>
        <p:nvSpPr>
          <p:cNvPr id="7" name="Rounded Rectangle 6"/>
          <p:cNvSpPr/>
          <p:nvPr/>
        </p:nvSpPr>
        <p:spPr>
          <a:xfrm>
            <a:off x="731520" y="5303520"/>
            <a:ext cx="10728655" cy="86868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BE123C"/>
                </a:solidFill>
              </a:defRPr>
            </a:pPr>
            <a:r>
              <a:t>💬 [BÌNH LIVE DEMO]: Chuyển sang Web UI Tab 2 (Stored XSS)</a:t>
            </a:r>
          </a:p>
          <a:p>
            <a:pPr>
              <a:spcBef>
                <a:spcPts val="200"/>
              </a:spcBef>
              <a:defRPr sz="1100">
                <a:solidFill>
                  <a:srgbClr val="334155"/>
                </a:solidFill>
              </a:defRPr>
            </a:pPr>
            <a:r>
              <a:t>Thao tác: Bấm nạp payload đánh cắp Cookie -&gt; Đăng bên Lỗi (bật popup alert lộ Session) -&gt; Đăng bên An toàn (chữ hiển thị an toàn).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2 • NGUYỄN THANH BÌNH (23A1001D0041)</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2.4. Stored XSS: Cơ Chế Phòng Thủ Chuẩn Trong ASP.NET Core</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47857"/>
                </a:solidFill>
              </a:defRPr>
            </a:pPr>
            <a:r>
              <a:t>Cơ Chế HTML Encoding Tự Động Của Razor View</a:t>
            </a:r>
          </a:p>
          <a:p>
            <a:pPr>
              <a:spcBef>
                <a:spcPts val="800"/>
              </a:spcBef>
              <a:defRPr sz="1050">
                <a:solidFill>
                  <a:srgbClr val="065F46"/>
                </a:solidFill>
                <a:latin typeface="Courier New"/>
              </a:defRPr>
            </a:pPr>
            <a:r>
              <a:t>// PHÒNG THỦ MẶC ĐỊNH (KHÔNG DÙNG HTML.RAW):</a:t>
            </a:r>
            <a:br/>
            <a:r>
              <a:t>&lt;p&gt;@comment.Content&lt;/p&gt;</a:t>
            </a:r>
            <a:br/>
            <a:br/>
            <a:r>
              <a:t>// HOẶC MÃ HÓA TẠI CONTROLLER TRƯỚC KHI LƯU:</a:t>
            </a:r>
            <a:br/>
            <a:r>
              <a:t>string encoded = HtmlEncoder.Default.Encode(content);</a:t>
            </a:r>
            <a:br/>
            <a:r>
              <a:t>comment.Content = encoded;</a:t>
            </a:r>
          </a:p>
          <a:p>
            <a:pPr>
              <a:spcBef>
                <a:spcPts val="1200"/>
              </a:spcBef>
              <a:defRPr sz="1200">
                <a:solidFill>
                  <a:srgbClr val="0F172A"/>
                </a:solidFill>
              </a:defRPr>
            </a:pPr>
            <a:r>
              <a:t>Cơ chế biến đổi ký tự nguy hiểm:</a:t>
            </a:r>
            <a:br/>
            <a:r>
              <a:t>• Ký tự '&lt;' biến thành &amp;lt;</a:t>
            </a:r>
            <a:br/>
            <a:r>
              <a:t>• Ký tự '&gt;' biến thành &amp;gt;</a:t>
            </a:r>
            <a:br/>
            <a:r>
              <a:t>• Dấu ngoặc kép '"' biến thành &amp;quot;</a:t>
            </a:r>
            <a:br/>
            <a:r>
              <a:t>Trình duyệt thông dịch đây là ký tự văn bản thuần túy để hiển thị, tuyệt đối không coi là thẻ thực thi mã JavaScript.</a:t>
            </a:r>
          </a:p>
        </p:txBody>
      </p:sp>
      <p:sp>
        <p:nvSpPr>
          <p:cNvPr id="7" name="Rounded Rectangle 6"/>
          <p:cNvSpPr/>
          <p:nvPr/>
        </p:nvSpPr>
        <p:spPr>
          <a:xfrm>
            <a:off x="626364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D4ED8"/>
                </a:solidFill>
              </a:defRPr>
            </a:pPr>
            <a:r>
              <a:t>Bộ Giải Pháp Phòng Vệ Chiều Sâu (Defense-in-Depth)</a:t>
            </a:r>
          </a:p>
          <a:p>
            <a:pPr>
              <a:spcBef>
                <a:spcPts val="1000"/>
              </a:spcBef>
              <a:defRPr sz="1200">
                <a:solidFill>
                  <a:srgbClr val="334155"/>
                </a:solidFill>
              </a:defRPr>
            </a:pPr>
            <a:r>
              <a:t>1. Bật cờ HttpOnly = true cho Cookie phiên:</a:t>
            </a:r>
            <a:br/>
            <a:r>
              <a:t>Ngăn chặn tuyệt đối mọi đoạn mã JavaScript (kể cả khi đã inject thành công) truy cập vào document.cookie.</a:t>
            </a:r>
            <a:br/>
            <a:br/>
            <a:r>
              <a:t>2. Cấu hình Content Security Policy (CSP Header):</a:t>
            </a:r>
            <a:br/>
            <a:r>
              <a:t>Thiết lập HTTP Header chỉ cho phép thực thi script từ nguồn đáng tin cậy, chặn đứng inline script (&lt;script&gt;...&lt;/script&gt;).</a:t>
            </a:r>
            <a:br/>
            <a:br/>
            <a:r>
              <a:t>3. Làm sạch dữ liệu đầu vào (Input Sanitization):</a:t>
            </a:r>
            <a:br/>
            <a:r>
              <a:t>Sử dụng thư viện HtmlSanitizer để loại bỏ triệt để các thẻ nguy hiểm (&lt;script&gt;, &lt;iframe&gt;, &lt;object&gt;, thuộc tính onerror/onload).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3 • NGUYỄN MINH CƯỜNG (23A1001D0058)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3.1. CSRF Attack: Bản Chất Kỹ Thuật &amp; Cơ Chế Giả Mạo</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Bản Chất Của Lỗ Hổng Cross-Site Request Forgery</a:t>
            </a:r>
          </a:p>
          <a:p>
            <a:pPr>
              <a:spcBef>
                <a:spcPts val="800"/>
              </a:spcBef>
              <a:defRPr sz="1250">
                <a:solidFill>
                  <a:srgbClr val="334155"/>
                </a:solidFill>
              </a:defRPr>
            </a:pPr>
            <a:r>
              <a:t>• CSRF (A01:2021 - Broken Access Control) là kỹ thuật tấn công mượn quyền của người dùng hợp lệ.</a:t>
            </a:r>
            <a:br/>
            <a:r>
              <a:t>• Điều kiện xảy ra:</a:t>
            </a:r>
            <a:br/>
            <a:r>
              <a:t>  1. Nạn nhân đã đăng nhập vào hệ thống tư vấn trực tuyến (phiên làm việc Session/Cookie vẫn đang hợp lệ).</a:t>
            </a:r>
            <a:br/>
            <a:r>
              <a:t>  2. Trình duyệt tự động đính kèm Cookie xác thực vào mọi HTTP Request gửi tới hệ thống đó.</a:t>
            </a:r>
            <a:br/>
            <a:r>
              <a:t>  3. Kẻ tấn công lừa nạn nhân truy cập một trang web độc hại ở một tab khác (Attacker Site).</a:t>
            </a:r>
            <a:br/>
            <a:r>
              <a:t>• Điểm mù: Máy chủ chỉ kiểm tra Cookie mà không kiểm tra xem Request đó bắt nguồn từ đâu!</a:t>
            </a:r>
          </a:p>
        </p:txBody>
      </p:sp>
      <p:sp>
        <p:nvSpPr>
          <p:cNvPr id="7" name="Rounded Rectangle 6"/>
          <p:cNvSpPr/>
          <p:nvPr/>
        </p:nvSpPr>
        <p:spPr>
          <a:xfrm>
            <a:off x="6263640" y="1280160"/>
            <a:ext cx="5166360"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BE123C"/>
                </a:solidFill>
              </a:defRPr>
            </a:pPr>
            <a:r>
              <a:t>Action Bị Lỗi: Thiếu Thuộc Tính Phòng Vệ</a:t>
            </a:r>
          </a:p>
          <a:p>
            <a:pPr>
              <a:spcBef>
                <a:spcPts val="800"/>
              </a:spcBef>
              <a:defRPr sz="1000">
                <a:solidFill>
                  <a:srgbClr val="9F1239"/>
                </a:solidFill>
                <a:latin typeface="Courier New"/>
              </a:defRPr>
            </a:pPr>
            <a:r>
              <a:t>// ACTION NHẬN TIỀN KHÔNG CÓ BẢO VỆ TOKEN:</a:t>
            </a:r>
            <a:br/>
            <a:r>
              <a:t>[HttpPost]</a:t>
            </a:r>
            <a:br/>
            <a:r>
              <a:t>public IActionResult TransferVulnerable(decimal amount)</a:t>
            </a:r>
            <a:br/>
            <a:r>
              <a:t>{</a:t>
            </a:r>
            <a:br/>
            <a:r>
              <a:t>    var victim = _context.Wallets.Find(1);</a:t>
            </a:r>
            <a:br/>
            <a:r>
              <a:t>    var hacker = _context.Wallets.Find(2);</a:t>
            </a:r>
            <a:br/>
            <a:r>
              <a:t>    </a:t>
            </a:r>
            <a:br/>
            <a:r>
              <a:t>    // Trừ tiền nạn nhân, cộng tiền hacker:</a:t>
            </a:r>
            <a:br/>
            <a:r>
              <a:t>    victim.Balance -= amount;</a:t>
            </a:r>
            <a:br/>
            <a:r>
              <a:t>    hacker.Balance += amount;</a:t>
            </a:r>
            <a:br/>
            <a:r>
              <a:t>    _context.SaveChanges();</a:t>
            </a:r>
            <a:br/>
            <a:r>
              <a:t>    return RedirectToAction("Index");</a:t>
            </a:r>
            <a:br/>
            <a:r>
              <a:t>}</a:t>
            </a:r>
          </a:p>
          <a:p>
            <a:pPr>
              <a:spcBef>
                <a:spcPts val="1000"/>
              </a:spcBef>
              <a:defRPr sz="1200">
                <a:solidFill>
                  <a:srgbClr val="0F172A"/>
                </a:solidFill>
              </a:defRPr>
            </a:pPr>
            <a:r>
              <a:t>⚠️ Nguy hiểm:</a:t>
            </a:r>
            <a:br/>
            <a:r>
              <a:t>Bất kỳ trang web nào trên Internet cũng có thể gửi form POST tới URL này. Máy chủ thấy Cookie hợp lệ sẽ trừ tiền ngay lập tức!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3 • NGUYỄN MINH CƯỜNG (23A1001D0058)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3.2. CSRF Attack: Kịch Bản Lừa Đảo Chuyển Tiền Ví Ngầm</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10728655" cy="4846320"/>
          </a:xfrm>
          <a:prstGeom prst="roundRect">
            <a:avLst/>
          </a:prstGeom>
          <a:solidFill>
            <a:srgbClr val="FFF1F2"/>
          </a:solidFill>
          <a:ln>
            <a:solidFill>
              <a:srgbClr val="FECDD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BE123C"/>
                </a:solidFill>
              </a:defRPr>
            </a:pPr>
            <a:r>
              <a:t>Kịch bản: Trang Web Giả Mạo Trúng Thưởng (Attacker Site)</a:t>
            </a:r>
          </a:p>
          <a:p>
            <a:pPr>
              <a:spcBef>
                <a:spcPts val="800"/>
              </a:spcBef>
              <a:defRPr sz="1300">
                <a:solidFill>
                  <a:srgbClr val="334155"/>
                </a:solidFill>
              </a:defRPr>
            </a:pPr>
            <a:r>
              <a:t>1. Nạn nhân có 50.000.000 VNĐ trong ví đang mở tab làm việc tại nền tảng tư vấn trực tuyến.</a:t>
            </a:r>
            <a:br/>
            <a:r>
              <a:t>2. Kẻ tấn công gửi link: 'Chúc mừng bạn trúng thưởng iPhone 16 Pro Max! Click để nhận quà!'.</a:t>
            </a:r>
            <a:br/>
            <a:r>
              <a:t>3. Khi nạn nhân click vào link, một trang web bẫy (AttackerSite.cshtml) được mở ra, bên trong chứa mã HTML ẩn:</a:t>
            </a:r>
          </a:p>
          <a:p>
            <a:pPr>
              <a:spcBef>
                <a:spcPts val="600"/>
              </a:spcBef>
              <a:defRPr sz="1100" b="1">
                <a:solidFill>
                  <a:srgbClr val="9F1239"/>
                </a:solidFill>
                <a:latin typeface="Courier New"/>
              </a:defRPr>
            </a:pPr>
            <a:r>
              <a:t>&lt;!-- FORM ẨN TỰ ĐỘNG GỬI SANG HỆ THỐNG MỤC TIÊU --&gt;</a:t>
            </a:r>
            <a:br/>
            <a:r>
              <a:t>&lt;form id="exploit" action="http://localhost:5076/Csrf/TransferVulnerable" method="POST"&gt;</a:t>
            </a:r>
            <a:br/>
            <a:r>
              <a:t>    &lt;input type="hidden" name="amount" value="20000000" /&gt;</a:t>
            </a:r>
            <a:br/>
            <a:r>
              <a:t>&lt;/form&gt;</a:t>
            </a:r>
            <a:br/>
            <a:r>
              <a:t>&lt;script&gt;document.getElementById('exploit').submit();&lt;/script&gt;</a:t>
            </a:r>
          </a:p>
          <a:p>
            <a:pPr>
              <a:spcBef>
                <a:spcPts val="800"/>
              </a:spcBef>
              <a:defRPr sz="1300" b="1">
                <a:solidFill>
                  <a:srgbClr val="BE123C"/>
                </a:solidFill>
              </a:defRPr>
            </a:pPr>
            <a:r>
              <a:t>Hậu quả thực tế: Nạn nhân không hề bấm chuyển tiền, nhưng ví tiền bị trừ ngay 20.000.000 VNĐ sang ví hacker!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3 • NGUYỄN MINH CƯỜNG (23A1001D0058)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3.3. CSRF Attack: Thực Nghiệm Trực Tiếp &amp; Kiểm Thử Rút Tiền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10728655" cy="384048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47857"/>
                </a:solidFill>
              </a:defRPr>
            </a:pPr>
            <a:r>
              <a:t>Quy Trình 3 Bước Thực Nghiệm Trên Giao Diện Web</a:t>
            </a:r>
          </a:p>
          <a:p>
            <a:pPr>
              <a:spcBef>
                <a:spcPts val="800"/>
              </a:spcBef>
              <a:defRPr sz="1300">
                <a:solidFill>
                  <a:srgbClr val="334155"/>
                </a:solidFill>
              </a:defRPr>
            </a:pPr>
            <a:r>
              <a:t>• Bước 1: Kiểm tra số dư ví ban đầu tại Tab 3:</a:t>
            </a:r>
            <a:br/>
            <a:r>
              <a:t>  - Ví Nạn nhân: 50.000.000 VNĐ | Ví Hacker: 0 VNĐ.</a:t>
            </a:r>
            <a:br/>
            <a:r>
              <a:t>• Bước 2: Bấm nút đỏ 'Mở trang web bẫy của Hacker (Attacker Site)' ở tab mới -&gt; Bấm nút 'Nhận thưởng ngay':</a:t>
            </a:r>
            <a:br/>
            <a:r>
              <a:t>  - Ngay lập tức, số dư của nạn nhân bị trừ 20.000.000 VNĐ và chuyển sang ví hacker!</a:t>
            </a:r>
            <a:br/>
            <a:r>
              <a:t>• Bước 3: Thử nghiệm chuyển tiền tại Form bên phải (Đã phòng thủ):</a:t>
            </a:r>
            <a:br/>
            <a:r>
              <a:t>  - Giao dịch chỉ hợp lệ khi được gửi từ chính form trên hệ thống với Anti-Forgery Token hợp lệ.</a:t>
            </a:r>
          </a:p>
        </p:txBody>
      </p:sp>
      <p:sp>
        <p:nvSpPr>
          <p:cNvPr id="7" name="Rounded Rectangle 6"/>
          <p:cNvSpPr/>
          <p:nvPr/>
        </p:nvSpPr>
        <p:spPr>
          <a:xfrm>
            <a:off x="731520" y="5303520"/>
            <a:ext cx="10728655" cy="86868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047857"/>
                </a:solidFill>
              </a:defRPr>
            </a:pPr>
            <a:r>
              <a:t>💳 [CƯỜNG LIVE DEMO]: Chuyển sang Web UI Tab 3 (CSRF)</a:t>
            </a:r>
          </a:p>
          <a:p>
            <a:pPr>
              <a:spcBef>
                <a:spcPts val="200"/>
              </a:spcBef>
              <a:defRPr sz="1100">
                <a:solidFill>
                  <a:srgbClr val="334155"/>
                </a:solidFill>
              </a:defRPr>
            </a:pPr>
            <a:r>
              <a:t>Thao tác: Mở Attacker Site -&gt; Bấm nhận thưởng -&gt; Quay lại thấy số dư ví nạn nhân bị trừ 20 triệu -&gt; Thử lại form có Token.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CHỦ ĐỀ 3 • NGUYỄN MINH CƯỜNG (23A1001D0058)</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3.4. CSRF Attack: Cơ Chế Phòng Thủ Bằng Anti-Forgery Token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5166360" cy="4846320"/>
          </a:xfrm>
          <a:prstGeom prst="roundRect">
            <a:avLst/>
          </a:prstGeom>
          <a:solidFill>
            <a:srgbClr val="ECFDF5"/>
          </a:solidFill>
          <a:ln>
            <a:solidFill>
              <a:srgbClr val="A7F3D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47857"/>
                </a:solidFill>
              </a:defRPr>
            </a:pPr>
            <a:r>
              <a:t>Cơ Chế Synchronizer Token Pattern Trong ASP.NET Core</a:t>
            </a:r>
          </a:p>
          <a:p>
            <a:pPr>
              <a:spcBef>
                <a:spcPts val="800"/>
              </a:spcBef>
              <a:defRPr sz="950">
                <a:solidFill>
                  <a:srgbClr val="065F46"/>
                </a:solidFill>
                <a:latin typeface="Courier New"/>
              </a:defRPr>
            </a:pPr>
            <a:r>
              <a:t>// 1. TRONG RAZOR VIEW: NHÚNG TOKEN VÀO FORM</a:t>
            </a:r>
            <a:br/>
            <a:r>
              <a:t>&lt;form asp-action="TransferSecure" method="post"&gt;</a:t>
            </a:r>
            <a:br/>
            <a:r>
              <a:t>    @Html.AntiForgeryToken()</a:t>
            </a:r>
            <a:br/>
            <a:r>
              <a:t>    &lt;input type="number" name="amount" /&gt;</a:t>
            </a:r>
            <a:br/>
            <a:r>
              <a:t>    &lt;button type="submit"&gt;Chuyển tiền&lt;/button&gt;</a:t>
            </a:r>
            <a:br/>
            <a:r>
              <a:t>&lt;/form&gt;</a:t>
            </a:r>
            <a:br/>
            <a:br/>
            <a:r>
              <a:t>// 2. TRONG CONTROLLER: BẮT BUỘC KIỂM TRA TOKEN</a:t>
            </a:r>
            <a:br/>
            <a:r>
              <a:t>[HttpPost]</a:t>
            </a:r>
            <a:br/>
            <a:r>
              <a:t>[ValidateAntiForgeryToken]</a:t>
            </a:r>
            <a:br/>
            <a:r>
              <a:t>public IActionResult TransferSecure(decimal amount)</a:t>
            </a:r>
            <a:br/>
            <a:r>
              <a:t>{</a:t>
            </a:r>
            <a:br/>
            <a:r>
              <a:t>    // Chỉ thực thi khi Token từ Form khớp với Token trong Cookie</a:t>
            </a:r>
            <a:br/>
            <a:r>
              <a:t>}</a:t>
            </a:r>
          </a:p>
        </p:txBody>
      </p:sp>
      <p:sp>
        <p:nvSpPr>
          <p:cNvPr id="7" name="Rounded Rectangle 6"/>
          <p:cNvSpPr/>
          <p:nvPr/>
        </p:nvSpPr>
        <p:spPr>
          <a:xfrm>
            <a:off x="6263640" y="1280160"/>
            <a:ext cx="5166360"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D4ED8"/>
                </a:solidFill>
              </a:defRPr>
            </a:pPr>
            <a:r>
              <a:t>Tại Sao Kẻ Tấn Công Không Thể Vượt Qua?</a:t>
            </a:r>
          </a:p>
          <a:p>
            <a:pPr>
              <a:spcBef>
                <a:spcPts val="1000"/>
              </a:spcBef>
              <a:defRPr sz="1200">
                <a:solidFill>
                  <a:srgbClr val="334155"/>
                </a:solidFill>
              </a:defRPr>
            </a:pPr>
            <a:r>
              <a:t>1. Nguyên tắc cặp Token:</a:t>
            </a:r>
            <a:br/>
            <a:r>
              <a:t>Máy chủ phát hành 1 token mã hóa trong Cookie và 1 token bí mật nhúng vào trường input ẩn của Form.</a:t>
            </a:r>
            <a:br/>
            <a:br/>
            <a:r>
              <a:t>2. Bảo vệ bằng Same-Origin Policy (SOP):</a:t>
            </a:r>
            <a:br/>
            <a:r>
              <a:t>Trang web độc hại của hacker ở tên miền khác (Cross-Origin) TUYỆT ĐỐI KHÔNG THỂ đọc trộm token bí mật trong form của nạn nhân.</a:t>
            </a:r>
            <a:br/>
            <a:br/>
            <a:r>
              <a:t>3. Cấu hình Cookie SameSite = Strict:</a:t>
            </a:r>
            <a:br/>
            <a:r>
              <a:t>Ngăn chặn trình duyệt tự động gửi cookie trong các cross-site request, triệt tiêu tận gốc tiền đề tấn công của CSRF.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OWASP TOP 10 • THỰC NGHIỆM AN TOÀN WEB</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Tổng Kết: So Sánh Đối Chứng 3 Lỗ Hổng Web Kinh Điển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graphicFrame>
        <p:nvGraphicFramePr>
          <p:cNvPr id="6" name="Table 5"/>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682163"/>
                <a:gridCol w="2682163"/>
                <a:gridCol w="2682163"/>
                <a:gridCol w="2682166"/>
              </a:tblGrid>
              <a:tr h="1188720">
                <a:tc>
                  <a:txBody>
                    <a:bodyPr/>
                    <a:lstStyle/>
                    <a:p>
                      <a:pPr>
                        <a:defRPr b="1" sz="1200">
                          <a:solidFill>
                            <a:srgbClr val="FFFFFF"/>
                          </a:solidFill>
                        </a:defRPr>
                      </a:pPr>
                      <a:r>
                        <a:t>Tiêu chí so sánh</a:t>
                      </a:r>
                    </a:p>
                  </a:txBody>
                  <a:tcPr>
                    <a:solidFill>
                      <a:srgbClr val="1D4ED8"/>
                    </a:solidFill>
                  </a:tcPr>
                </a:tc>
                <a:tc>
                  <a:txBody>
                    <a:bodyPr/>
                    <a:lstStyle/>
                    <a:p>
                      <a:pPr>
                        <a:defRPr b="1" sz="1200">
                          <a:solidFill>
                            <a:srgbClr val="FFFFFF"/>
                          </a:solidFill>
                        </a:defRPr>
                      </a:pPr>
                      <a:r>
                        <a:t>SQL Injection (Học)</a:t>
                      </a:r>
                    </a:p>
                  </a:txBody>
                  <a:tcPr>
                    <a:solidFill>
                      <a:srgbClr val="1D4ED8"/>
                    </a:solidFill>
                  </a:tcPr>
                </a:tc>
                <a:tc>
                  <a:txBody>
                    <a:bodyPr/>
                    <a:lstStyle/>
                    <a:p>
                      <a:pPr>
                        <a:defRPr b="1" sz="1200">
                          <a:solidFill>
                            <a:srgbClr val="FFFFFF"/>
                          </a:solidFill>
                        </a:defRPr>
                      </a:pPr>
                      <a:r>
                        <a:t>Stored XSS (Bình)</a:t>
                      </a:r>
                    </a:p>
                  </a:txBody>
                  <a:tcPr>
                    <a:solidFill>
                      <a:srgbClr val="1D4ED8"/>
                    </a:solidFill>
                  </a:tcPr>
                </a:tc>
                <a:tc>
                  <a:txBody>
                    <a:bodyPr/>
                    <a:lstStyle/>
                    <a:p>
                      <a:pPr>
                        <a:defRPr b="1" sz="1200">
                          <a:solidFill>
                            <a:srgbClr val="FFFFFF"/>
                          </a:solidFill>
                        </a:defRPr>
                      </a:pPr>
                      <a:r>
                        <a:t>CSRF Attack (Cường)</a:t>
                      </a:r>
                    </a:p>
                  </a:txBody>
                  <a:tcPr>
                    <a:solidFill>
                      <a:srgbClr val="1D4ED8"/>
                    </a:solidFill>
                  </a:tcPr>
                </a:tc>
              </a:tr>
              <a:tr h="1188720">
                <a:tc>
                  <a:txBody>
                    <a:bodyPr/>
                    <a:lstStyle/>
                    <a:p>
                      <a:pPr>
                        <a:defRPr sz="1100">
                          <a:solidFill>
                            <a:srgbClr val="0F172A"/>
                          </a:solidFill>
                        </a:defRPr>
                      </a:pPr>
                      <a:r>
                        <a:t>Mục tiêu tấn công</a:t>
                      </a:r>
                    </a:p>
                  </a:txBody>
                  <a:tcPr>
                    <a:solidFill>
                      <a:srgbClr val="F8FAFC"/>
                    </a:solidFill>
                  </a:tcPr>
                </a:tc>
                <a:tc>
                  <a:txBody>
                    <a:bodyPr/>
                    <a:lstStyle/>
                    <a:p>
                      <a:pPr>
                        <a:defRPr sz="1100">
                          <a:solidFill>
                            <a:srgbClr val="334155"/>
                          </a:solidFill>
                        </a:defRPr>
                      </a:pPr>
                      <a:r>
                        <a:t>Tầng Cơ sở dữ liệu (SQL Server Engine)</a:t>
                      </a:r>
                    </a:p>
                  </a:txBody>
                  <a:tcPr>
                    <a:solidFill>
                      <a:srgbClr val="F8FAFC"/>
                    </a:solidFill>
                  </a:tcPr>
                </a:tc>
                <a:tc>
                  <a:txBody>
                    <a:bodyPr/>
                    <a:lstStyle/>
                    <a:p>
                      <a:pPr>
                        <a:defRPr sz="1100">
                          <a:solidFill>
                            <a:srgbClr val="334155"/>
                          </a:solidFill>
                        </a:defRPr>
                      </a:pPr>
                      <a:r>
                        <a:t>Tầng Trình duyệt người dùng (Client DOM)</a:t>
                      </a:r>
                    </a:p>
                  </a:txBody>
                  <a:tcPr>
                    <a:solidFill>
                      <a:srgbClr val="F8FAFC"/>
                    </a:solidFill>
                  </a:tcPr>
                </a:tc>
                <a:tc>
                  <a:txBody>
                    <a:bodyPr/>
                    <a:lstStyle/>
                    <a:p>
                      <a:pPr>
                        <a:defRPr sz="1100">
                          <a:solidFill>
                            <a:srgbClr val="334155"/>
                          </a:solidFill>
                        </a:defRPr>
                      </a:pPr>
                      <a:r>
                        <a:t>Quyền hạn của phiên làm việc (Session/Cookie)</a:t>
                      </a:r>
                    </a:p>
                  </a:txBody>
                  <a:tcPr>
                    <a:solidFill>
                      <a:srgbClr val="F8FAFC"/>
                    </a:solidFill>
                  </a:tcPr>
                </a:tc>
              </a:tr>
              <a:tr h="1188720">
                <a:tc>
                  <a:txBody>
                    <a:bodyPr/>
                    <a:lstStyle/>
                    <a:p>
                      <a:pPr>
                        <a:defRPr sz="1100">
                          <a:solidFill>
                            <a:srgbClr val="0F172A"/>
                          </a:solidFill>
                        </a:defRPr>
                      </a:pPr>
                      <a:r>
                        <a:t>Mức độ nghiêm trọng</a:t>
                      </a:r>
                    </a:p>
                  </a:txBody>
                  <a:tcPr>
                    <a:solidFill>
                      <a:srgbClr val="FFFFFF"/>
                    </a:solidFill>
                  </a:tcPr>
                </a:tc>
                <a:tc>
                  <a:txBody>
                    <a:bodyPr/>
                    <a:lstStyle/>
                    <a:p>
                      <a:pPr>
                        <a:defRPr sz="1100" b="1">
                          <a:solidFill>
                            <a:srgbClr val="BE123C"/>
                          </a:solidFill>
                        </a:defRPr>
                      </a:pPr>
                      <a:r>
                        <a:t>CRITICAL (9.8 / 10.0)</a:t>
                      </a:r>
                    </a:p>
                  </a:txBody>
                  <a:tcPr>
                    <a:solidFill>
                      <a:srgbClr val="FFFFFF"/>
                    </a:solidFill>
                  </a:tcPr>
                </a:tc>
                <a:tc>
                  <a:txBody>
                    <a:bodyPr/>
                    <a:lstStyle/>
                    <a:p>
                      <a:pPr>
                        <a:defRPr sz="1100">
                          <a:solidFill>
                            <a:srgbClr val="334155"/>
                          </a:solidFill>
                        </a:defRPr>
                      </a:pPr>
                      <a:r>
                        <a:t>HIGH (7.5 - 8.5 / 10.0)</a:t>
                      </a:r>
                    </a:p>
                  </a:txBody>
                  <a:tcPr>
                    <a:solidFill>
                      <a:srgbClr val="FFFFFF"/>
                    </a:solidFill>
                  </a:tcPr>
                </a:tc>
                <a:tc>
                  <a:txBody>
                    <a:bodyPr/>
                    <a:lstStyle/>
                    <a:p>
                      <a:pPr>
                        <a:defRPr sz="1100">
                          <a:solidFill>
                            <a:srgbClr val="334155"/>
                          </a:solidFill>
                        </a:defRPr>
                      </a:pPr>
                      <a:r>
                        <a:t>MEDIUM / HIGH (6.5 - 8.0 / 10.0)</a:t>
                      </a:r>
                    </a:p>
                  </a:txBody>
                  <a:tcPr>
                    <a:solidFill>
                      <a:srgbClr val="FFFFFF"/>
                    </a:solidFill>
                  </a:tcPr>
                </a:tc>
              </a:tr>
              <a:tr h="1188720">
                <a:tc>
                  <a:txBody>
                    <a:bodyPr/>
                    <a:lstStyle/>
                    <a:p>
                      <a:pPr>
                        <a:defRPr sz="1100">
                          <a:solidFill>
                            <a:srgbClr val="0F172A"/>
                          </a:solidFill>
                        </a:defRPr>
                      </a:pPr>
                      <a:r>
                        <a:t>Giải pháp cốt lõi</a:t>
                      </a:r>
                    </a:p>
                  </a:txBody>
                  <a:tcPr>
                    <a:solidFill>
                      <a:srgbClr val="F8FAFC"/>
                    </a:solidFill>
                  </a:tcPr>
                </a:tc>
                <a:tc>
                  <a:txBody>
                    <a:bodyPr/>
                    <a:lstStyle/>
                    <a:p>
                      <a:pPr>
                        <a:defRPr sz="1100">
                          <a:solidFill>
                            <a:srgbClr val="334155"/>
                          </a:solidFill>
                        </a:defRPr>
                      </a:pPr>
                      <a:r>
                        <a:t>Parameterized Query / EF Core LINQ</a:t>
                      </a:r>
                    </a:p>
                  </a:txBody>
                  <a:tcPr>
                    <a:solidFill>
                      <a:srgbClr val="F8FAFC"/>
                    </a:solidFill>
                  </a:tcPr>
                </a:tc>
                <a:tc>
                  <a:txBody>
                    <a:bodyPr/>
                    <a:lstStyle/>
                    <a:p>
                      <a:pPr>
                        <a:defRPr sz="1100">
                          <a:solidFill>
                            <a:srgbClr val="334155"/>
                          </a:solidFill>
                        </a:defRPr>
                      </a:pPr>
                      <a:r>
                        <a:t>Razor HTML Encoding + HttpOnly Cookie</a:t>
                      </a:r>
                    </a:p>
                  </a:txBody>
                  <a:tcPr>
                    <a:solidFill>
                      <a:srgbClr val="F8FAFC"/>
                    </a:solidFill>
                  </a:tcPr>
                </a:tc>
                <a:tc>
                  <a:txBody>
                    <a:bodyPr/>
                    <a:lstStyle/>
                    <a:p>
                      <a:pPr>
                        <a:defRPr sz="1100">
                          <a:solidFill>
                            <a:srgbClr val="334155"/>
                          </a:solidFill>
                        </a:defRPr>
                      </a:pPr>
                      <a:r>
                        <a:t>Anti-Forgery Token + SameSite Cookie</a:t>
                      </a:r>
                    </a:p>
                  </a:txBody>
                  <a:tcPr>
                    <a:solidFill>
                      <a:srgbClr val="F8FAFC"/>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292608"/>
            <a:ext cx="4389120" cy="347472"/>
          </a:xfrm>
          <a:prstGeom prst="roundRect">
            <a:avLst/>
          </a:prstGeom>
          <a:solidFill>
            <a:srgbClr val="EFF6FF"/>
          </a:solidFill>
          <a:ln>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D4ED8"/>
                </a:solidFill>
              </a:defRPr>
            </a:pPr>
            <a:r>
              <a:t>OWASP TOP 10 • THỰC NGHIỆM AN TOÀN WEB</a:t>
            </a:r>
          </a:p>
        </p:txBody>
      </p:sp>
      <p:sp>
        <p:nvSpPr>
          <p:cNvPr id="4" name="TextBox 3"/>
          <p:cNvSpPr txBox="1"/>
          <p:nvPr/>
        </p:nvSpPr>
        <p:spPr>
          <a:xfrm>
            <a:off x="731520" y="658368"/>
            <a:ext cx="10698480" cy="548640"/>
          </a:xfrm>
          <a:prstGeom prst="rect">
            <a:avLst/>
          </a:prstGeom>
          <a:noFill/>
        </p:spPr>
        <p:txBody>
          <a:bodyPr wrap="square">
            <a:spAutoFit/>
          </a:bodyPr>
          <a:lstStyle/>
          <a:p>
            <a:pPr>
              <a:defRPr sz="2000" b="1">
                <a:solidFill>
                  <a:srgbClr val="0F172A"/>
                </a:solidFill>
              </a:defRPr>
            </a:pPr>
            <a:r>
              <a:t>Áp Dụng Kiến Trúc An Toàn Vào Đồ Án Website Tư Vấn Trực Tuyến</a:t>
            </a:r>
          </a:p>
        </p:txBody>
      </p:sp>
      <p:sp>
        <p:nvSpPr>
          <p:cNvPr id="5" name="TextBox 4"/>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Nhóm WNC.G01 (Học - Bình - Cường) • Khoa CNTT - Đại học Mở Hà Nội • GVHD: ThS. Lê Hữu Dũng</a:t>
            </a:r>
          </a:p>
        </p:txBody>
      </p:sp>
      <p:sp>
        <p:nvSpPr>
          <p:cNvPr id="6" name="Rounded Rectangle 5"/>
          <p:cNvSpPr/>
          <p:nvPr/>
        </p:nvSpPr>
        <p:spPr>
          <a:xfrm>
            <a:off x="731520" y="1280160"/>
            <a:ext cx="10728655" cy="4846320"/>
          </a:xfrm>
          <a:prstGeom prst="roundRect">
            <a:avLst/>
          </a:prstGeom>
          <a:solidFill>
            <a:srgbClr val="F8FAFC"/>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D4ED8"/>
                </a:solidFill>
              </a:defRPr>
            </a:pPr>
            <a:r>
              <a:t>CAM KẾT CHUẨN AN TOÀN ĐA TẦNG CHO BTL (NHÓM WNC.G01):</a:t>
            </a:r>
          </a:p>
          <a:p>
            <a:pPr>
              <a:spcBef>
                <a:spcPts val="1000"/>
              </a:spcBef>
              <a:defRPr sz="1250">
                <a:solidFill>
                  <a:srgbClr val="334155"/>
                </a:solidFill>
              </a:defRPr>
            </a:pPr>
            <a:r>
              <a:t>1. Kiến trúc bảo mật (Security View - Buổi 8): Toàn bộ hệ thống được xây dựng theo nguyên tắc 'Security by Design'. Không xem an ninh là tính năng chắp vá mà tích hợp sâu vào kiến trúc 3 tầng.</a:t>
            </a:r>
            <a:br/>
            <a:br/>
            <a:r>
              <a:t>2. Bảo vệ CSDL tuyệt đối (Nguyễn Danh Học): 100% các câu truy vấn đặt lịch, hồ sơ chuyên gia và đánh giá chất lượng được quản lý bằng Entity Framework Core Code-First với LINQ Parameterized.</a:t>
            </a:r>
            <a:br/>
            <a:br/>
            <a:r>
              <a:t>3. Bảo vệ dữ liệu người dùng (Nguyễn Thanh Bình): 100% nội dung phản hồi tư vấn và bình luận được Razor View mã hóa tự động, Cookie cấu hình HttpOnly = true và Secure = true.</a:t>
            </a:r>
            <a:br/>
            <a:br/>
            <a:r>
              <a:t>4. Bảo vệ giao dịch (Nguyễn Minh Cường): Bắt buộc kiểm tra Anti-Forgery Token trên toàn bộ các form đặt lịch hẹn, nạp tiền ví và đổi mật khẩu.</a:t>
            </a:r>
          </a:p>
          <a:p>
            <a:pPr>
              <a:spcBef>
                <a:spcPts val="1600"/>
              </a:spcBef>
              <a:defRPr sz="1500" b="1">
                <a:solidFill>
                  <a:srgbClr val="BE123C"/>
                </a:solidFill>
              </a:defRPr>
            </a:pPr>
            <a:r>
              <a:t>XIN TRÂN TRỌNG CẢM ƠN THẦY VÀ CÁC BẠN ĐÃ THEO DÕI!</a:t>
            </a:r>
            <a:br/>
            <a:r>
              <a:t>Nhóm WNC.G01 sẵn sàng lắng nghe câu hỏi và nhận xét từ giảng viên.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