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640080"/>
            <a:ext cx="5303520" cy="384048"/>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D4ED8"/>
                </a:solidFill>
                <a:latin typeface="Arial"/>
              </a:defRPr>
            </a:pPr>
            <a:r>
              <a:t>TRƯỜNG ĐẠI HỌC MỞ HÀ NỘI — KHOA CÔNG NGHỆ THÔNG TIN</a:t>
            </a:r>
          </a:p>
        </p:txBody>
      </p:sp>
      <p:sp>
        <p:nvSpPr>
          <p:cNvPr id="4" name="TextBox 3"/>
          <p:cNvSpPr txBox="1"/>
          <p:nvPr/>
        </p:nvSpPr>
        <p:spPr>
          <a:xfrm>
            <a:off x="914400" y="1143000"/>
            <a:ext cx="10362895" cy="2926080"/>
          </a:xfrm>
          <a:prstGeom prst="rect">
            <a:avLst/>
          </a:prstGeom>
          <a:noFill/>
        </p:spPr>
        <p:txBody>
          <a:bodyPr wrap="square">
            <a:spAutoFit/>
          </a:bodyPr>
          <a:lstStyle/>
          <a:p>
            <a:pPr>
              <a:defRPr sz="1500" b="1">
                <a:solidFill>
                  <a:srgbClr val="BE123C"/>
                </a:solidFill>
                <a:latin typeface="Arial"/>
              </a:defRPr>
            </a:pPr>
            <a:r>
              <a:t>BÁO CÁO THỰC NGHIỆM AN TOÀN WEB (OWASP TOP 10)</a:t>
            </a:r>
          </a:p>
          <a:p>
            <a:pPr>
              <a:spcBef>
                <a:spcPts val="800"/>
              </a:spcBef>
              <a:defRPr sz="2800" b="1">
                <a:solidFill>
                  <a:srgbClr val="0F172A"/>
                </a:solidFill>
                <a:latin typeface="Arial"/>
              </a:defRPr>
            </a:pPr>
            <a:r>
              <a:t>Nghiên Cứu Thực Nghiệm Lỗ Hổng Web &amp; Cơ Chế Phòng Thủ</a:t>
            </a:r>
            <a:br/>
            <a:r>
              <a:t>(SQL Injection • Stored XSS • CSRF Attack)</a:t>
            </a:r>
          </a:p>
          <a:p>
            <a:pPr>
              <a:spcBef>
                <a:spcPts val="800"/>
              </a:spcBef>
              <a:defRPr sz="1350" b="0">
                <a:solidFill>
                  <a:srgbClr val="334155"/>
                </a:solidFill>
                <a:latin typeface="Arial"/>
              </a:defRPr>
            </a:pPr>
            <a:r>
              <a:t>Học phần: Lập trình Web nâng cao  •  Giảng viên hướng dẫn: ThS. Lê Hữu Dũng</a:t>
            </a:r>
          </a:p>
        </p:txBody>
      </p:sp>
      <p:sp>
        <p:nvSpPr>
          <p:cNvPr id="5" name="Rounded Rectangle 4"/>
          <p:cNvSpPr/>
          <p:nvPr/>
        </p:nvSpPr>
        <p:spPr>
          <a:xfrm>
            <a:off x="914400" y="4297680"/>
            <a:ext cx="3328416" cy="182880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D4ED8"/>
                </a:solidFill>
                <a:latin typeface="Arial"/>
              </a:defRPr>
            </a:pPr>
            <a:r>
              <a:t>CHỦ ĐỀ 1: SQL INJECTION</a:t>
            </a:r>
          </a:p>
          <a:p>
            <a:pPr>
              <a:spcBef>
                <a:spcPts val="400"/>
              </a:spcBef>
              <a:defRPr sz="1200" b="0">
                <a:solidFill>
                  <a:srgbClr val="0F172A"/>
                </a:solidFill>
                <a:latin typeface="Arial"/>
              </a:defRPr>
            </a:pPr>
            <a:r>
              <a:t>Nguyễn Danh Học</a:t>
            </a:r>
            <a:br/>
            <a:r>
              <a:t>MSV: 23A1001D0158</a:t>
            </a:r>
            <a:br/>
            <a:r>
              <a:t>Trưởng nhóm • Phụ trách CSDL &amp; API</a:t>
            </a:r>
          </a:p>
        </p:txBody>
      </p:sp>
      <p:sp>
        <p:nvSpPr>
          <p:cNvPr id="6" name="Rounded Rectangle 5"/>
          <p:cNvSpPr/>
          <p:nvPr/>
        </p:nvSpPr>
        <p:spPr>
          <a:xfrm>
            <a:off x="4425696" y="4297680"/>
            <a:ext cx="3328416" cy="1828800"/>
          </a:xfrm>
          <a:prstGeom prst="roundRect">
            <a:avLst/>
          </a:prstGeom>
          <a:solidFill>
            <a:srgbClr val="F8FAFC"/>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BE123C"/>
                </a:solidFill>
                <a:latin typeface="Arial"/>
              </a:defRPr>
            </a:pPr>
            <a:r>
              <a:t>CHỦ ĐỀ 2: STORED XSS</a:t>
            </a:r>
          </a:p>
          <a:p>
            <a:pPr>
              <a:spcBef>
                <a:spcPts val="400"/>
              </a:spcBef>
              <a:defRPr sz="1200" b="0">
                <a:solidFill>
                  <a:srgbClr val="0F172A"/>
                </a:solidFill>
                <a:latin typeface="Arial"/>
              </a:defRPr>
            </a:pPr>
            <a:r>
              <a:t>Nguyễn Thanh Bình</a:t>
            </a:r>
            <a:br/>
            <a:r>
              <a:t>MSV: 23A1001D0041</a:t>
            </a:r>
            <a:br/>
            <a:r>
              <a:t>Thành viên • Phụ trách Cookie &amp; DOM</a:t>
            </a:r>
          </a:p>
        </p:txBody>
      </p:sp>
      <p:sp>
        <p:nvSpPr>
          <p:cNvPr id="7" name="Rounded Rectangle 6"/>
          <p:cNvSpPr/>
          <p:nvPr/>
        </p:nvSpPr>
        <p:spPr>
          <a:xfrm>
            <a:off x="7936992" y="4297680"/>
            <a:ext cx="3328416" cy="1828800"/>
          </a:xfrm>
          <a:prstGeom prst="roundRect">
            <a:avLst/>
          </a:prstGeom>
          <a:solidFill>
            <a:srgbClr val="F8FAFC"/>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47857"/>
                </a:solidFill>
                <a:latin typeface="Arial"/>
              </a:defRPr>
            </a:pPr>
            <a:r>
              <a:t>CHỦ ĐỀ 3: CSRF ATTACK</a:t>
            </a:r>
          </a:p>
          <a:p>
            <a:pPr>
              <a:spcBef>
                <a:spcPts val="400"/>
              </a:spcBef>
              <a:defRPr sz="1200" b="0">
                <a:solidFill>
                  <a:srgbClr val="0F172A"/>
                </a:solidFill>
                <a:latin typeface="Arial"/>
              </a:defRPr>
            </a:pPr>
            <a:r>
              <a:t>Nguyễn Minh Cường</a:t>
            </a:r>
            <a:br/>
            <a:r>
              <a:t>MSV: 23A1001D0058</a:t>
            </a:r>
            <a:br/>
            <a:r>
              <a:t>Thành viên • Phụ trách Giao dịch &amp; Token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1.1. SQL Injection: Vị Trí Trong Kiến Trúc 3 Tầng &amp; Nguyên Nhân Gốc</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Vị Trí Xảy Ra Trong Kiến Trúc 3 Tầng</a:t>
            </a:r>
          </a:p>
          <a:p>
            <a:pPr>
              <a:spcBef>
                <a:spcPts val="600"/>
              </a:spcBef>
              <a:defRPr sz="1250" b="1">
                <a:solidFill>
                  <a:srgbClr val="0F172A"/>
                </a:solidFill>
                <a:latin typeface="Arial"/>
              </a:defRPr>
            </a:pPr>
            <a:r>
              <a:t>• Mô hình 3 tầng: Client (Browser) ➔ Web Server (ASP.NET Core) ➔ Database Server (SQL Server 2025).</a:t>
            </a:r>
          </a:p>
          <a:p>
            <a:pPr>
              <a:spcBef>
                <a:spcPts val="600"/>
              </a:spcBef>
              <a:defRPr sz="1200" b="0">
                <a:solidFill>
                  <a:srgbClr val="334155"/>
                </a:solidFill>
                <a:latin typeface="Arial"/>
              </a:defRPr>
            </a:pPr>
            <a:r>
              <a:t>• Luồng dữ liệu bình thường: Người dùng gửi dữ liệu xác thực (username/password) qua HTTP POST. Controller nhận tham số và chuyển cho SQL Server thực thi.</a:t>
            </a:r>
          </a:p>
          <a:p>
            <a:pPr>
              <a:spcBef>
                <a:spcPts val="600"/>
              </a:spcBef>
              <a:defRPr sz="1200" b="0">
                <a:solidFill>
                  <a:srgbClr val="334155"/>
                </a:solidFill>
                <a:latin typeface="Arial"/>
              </a:defRPr>
            </a:pPr>
            <a:r>
              <a:t>• Nguyên nhân gốc rễ (Root Cause): Lập trình viên sử dụng kỹ thuật ghép chuỗi trực tiếp (String Concatenation) để tạo câu lệnh SQL từ dữ liệu người dùng mà không qua cơ chế tham số hóa.</a:t>
            </a:r>
          </a:p>
          <a:p>
            <a:pPr>
              <a:spcBef>
                <a:spcPts val="600"/>
              </a:spcBef>
              <a:defRPr sz="1200" b="0">
                <a:solidFill>
                  <a:srgbClr val="334155"/>
                </a:solidFill>
                <a:latin typeface="Arial"/>
              </a:defRPr>
            </a:pPr>
            <a:r>
              <a:t>• Hậu quả phân tích cú pháp: SQL Server biên dịch chuỗi truy vấn đã bị tiêm nhiễm, coi các ký tự điều khiển của hacker là một phần cấu trúc ngữ pháp của câu lệnh.</a:t>
            </a:r>
          </a:p>
        </p:txBody>
      </p:sp>
      <p:sp>
        <p:nvSpPr>
          <p:cNvPr id="7" name="Rounded Rectangle 6"/>
          <p:cNvSpPr/>
          <p:nvPr/>
        </p:nvSpPr>
        <p:spPr>
          <a:xfrm>
            <a:off x="6263640" y="123444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Đoạn Mã Nguồn Gây Lỗi Cụ Thể (C# / ASP.NET Core)</a:t>
            </a:r>
          </a:p>
          <a:p>
            <a:pPr>
              <a:spcBef>
                <a:spcPts val="800"/>
              </a:spcBef>
              <a:defRPr sz="1050" b="0">
                <a:solidFill>
                  <a:srgbClr val="9F1239"/>
                </a:solidFill>
                <a:latin typeface="Courier New"/>
              </a:defRPr>
            </a:pPr>
            <a:r>
              <a:t>// GHÉP CHUỖI TRỰC TIẾP TRONG CONTROLLER:</a:t>
            </a:r>
            <a:br/>
            <a:r>
              <a:t>string rawSql = $"SELECT * FROM Accounts " +</a:t>
            </a:r>
            <a:br/>
            <a:r>
              <a:t>                $"WHERE Username = '{username}' " +</a:t>
            </a:r>
            <a:br/>
            <a:r>
              <a:t>                $"AND Password = '{password}'";</a:t>
            </a:r>
            <a:br/>
            <a:br/>
            <a:r>
              <a:t>var accounts = _context.Accounts</a:t>
            </a:r>
            <a:br/>
            <a:r>
              <a:t>                       .FromSqlRaw(rawSql)</a:t>
            </a:r>
            <a:br/>
            <a:r>
              <a:t>                       .ToList();</a:t>
            </a:r>
          </a:p>
          <a:p>
            <a:pPr>
              <a:spcBef>
                <a:spcPts val="1400"/>
              </a:spcBef>
              <a:defRPr sz="1200" b="1">
                <a:solidFill>
                  <a:srgbClr val="0F172A"/>
                </a:solidFill>
                <a:latin typeface="Arial"/>
              </a:defRPr>
            </a:pPr>
            <a:r>
              <a:t>Điểm mù kỹ thuật:</a:t>
            </a:r>
            <a:br/>
            <a:r>
              <a:t>Lập trình viên giả định đầu vào '{username}' luôn là văn bản thông thường. Khi kẻ tấn công chèn ký tự nháy đơn ('), ranh giới giữa Dữ liệu (Data) và Cú pháp lệnh (Code) bị xóa nhòa hoàn toàn.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1.2. SQL Injection: 4 Kịch Bản Thực Nghiệm Trên Ứng Dụng</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graphicFrame>
        <p:nvGraphicFramePr>
          <p:cNvPr id="6" name="Table 5"/>
          <p:cNvGraphicFramePr>
            <a:graphicFrameLocks noGrp="1"/>
          </p:cNvGraphicFramePr>
          <p:nvPr/>
        </p:nvGraphicFramePr>
        <p:xfrm>
          <a:off x="731520" y="1280160"/>
          <a:ext cx="10728655" cy="4846320"/>
        </p:xfrm>
        <a:graphic>
          <a:graphicData uri="http://schemas.openxmlformats.org/drawingml/2006/table">
            <a:tbl>
              <a:tblPr firstRow="1" bandRow="1">
                <a:tableStyleId>{5C22544A-7EE6-4342-B048-85BDC9FD1C3A}</a:tableStyleId>
              </a:tblPr>
              <a:tblGrid>
                <a:gridCol w="2682163"/>
                <a:gridCol w="2682163"/>
                <a:gridCol w="2682163"/>
                <a:gridCol w="2682166"/>
              </a:tblGrid>
              <a:tr h="969264">
                <a:tc>
                  <a:txBody>
                    <a:bodyPr/>
                    <a:lstStyle/>
                    <a:p>
                      <a:pPr>
                        <a:defRPr b="1" sz="1100">
                          <a:solidFill>
                            <a:srgbClr val="FFFFFF"/>
                          </a:solidFill>
                          <a:latin typeface="Arial"/>
                        </a:defRPr>
                      </a:pPr>
                      <a:r>
                        <a:t>Kịch bản kiểm thử</a:t>
                      </a:r>
                    </a:p>
                  </a:txBody>
                  <a:tcPr>
                    <a:solidFill>
                      <a:srgbClr val="1D4ED8"/>
                    </a:solidFill>
                  </a:tcPr>
                </a:tc>
                <a:tc>
                  <a:txBody>
                    <a:bodyPr/>
                    <a:lstStyle/>
                    <a:p>
                      <a:pPr>
                        <a:defRPr b="1" sz="1100">
                          <a:solidFill>
                            <a:srgbClr val="FFFFFF"/>
                          </a:solidFill>
                          <a:latin typeface="Arial"/>
                        </a:defRPr>
                      </a:pPr>
                      <a:r>
                        <a:t>Payload đưa vào ô Username</a:t>
                      </a:r>
                    </a:p>
                  </a:txBody>
                  <a:tcPr>
                    <a:solidFill>
                      <a:srgbClr val="1D4ED8"/>
                    </a:solidFill>
                  </a:tcPr>
                </a:tc>
                <a:tc>
                  <a:txBody>
                    <a:bodyPr/>
                    <a:lstStyle/>
                    <a:p>
                      <a:pPr>
                        <a:defRPr b="1" sz="1100">
                          <a:solidFill>
                            <a:srgbClr val="FFFFFF"/>
                          </a:solidFill>
                          <a:latin typeface="Arial"/>
                        </a:defRPr>
                      </a:pPr>
                      <a:r>
                        <a:t>Cơ chế bẻ gãy cú pháp</a:t>
                      </a:r>
                    </a:p>
                  </a:txBody>
                  <a:tcPr>
                    <a:solidFill>
                      <a:srgbClr val="1D4ED8"/>
                    </a:solidFill>
                  </a:tcPr>
                </a:tc>
                <a:tc>
                  <a:txBody>
                    <a:bodyPr/>
                    <a:lstStyle/>
                    <a:p>
                      <a:pPr>
                        <a:defRPr b="1" sz="1100">
                          <a:solidFill>
                            <a:srgbClr val="FFFFFF"/>
                          </a:solidFill>
                          <a:latin typeface="Arial"/>
                        </a:defRPr>
                      </a:pPr>
                      <a:r>
                        <a:t>Kết quả thực tế</a:t>
                      </a:r>
                    </a:p>
                  </a:txBody>
                  <a:tcPr>
                    <a:solidFill>
                      <a:srgbClr val="1D4ED8"/>
                    </a:solidFill>
                  </a:tcPr>
                </a:tc>
              </a:tr>
              <a:tr h="969264">
                <a:tc>
                  <a:txBody>
                    <a:bodyPr/>
                    <a:lstStyle/>
                    <a:p>
                      <a:pPr>
                        <a:defRPr sz="1050">
                          <a:solidFill>
                            <a:srgbClr val="0F172A"/>
                          </a:solidFill>
                          <a:latin typeface="Arial"/>
                        </a:defRPr>
                      </a:pPr>
                      <a:r>
                        <a:t>Payload 1: Bypass tổng quát</a:t>
                      </a:r>
                    </a:p>
                  </a:txBody>
                  <a:tcPr>
                    <a:solidFill>
                      <a:srgbClr val="F8FAFC"/>
                    </a:solidFill>
                  </a:tcPr>
                </a:tc>
                <a:tc>
                  <a:txBody>
                    <a:bodyPr/>
                    <a:lstStyle/>
                    <a:p>
                      <a:pPr>
                        <a:defRPr sz="1050" b="1">
                          <a:solidFill>
                            <a:srgbClr val="BE123C"/>
                          </a:solidFill>
                          <a:latin typeface="Courier New"/>
                        </a:defRPr>
                      </a:pPr>
                      <a:r>
                        <a:t>' OR '1'='1' --</a:t>
                      </a:r>
                    </a:p>
                  </a:txBody>
                  <a:tcPr>
                    <a:solidFill>
                      <a:srgbClr val="F8FAFC"/>
                    </a:solidFill>
                  </a:tcPr>
                </a:tc>
                <a:tc>
                  <a:txBody>
                    <a:bodyPr/>
                    <a:lstStyle/>
                    <a:p>
                      <a:pPr>
                        <a:defRPr sz="1050">
                          <a:solidFill>
                            <a:srgbClr val="334155"/>
                          </a:solidFill>
                          <a:latin typeface="Arial"/>
                        </a:defRPr>
                      </a:pPr>
                      <a:r>
                        <a:t>Nháy đơn (') đóng chuỗi; OR '1'='1' luôn đúng; '--' hủy vế kiểm tra pass.</a:t>
                      </a:r>
                    </a:p>
                  </a:txBody>
                  <a:tcPr>
                    <a:solidFill>
                      <a:srgbClr val="F8FAFC"/>
                    </a:solidFill>
                  </a:tcPr>
                </a:tc>
                <a:tc>
                  <a:txBody>
                    <a:bodyPr/>
                    <a:lstStyle/>
                    <a:p>
                      <a:pPr>
                        <a:defRPr sz="1050">
                          <a:solidFill>
                            <a:srgbClr val="334155"/>
                          </a:solidFill>
                          <a:latin typeface="Arial"/>
                        </a:defRPr>
                      </a:pPr>
                      <a:r>
                        <a:t>Bypass thành công, lấy tài khoản đầu tiên trong bảng (Admin).</a:t>
                      </a:r>
                    </a:p>
                  </a:txBody>
                  <a:tcPr>
                    <a:solidFill>
                      <a:srgbClr val="F8FAFC"/>
                    </a:solidFill>
                  </a:tcPr>
                </a:tc>
              </a:tr>
              <a:tr h="969264">
                <a:tc>
                  <a:txBody>
                    <a:bodyPr/>
                    <a:lstStyle/>
                    <a:p>
                      <a:pPr>
                        <a:defRPr sz="1050">
                          <a:solidFill>
                            <a:srgbClr val="0F172A"/>
                          </a:solidFill>
                          <a:latin typeface="Arial"/>
                        </a:defRPr>
                      </a:pPr>
                      <a:r>
                        <a:t>Payload 2: Nhắm đích danh Admin</a:t>
                      </a:r>
                    </a:p>
                  </a:txBody>
                  <a:tcPr>
                    <a:solidFill>
                      <a:srgbClr val="FFFFFF"/>
                    </a:solidFill>
                  </a:tcPr>
                </a:tc>
                <a:tc>
                  <a:txBody>
                    <a:bodyPr/>
                    <a:lstStyle/>
                    <a:p>
                      <a:pPr>
                        <a:defRPr sz="1050" b="1">
                          <a:solidFill>
                            <a:srgbClr val="BE123C"/>
                          </a:solidFill>
                          <a:latin typeface="Courier New"/>
                        </a:defRPr>
                      </a:pPr>
                      <a:r>
                        <a:t>admin' --</a:t>
                      </a:r>
                    </a:p>
                  </a:txBody>
                  <a:tcPr>
                    <a:solidFill>
                      <a:srgbClr val="FFFFFF"/>
                    </a:solidFill>
                  </a:tcPr>
                </a:tc>
                <a:tc>
                  <a:txBody>
                    <a:bodyPr/>
                    <a:lstStyle/>
                    <a:p>
                      <a:pPr>
                        <a:defRPr sz="1050">
                          <a:solidFill>
                            <a:srgbClr val="334155"/>
                          </a:solidFill>
                          <a:latin typeface="Arial"/>
                        </a:defRPr>
                      </a:pPr>
                      <a:r>
                        <a:t>Cố định Username = 'admin'; '--' vô hiệu hóa toàn bộ vế AND Password = ...</a:t>
                      </a:r>
                    </a:p>
                  </a:txBody>
                  <a:tcPr>
                    <a:solidFill>
                      <a:srgbClr val="FFFFFF"/>
                    </a:solidFill>
                  </a:tcPr>
                </a:tc>
                <a:tc>
                  <a:txBody>
                    <a:bodyPr/>
                    <a:lstStyle/>
                    <a:p>
                      <a:pPr>
                        <a:defRPr sz="1050">
                          <a:solidFill>
                            <a:srgbClr val="334155"/>
                          </a:solidFill>
                          <a:latin typeface="Arial"/>
                        </a:defRPr>
                      </a:pPr>
                      <a:r>
                        <a:t>Chiếm đoạt chính xác quyền Admin mà không cần dò mật khẩu.</a:t>
                      </a:r>
                    </a:p>
                  </a:txBody>
                  <a:tcPr>
                    <a:solidFill>
                      <a:srgbClr val="FFFFFF"/>
                    </a:solidFill>
                  </a:tcPr>
                </a:tc>
              </a:tr>
              <a:tr h="969264">
                <a:tc>
                  <a:txBody>
                    <a:bodyPr/>
                    <a:lstStyle/>
                    <a:p>
                      <a:pPr>
                        <a:defRPr sz="1050">
                          <a:solidFill>
                            <a:srgbClr val="0F172A"/>
                          </a:solidFill>
                          <a:latin typeface="Arial"/>
                        </a:defRPr>
                      </a:pPr>
                      <a:r>
                        <a:t>Payload 3: Logic số học</a:t>
                      </a:r>
                    </a:p>
                  </a:txBody>
                  <a:tcPr>
                    <a:solidFill>
                      <a:srgbClr val="F8FAFC"/>
                    </a:solidFill>
                  </a:tcPr>
                </a:tc>
                <a:tc>
                  <a:txBody>
                    <a:bodyPr/>
                    <a:lstStyle/>
                    <a:p>
                      <a:pPr>
                        <a:defRPr sz="1050" b="1">
                          <a:solidFill>
                            <a:srgbClr val="BE123C"/>
                          </a:solidFill>
                          <a:latin typeface="Courier New"/>
                        </a:defRPr>
                      </a:pPr>
                      <a:r>
                        <a:t>' OR 1=1 --</a:t>
                      </a:r>
                    </a:p>
                  </a:txBody>
                  <a:tcPr>
                    <a:solidFill>
                      <a:srgbClr val="F8FAFC"/>
                    </a:solidFill>
                  </a:tcPr>
                </a:tc>
                <a:tc>
                  <a:txBody>
                    <a:bodyPr/>
                    <a:lstStyle/>
                    <a:p>
                      <a:pPr>
                        <a:defRPr sz="1050">
                          <a:solidFill>
                            <a:srgbClr val="334155"/>
                          </a:solidFill>
                          <a:latin typeface="Arial"/>
                        </a:defRPr>
                      </a:pPr>
                      <a:r>
                        <a:t>Biểu thức số 1=1 luôn đúng, không phụ thuộc định dạng dấu nháy của CSDL.</a:t>
                      </a:r>
                    </a:p>
                  </a:txBody>
                  <a:tcPr>
                    <a:solidFill>
                      <a:srgbClr val="F8FAFC"/>
                    </a:solidFill>
                  </a:tcPr>
                </a:tc>
                <a:tc>
                  <a:txBody>
                    <a:bodyPr/>
                    <a:lstStyle/>
                    <a:p>
                      <a:pPr>
                        <a:defRPr sz="1050">
                          <a:solidFill>
                            <a:srgbClr val="334155"/>
                          </a:solidFill>
                          <a:latin typeface="Arial"/>
                        </a:defRPr>
                      </a:pPr>
                      <a:r>
                        <a:t>Trích xuất toàn bộ 4 tài khoản CSDL ra màn hình.</a:t>
                      </a:r>
                    </a:p>
                  </a:txBody>
                  <a:tcPr>
                    <a:solidFill>
                      <a:srgbClr val="F8FAFC"/>
                    </a:solidFill>
                  </a:tcPr>
                </a:tc>
              </a:tr>
              <a:tr h="969264">
                <a:tc>
                  <a:txBody>
                    <a:bodyPr/>
                    <a:lstStyle/>
                    <a:p>
                      <a:pPr>
                        <a:defRPr sz="1050">
                          <a:solidFill>
                            <a:srgbClr val="0F172A"/>
                          </a:solidFill>
                          <a:latin typeface="Arial"/>
                        </a:defRPr>
                      </a:pPr>
                      <a:r>
                        <a:t>Kịch bản chuẩn: Đăng nhập đúng</a:t>
                      </a:r>
                    </a:p>
                  </a:txBody>
                  <a:tcPr>
                    <a:solidFill>
                      <a:srgbClr val="FFFFFF"/>
                    </a:solidFill>
                  </a:tcPr>
                </a:tc>
                <a:tc>
                  <a:txBody>
                    <a:bodyPr/>
                    <a:lstStyle/>
                    <a:p>
                      <a:pPr>
                        <a:defRPr sz="1050" b="1">
                          <a:solidFill>
                            <a:srgbClr val="047857"/>
                          </a:solidFill>
                          <a:latin typeface="Courier New"/>
                        </a:defRPr>
                      </a:pPr>
                      <a:r>
                        <a:t>admin / AdminPassword@2026</a:t>
                      </a:r>
                    </a:p>
                  </a:txBody>
                  <a:tcPr>
                    <a:solidFill>
                      <a:srgbClr val="FFFFFF"/>
                    </a:solidFill>
                  </a:tcPr>
                </a:tc>
                <a:tc>
                  <a:txBody>
                    <a:bodyPr/>
                    <a:lstStyle/>
                    <a:p>
                      <a:pPr>
                        <a:defRPr sz="1050">
                          <a:solidFill>
                            <a:srgbClr val="334155"/>
                          </a:solidFill>
                          <a:latin typeface="Arial"/>
                        </a:defRPr>
                      </a:pPr>
                      <a:r>
                        <a:t>Dữ liệu hợp lệ, không chứa ký tự điều khiển hay can thiệp cú pháp.</a:t>
                      </a:r>
                    </a:p>
                  </a:txBody>
                  <a:tcPr>
                    <a:solidFill>
                      <a:srgbClr val="FFFFFF"/>
                    </a:solidFill>
                  </a:tcPr>
                </a:tc>
                <a:tc>
                  <a:txBody>
                    <a:bodyPr/>
                    <a:lstStyle/>
                    <a:p>
                      <a:pPr>
                        <a:defRPr sz="1050">
                          <a:solidFill>
                            <a:srgbClr val="334155"/>
                          </a:solidFill>
                          <a:latin typeface="Arial"/>
                        </a:defRPr>
                      </a:pPr>
                      <a:r>
                        <a:t>Đăng nhập thành công trên cả 2 nhánh (Lỗi &amp; Đã vá).</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1.3. SQL Injection: Minh Chứng Thực Nghiệm Trực Quan Trên Web UI</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final_sqli_proof.png"/>
          <p:cNvPicPr>
            <a:picLocks noChangeAspect="1"/>
          </p:cNvPicPr>
          <p:nvPr/>
        </p:nvPicPr>
        <p:blipFill>
          <a:blip r:embed="rId2"/>
          <a:stretch>
            <a:fillRect/>
          </a:stretch>
        </p:blipFill>
        <p:spPr>
          <a:xfrm>
            <a:off x="2066543" y="1234440"/>
            <a:ext cx="8046720" cy="4754880"/>
          </a:xfrm>
          <a:prstGeom prst="rect">
            <a:avLst/>
          </a:prstGeom>
        </p:spPr>
      </p:pic>
      <p:sp>
        <p:nvSpPr>
          <p:cNvPr id="7" name="TextBox 6"/>
          <p:cNvSpPr txBox="1"/>
          <p:nvPr/>
        </p:nvSpPr>
        <p:spPr>
          <a:xfrm>
            <a:off x="731520" y="6053328"/>
            <a:ext cx="10728655" cy="365760"/>
          </a:xfrm>
          <a:prstGeom prst="rect">
            <a:avLst/>
          </a:prstGeom>
          <a:noFill/>
        </p:spPr>
        <p:txBody>
          <a:bodyPr wrap="none" tIns="0" bIns="0" lIns="0" rIns="0">
            <a:spAutoFit/>
          </a:bodyPr>
          <a:lstStyle/>
          <a:p>
            <a:pPr algn="ctr">
              <a:defRPr sz="1100" b="1">
                <a:solidFill>
                  <a:srgbClr val="1D4ED8"/>
                </a:solidFill>
                <a:latin typeface="Arial"/>
              </a:defRPr>
            </a:pPr>
            <a:r>
              <a:t>Minh chứng đối chứng: Trích xuất 4 tài khoản CSDL khi inject ' OR '1'='1' -- (Trái) vs Chặn đứng an toàn với EF Core (Phải)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1.4. SQL Injection: Minh Chứng Kiểm Thử Qua Chrome DevTools (Network)</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01_sqli_devtools_proof.png"/>
          <p:cNvPicPr>
            <a:picLocks noChangeAspect="1"/>
          </p:cNvPicPr>
          <p:nvPr/>
        </p:nvPicPr>
        <p:blipFill>
          <a:blip r:embed="rId2"/>
          <a:stretch>
            <a:fillRect/>
          </a:stretch>
        </p:blipFill>
        <p:spPr>
          <a:xfrm>
            <a:off x="1883664" y="1234440"/>
            <a:ext cx="8412480" cy="4732020"/>
          </a:xfrm>
          <a:prstGeom prst="rect">
            <a:avLst/>
          </a:prstGeom>
        </p:spPr>
      </p:pic>
      <p:sp>
        <p:nvSpPr>
          <p:cNvPr id="7" name="TextBox 6"/>
          <p:cNvSpPr txBox="1"/>
          <p:nvPr/>
        </p:nvSpPr>
        <p:spPr>
          <a:xfrm>
            <a:off x="731520" y="6053328"/>
            <a:ext cx="10728655" cy="365760"/>
          </a:xfrm>
          <a:prstGeom prst="rect">
            <a:avLst/>
          </a:prstGeom>
          <a:noFill/>
        </p:spPr>
        <p:txBody>
          <a:bodyPr wrap="none">
            <a:spAutoFit/>
          </a:bodyPr>
          <a:lstStyle/>
          <a:p>
            <a:pPr algn="ctr">
              <a:defRPr sz="1100" b="1">
                <a:solidFill>
                  <a:srgbClr val="1D4ED8"/>
                </a:solidFill>
                <a:latin typeface="Arial"/>
              </a:defRPr>
            </a:pPr>
            <a:r>
              <a:t>Soi gói tin mạng (Network Fetch/XHR): Payload gửi lên mang chuỗi ' OR '1'='1' -- và JSON trích xuất 4 tài khoản rò rỉ</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1.5. SQL Injection: Minh Chứng Tầng API (cURL) &amp; SQL Server 2025</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Minh Chứng Tầng API / Dòng Lệnh (cURL)</a:t>
            </a:r>
          </a:p>
          <a:p>
            <a:pPr>
              <a:spcBef>
                <a:spcPts val="600"/>
              </a:spcBef>
              <a:defRPr sz="1000" b="0">
                <a:solidFill>
                  <a:srgbClr val="0F172A"/>
                </a:solidFill>
                <a:latin typeface="Courier New"/>
              </a:defRPr>
            </a:pPr>
            <a:r>
              <a:t>$ curl -X POST http://localhost:5076/SqlInjection/LoginVulnerable \</a:t>
            </a:r>
            <a:br/>
            <a:r>
              <a:t>       -F "username=' OR '1'='1' --" -F "password=any"</a:t>
            </a:r>
            <a:br/>
            <a:br/>
            <a:r>
              <a:t>Phản hồi JSON từ Server:</a:t>
            </a:r>
            <a:br/>
            <a:r>
              <a:t>{</a:t>
            </a:r>
            <a:br/>
            <a:r>
              <a:t>  "success": true,</a:t>
            </a:r>
            <a:br/>
            <a:r>
              <a:t>  "isExploited": true,</a:t>
            </a:r>
            <a:br/>
            <a:r>
              <a:t>  "count": 4,</a:t>
            </a:r>
            <a:br/>
            <a:r>
              <a:t>  "accounts": [ ... 4 tài khoản trích xuất ... ]</a:t>
            </a:r>
            <a:br/>
            <a:r>
              <a:t>}</a:t>
            </a:r>
          </a:p>
          <a:p>
            <a:pPr>
              <a:spcBef>
                <a:spcPts val="800"/>
              </a:spcBef>
              <a:defRPr sz="1150" b="0">
                <a:solidFill>
                  <a:srgbClr val="334155"/>
                </a:solidFill>
                <a:latin typeface="Arial"/>
              </a:defRPr>
            </a:pPr>
            <a:r>
              <a:t>Xác nhận lỗi xuất phát từ tầng xử lý C# Backend, kẻ tấn công có thể khai thác qua API mà không cần tương tác qua giao diện web.</a:t>
            </a:r>
          </a:p>
        </p:txBody>
      </p:sp>
      <p:sp>
        <p:nvSpPr>
          <p:cNvPr id="7" name="Rounded Rectangle 6"/>
          <p:cNvSpPr/>
          <p:nvPr/>
        </p:nvSpPr>
        <p:spPr>
          <a:xfrm>
            <a:off x="6263640" y="1234440"/>
            <a:ext cx="516636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latin typeface="Arial"/>
              </a:defRPr>
            </a:pPr>
            <a:r>
              <a:t>Minh Chứng Tầng CSDL (SQL Server 2025)</a:t>
            </a:r>
          </a:p>
          <a:p>
            <a:pPr>
              <a:spcBef>
                <a:spcPts val="600"/>
              </a:spcBef>
              <a:defRPr sz="1000" b="0">
                <a:solidFill>
                  <a:srgbClr val="0F172A"/>
                </a:solidFill>
                <a:latin typeface="Courier New"/>
              </a:defRPr>
            </a:pPr>
            <a:r>
              <a:t>-- Database: OwaspDemoDB | Bảng: dbo.Accounts</a:t>
            </a:r>
            <a:br/>
            <a:r>
              <a:t>-- 1. Truy vấn dính lỗi:</a:t>
            </a:r>
            <a:br/>
            <a:r>
              <a:t>SELECT * FROM Accounts WHERE Username='' OR '1'='1' --'</a:t>
            </a:r>
            <a:br/>
            <a:r>
              <a:t>&gt;&gt; Kết quả: 4 rows returned (Bypass thành công)</a:t>
            </a:r>
            <a:br/>
            <a:br/>
            <a:r>
              <a:t>-- 2. Truy vấn tham số hóa:</a:t>
            </a:r>
            <a:br/>
            <a:r>
              <a:t>EXEC sp_executesql N'SELECT * FROM Accounts WHERE...',</a:t>
            </a:r>
            <a:br/>
            <a:r>
              <a:t>     N'@p0 nvarchar(50)', @p0 = N''' OR ''1''=''1'' --'</a:t>
            </a:r>
            <a:br/>
            <a:r>
              <a:t>&gt;&gt; Kết quả: 0 rows returned (An toàn)</a:t>
            </a:r>
          </a:p>
          <a:p>
            <a:pPr>
              <a:spcBef>
                <a:spcPts val="800"/>
              </a:spcBef>
              <a:defRPr sz="1150" b="0">
                <a:solidFill>
                  <a:srgbClr val="334155"/>
                </a:solidFill>
                <a:latin typeface="Arial"/>
              </a:defRPr>
            </a:pPr>
            <a:r>
              <a:t>Đối chiếu trực tiếp trên máy chủ CSDL chứng minh cơ chế phân tách rạch ròi giữa cú pháp lệnh và tham số giá trị.</a:t>
            </a:r>
          </a:p>
        </p:txBody>
      </p:sp>
      <p:sp>
        <p:nvSpPr>
          <p:cNvPr id="8" name="Rounded Rectangle 7"/>
          <p:cNvSpPr/>
          <p:nvPr/>
        </p:nvSpPr>
        <p:spPr>
          <a:xfrm>
            <a:off x="731520" y="5623560"/>
            <a:ext cx="10728655" cy="777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tIns="73152"/>
          <a:lstStyle/>
          <a:p>
            <a:pPr algn="ctr">
              <a:defRPr sz="1100" b="1">
                <a:solidFill>
                  <a:srgbClr val="047857"/>
                </a:solidFill>
                <a:latin typeface="Arial"/>
              </a:defRPr>
            </a:pPr>
            <a:r>
              <a:t>Thao tác trên công cụ: VS Code MSSQL Extension &amp; File verify_sql_server.sql</a:t>
            </a:r>
          </a:p>
          <a:p>
            <a:pPr>
              <a:spcBef>
                <a:spcPts val="100"/>
              </a:spcBef>
              <a:defRPr sz="1050" b="0">
                <a:solidFill>
                  <a:srgbClr val="334155"/>
                </a:solidFill>
                <a:latin typeface="Arial"/>
              </a:defRPr>
            </a:pPr>
            <a:r>
              <a:t>Dữ liệu được truy vấn và kiểm thử trực tiếp trên máy chủ CSDL SQL Server 2025 (Database: OwaspDemoDB).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1.6. SQL Injection: Giải Pháp Phòng Thủ Chuẩn Hóa</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Kỹ Thuật Parameterized Query Với EF Core</a:t>
            </a:r>
          </a:p>
          <a:p>
            <a:pPr>
              <a:spcBef>
                <a:spcPts val="800"/>
              </a:spcBef>
              <a:defRPr sz="1000" b="0">
                <a:solidFill>
                  <a:srgbClr val="065F46"/>
                </a:solidFill>
                <a:latin typeface="Courier New"/>
              </a:defRPr>
            </a:pPr>
            <a:r>
              <a:t>// SỬ DỤNG LINQ PARAMETERIZED (KHUYÊN DÙNG):</a:t>
            </a:r>
            <a:br/>
            <a:r>
              <a:t>var account = _context.Accounts</a:t>
            </a:r>
            <a:br/>
            <a:r>
              <a:t>    .FirstOrDefault(a =&gt; a.Username == user </a:t>
            </a:r>
            <a:br/>
            <a:r>
              <a:t>                      &amp;&amp; a.Password == pass);</a:t>
            </a:r>
            <a:br/>
            <a:br/>
            <a:r>
              <a:t>// TRUY VẤN THUẦN QUA FROMSQLINTERPOLATED:</a:t>
            </a:r>
            <a:br/>
            <a:r>
              <a:t>var account = _context.Accounts</a:t>
            </a:r>
            <a:br/>
            <a:r>
              <a:t>    .FromSqlInterpolated($"SELECT * FROM Accounts WHERE Username={user} AND Password={pass}")</a:t>
            </a:r>
            <a:br/>
            <a:r>
              <a:t>    .FirstOrDefault();</a:t>
            </a:r>
          </a:p>
          <a:p>
            <a:pPr>
              <a:spcBef>
                <a:spcPts val="1000"/>
              </a:spcBef>
              <a:defRPr sz="1200" b="0">
                <a:solidFill>
                  <a:srgbClr val="334155"/>
                </a:solidFill>
                <a:latin typeface="Arial"/>
              </a:defRPr>
            </a:pPr>
            <a:r>
              <a:t>Cơ chế bảo vệ:</a:t>
            </a:r>
            <a:br/>
            <a:r>
              <a:t>SQL Server biên dịch kế hoạch thực thi (Execution Plan) trước khi nhận tham số. Đầu vào của người dùng được gán vào biến @p0 như một chuỗi văn bản (literal), vô hiệu hóa hoàn toàn khả năng chèn lệnh.</a:t>
            </a:r>
          </a:p>
        </p:txBody>
      </p:sp>
      <p:sp>
        <p:nvSpPr>
          <p:cNvPr id="7" name="Rounded Rectangle 6"/>
          <p:cNvSpPr/>
          <p:nvPr/>
        </p:nvSpPr>
        <p:spPr>
          <a:xfrm>
            <a:off x="626364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D4ED8"/>
                </a:solidFill>
                <a:latin typeface="Arial"/>
              </a:defRPr>
            </a:pPr>
            <a:r>
              <a:t>Bộ Quy Tắc Phòng Thủ Toàn Diện (Defense-in-Depth)</a:t>
            </a:r>
          </a:p>
          <a:p>
            <a:pPr>
              <a:spcBef>
                <a:spcPts val="800"/>
              </a:spcBef>
              <a:defRPr sz="1200" b="0">
                <a:solidFill>
                  <a:srgbClr val="334155"/>
                </a:solidFill>
                <a:latin typeface="Arial"/>
              </a:defRPr>
            </a:pPr>
            <a:r>
              <a:t>1. Tham số hóa truy vấn:</a:t>
            </a:r>
            <a:br/>
            <a:r>
              <a:t>Tuyệt đối không ghép chuỗi SQL thủ công trong mã nguồn.</a:t>
            </a:r>
            <a:br/>
            <a:br/>
            <a:r>
              <a:t>2. Đặc quyền tối thiểu (Least Privilege):</a:t>
            </a:r>
            <a:br/>
            <a:r>
              <a:t>Tài khoản kết nối CSDL chỉ cấp các quyền SELECT, INSERT, UPDATE cần thiết; không dùng tài khoản 'sa' hay quyền DDL trong môi trường chạy ứng dụng.</a:t>
            </a:r>
            <a:br/>
            <a:br/>
            <a:r>
              <a:t>3. Kiểm tra dữ liệu đầu vào (Input Validation):</a:t>
            </a:r>
            <a:br/>
            <a:r>
              <a:t>Sử dụng Data Annotations để giới hạn định dạng và độ dài dữ liệu.</a:t>
            </a:r>
            <a:br/>
            <a:br/>
            <a:r>
              <a:t>4. Băm mật khẩu (Password Hashing):</a:t>
            </a:r>
            <a:br/>
            <a:r>
              <a:t>Sử dụng ASP.NET Core Identity (PBKDF2) để bảo vệ thông tin ngay cả khi CSDL bị lộ.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2.1. Stored XSS: Bản Chất Kỹ Thuật &amp; Phân Loại Trong Web</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Phân Biệt 3 Loại Cross-Site Scripting (XSS)</a:t>
            </a:r>
          </a:p>
          <a:p>
            <a:pPr>
              <a:spcBef>
                <a:spcPts val="600"/>
              </a:spcBef>
              <a:defRPr sz="1200" b="0">
                <a:solidFill>
                  <a:srgbClr val="334155"/>
                </a:solidFill>
                <a:latin typeface="Arial"/>
              </a:defRPr>
            </a:pPr>
            <a:r>
              <a:t>• 1. Reflected XSS (Phản xạ): Mã độc nằm trong URL (query string), kích hoạt khi nạn nhân click vào liên kết độc hại.</a:t>
            </a:r>
          </a:p>
          <a:p>
            <a:pPr>
              <a:spcBef>
                <a:spcPts val="600"/>
              </a:spcBef>
              <a:defRPr sz="1200" b="0">
                <a:solidFill>
                  <a:srgbClr val="334155"/>
                </a:solidFill>
                <a:latin typeface="Arial"/>
              </a:defRPr>
            </a:pPr>
            <a:r>
              <a:t>• 2. DOM-based XSS: Lỗ hổng nằm hoàn toàn ở mã kịch bản phía Client (JavaScript đọc và ghi trực tiếp vào DOM mà không qua máy chủ).</a:t>
            </a:r>
          </a:p>
          <a:p>
            <a:pPr>
              <a:spcBef>
                <a:spcPts val="600"/>
              </a:spcBef>
              <a:defRPr sz="1200" b="1">
                <a:solidFill>
                  <a:srgbClr val="BE123C"/>
                </a:solidFill>
                <a:latin typeface="Arial"/>
              </a:defRPr>
            </a:pPr>
            <a:r>
              <a:t>• 3. Stored XSS (Lưu trữ - Nghiêm trọng nhất): Mã độc được lưu trữ vĩnh viễn trên máy chủ CSDL. Mọi người dùng truy cập trang web đều bị tấn công tự động mà không cần bấm liên kết lạ.</a:t>
            </a:r>
          </a:p>
          <a:p>
            <a:pPr>
              <a:spcBef>
                <a:spcPts val="600"/>
              </a:spcBef>
              <a:defRPr sz="1200" b="0">
                <a:solidFill>
                  <a:srgbClr val="334155"/>
                </a:solidFill>
                <a:latin typeface="Arial"/>
              </a:defRPr>
            </a:pPr>
            <a:r>
              <a:t>• Vị trí luồng dữ liệu: Client (Inject) ➔ Web Server (Lưu) ➔ Database (Lưu trữ) ➔ Web Server (Đọc) ➔ Nạn nhân khác (Trình duyệt thực thi).</a:t>
            </a:r>
          </a:p>
        </p:txBody>
      </p:sp>
      <p:sp>
        <p:nvSpPr>
          <p:cNvPr id="7" name="Rounded Rectangle 6"/>
          <p:cNvSpPr/>
          <p:nvPr/>
        </p:nvSpPr>
        <p:spPr>
          <a:xfrm>
            <a:off x="6263640" y="123444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Ngữ Cảnh Thực Tế &amp; Lạm Dụng @@Html.Raw</a:t>
            </a:r>
          </a:p>
          <a:p>
            <a:pPr>
              <a:spcBef>
                <a:spcPts val="600"/>
              </a:spcBef>
              <a:defRPr sz="1000" b="0">
                <a:solidFill>
                  <a:srgbClr val="9F1239"/>
                </a:solidFill>
                <a:latin typeface="Courier New"/>
              </a:defRPr>
            </a:pPr>
            <a:r>
              <a:t>// CONTROLLER LƯU NGUYÊN VĂN NỘI DUNG VÀO CSDL:</a:t>
            </a:r>
            <a:br/>
            <a:r>
              <a:t>var comment = new Comment {</a:t>
            </a:r>
            <a:br/>
            <a:r>
              <a:t>    Author = author,</a:t>
            </a:r>
            <a:br/>
            <a:r>
              <a:t>    Content = content // Chứa mã &lt;script&gt; độc hại</a:t>
            </a:r>
            <a:br/>
            <a:r>
              <a:t>};</a:t>
            </a:r>
            <a:br/>
            <a:r>
              <a:t>_context.Comments.Add(comment);</a:t>
            </a:r>
            <a:br/>
            <a:br/>
            <a:r>
              <a:t>// RAZOR VIEW LẠM DỤNG HTML.RAW ĐỂ HIỂN THỊ:</a:t>
            </a:r>
            <a:br/>
            <a:r>
              <a:t>&lt;div class="comment-body"&gt;</a:t>
            </a:r>
            <a:br/>
            <a:r>
              <a:t>    @Html.Raw(comment.Content)</a:t>
            </a:r>
            <a:br/>
            <a:r>
              <a:t>&lt;/div&gt;</a:t>
            </a:r>
          </a:p>
          <a:p>
            <a:pPr>
              <a:spcBef>
                <a:spcPts val="1000"/>
              </a:spcBef>
              <a:defRPr sz="1200" b="1">
                <a:solidFill>
                  <a:srgbClr val="0F172A"/>
                </a:solidFill>
                <a:latin typeface="Arial"/>
              </a:defRPr>
            </a:pPr>
            <a:r>
              <a:t>Nguyên nhân phát sinh:</a:t>
            </a:r>
            <a:br/>
            <a:r>
              <a:t>Lập trình viên muốn hỗ trợ định dạng chữ in đậm, xuống dòng cho bài đánh giá nên dùng @Html.Raw(), vô tình cho phép trình duyệt của người dùng thực thi các thẻ HTML/JavaScript nguy hiểm.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2.2. Stored XSS: 4 Kịch Bản Thực Nghiệm Trên Ứng Dụng</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graphicFrame>
        <p:nvGraphicFramePr>
          <p:cNvPr id="6" name="Table 5"/>
          <p:cNvGraphicFramePr>
            <a:graphicFrameLocks noGrp="1"/>
          </p:cNvGraphicFramePr>
          <p:nvPr/>
        </p:nvGraphicFramePr>
        <p:xfrm>
          <a:off x="731520" y="1280160"/>
          <a:ext cx="10728655" cy="4846320"/>
        </p:xfrm>
        <a:graphic>
          <a:graphicData uri="http://schemas.openxmlformats.org/drawingml/2006/table">
            <a:tbl>
              <a:tblPr firstRow="1" bandRow="1">
                <a:tableStyleId>{5C22544A-7EE6-4342-B048-85BDC9FD1C3A}</a:tableStyleId>
              </a:tblPr>
              <a:tblGrid>
                <a:gridCol w="2682163"/>
                <a:gridCol w="2682163"/>
                <a:gridCol w="2682163"/>
                <a:gridCol w="2682166"/>
              </a:tblGrid>
              <a:tr h="969264">
                <a:tc>
                  <a:txBody>
                    <a:bodyPr/>
                    <a:lstStyle/>
                    <a:p>
                      <a:pPr>
                        <a:defRPr b="1" sz="1100">
                          <a:solidFill>
                            <a:srgbClr val="FFFFFF"/>
                          </a:solidFill>
                          <a:latin typeface="Arial"/>
                        </a:defRPr>
                      </a:pPr>
                      <a:r>
                        <a:t>Kịch bản kiểm thử</a:t>
                      </a:r>
                    </a:p>
                  </a:txBody>
                  <a:tcPr>
                    <a:solidFill>
                      <a:srgbClr val="BE123C"/>
                    </a:solidFill>
                  </a:tcPr>
                </a:tc>
                <a:tc>
                  <a:txBody>
                    <a:bodyPr/>
                    <a:lstStyle/>
                    <a:p>
                      <a:pPr>
                        <a:defRPr b="1" sz="1100">
                          <a:solidFill>
                            <a:srgbClr val="FFFFFF"/>
                          </a:solidFill>
                          <a:latin typeface="Arial"/>
                        </a:defRPr>
                      </a:pPr>
                      <a:r>
                        <a:t>Mã độc Payload đưa vào</a:t>
                      </a:r>
                    </a:p>
                  </a:txBody>
                  <a:tcPr>
                    <a:solidFill>
                      <a:srgbClr val="BE123C"/>
                    </a:solidFill>
                  </a:tcPr>
                </a:tc>
                <a:tc>
                  <a:txBody>
                    <a:bodyPr/>
                    <a:lstStyle/>
                    <a:p>
                      <a:pPr>
                        <a:defRPr b="1" sz="1100">
                          <a:solidFill>
                            <a:srgbClr val="FFFFFF"/>
                          </a:solidFill>
                          <a:latin typeface="Arial"/>
                        </a:defRPr>
                      </a:pPr>
                      <a:r>
                        <a:t>Cơ chế kích hoạt trên Trình duyệt</a:t>
                      </a:r>
                    </a:p>
                  </a:txBody>
                  <a:tcPr>
                    <a:solidFill>
                      <a:srgbClr val="BE123C"/>
                    </a:solidFill>
                  </a:tcPr>
                </a:tc>
                <a:tc>
                  <a:txBody>
                    <a:bodyPr/>
                    <a:lstStyle/>
                    <a:p>
                      <a:pPr>
                        <a:defRPr b="1" sz="1100">
                          <a:solidFill>
                            <a:srgbClr val="FFFFFF"/>
                          </a:solidFill>
                          <a:latin typeface="Arial"/>
                        </a:defRPr>
                      </a:pPr>
                      <a:r>
                        <a:t>Mục tiêu khai thác</a:t>
                      </a:r>
                    </a:p>
                  </a:txBody>
                  <a:tcPr>
                    <a:solidFill>
                      <a:srgbClr val="BE123C"/>
                    </a:solidFill>
                  </a:tcPr>
                </a:tc>
              </a:tr>
              <a:tr h="969264">
                <a:tc>
                  <a:txBody>
                    <a:bodyPr/>
                    <a:lstStyle/>
                    <a:p>
                      <a:pPr>
                        <a:defRPr sz="1050">
                          <a:solidFill>
                            <a:srgbClr val="0F172A"/>
                          </a:solidFill>
                          <a:latin typeface="Arial"/>
                        </a:defRPr>
                      </a:pPr>
                      <a:r>
                        <a:t>Payload 1: Đánh cắp Cookie</a:t>
                      </a:r>
                    </a:p>
                  </a:txBody>
                  <a:tcPr>
                    <a:solidFill>
                      <a:srgbClr val="F8FAFC"/>
                    </a:solidFill>
                  </a:tcPr>
                </a:tc>
                <a:tc>
                  <a:txBody>
                    <a:bodyPr/>
                    <a:lstStyle/>
                    <a:p>
                      <a:pPr>
                        <a:defRPr sz="1050" b="1">
                          <a:solidFill>
                            <a:srgbClr val="BE123C"/>
                          </a:solidFill>
                          <a:latin typeface="Courier New"/>
                        </a:defRPr>
                      </a:pPr>
                      <a:r>
                        <a:t>&lt;script&gt;alert(document.cookie);&lt;/script&gt;</a:t>
                      </a:r>
                    </a:p>
                  </a:txBody>
                  <a:tcPr>
                    <a:solidFill>
                      <a:srgbClr val="F8FAFC"/>
                    </a:solidFill>
                  </a:tcPr>
                </a:tc>
                <a:tc>
                  <a:txBody>
                    <a:bodyPr/>
                    <a:lstStyle/>
                    <a:p>
                      <a:pPr>
                        <a:defRPr sz="1050">
                          <a:solidFill>
                            <a:srgbClr val="334155"/>
                          </a:solidFill>
                          <a:latin typeface="Arial"/>
                        </a:defRPr>
                      </a:pPr>
                      <a:r>
                        <a:t>Trình duyệt thực thi thẻ &lt;script&gt; và đọc toàn bộ giá trị lưu trong document.cookie.</a:t>
                      </a:r>
                    </a:p>
                  </a:txBody>
                  <a:tcPr>
                    <a:solidFill>
                      <a:srgbClr val="F8FAFC"/>
                    </a:solidFill>
                  </a:tcPr>
                </a:tc>
                <a:tc>
                  <a:txBody>
                    <a:bodyPr/>
                    <a:lstStyle/>
                    <a:p>
                      <a:pPr>
                        <a:defRPr sz="1050">
                          <a:solidFill>
                            <a:srgbClr val="334155"/>
                          </a:solidFill>
                          <a:latin typeface="Arial"/>
                        </a:defRPr>
                      </a:pPr>
                      <a:r>
                        <a:t>Chiếm đoạt Session Token (Cookie Stealing) để mạo danh người dùng.</a:t>
                      </a:r>
                    </a:p>
                  </a:txBody>
                  <a:tcPr>
                    <a:solidFill>
                      <a:srgbClr val="F8FAFC"/>
                    </a:solidFill>
                  </a:tcPr>
                </a:tc>
              </a:tr>
              <a:tr h="969264">
                <a:tc>
                  <a:txBody>
                    <a:bodyPr/>
                    <a:lstStyle/>
                    <a:p>
                      <a:pPr>
                        <a:defRPr sz="1050">
                          <a:solidFill>
                            <a:srgbClr val="0F172A"/>
                          </a:solidFill>
                          <a:latin typeface="Arial"/>
                        </a:defRPr>
                      </a:pPr>
                      <a:r>
                        <a:t>Payload 2: Bypass qua thẻ &lt;img&gt;</a:t>
                      </a:r>
                    </a:p>
                  </a:txBody>
                  <a:tcPr>
                    <a:solidFill>
                      <a:srgbClr val="FFFFFF"/>
                    </a:solidFill>
                  </a:tcPr>
                </a:tc>
                <a:tc>
                  <a:txBody>
                    <a:bodyPr/>
                    <a:lstStyle/>
                    <a:p>
                      <a:pPr>
                        <a:defRPr sz="1050" b="1">
                          <a:solidFill>
                            <a:srgbClr val="BE123C"/>
                          </a:solidFill>
                          <a:latin typeface="Courier New"/>
                        </a:defRPr>
                      </a:pPr>
                      <a:r>
                        <a:t>&lt;img src=x onerror=alert('XSS!')&gt;</a:t>
                      </a:r>
                    </a:p>
                  </a:txBody>
                  <a:tcPr>
                    <a:solidFill>
                      <a:srgbClr val="FFFFFF"/>
                    </a:solidFill>
                  </a:tcPr>
                </a:tc>
                <a:tc>
                  <a:txBody>
                    <a:bodyPr/>
                    <a:lstStyle/>
                    <a:p>
                      <a:pPr>
                        <a:defRPr sz="1050">
                          <a:solidFill>
                            <a:srgbClr val="334155"/>
                          </a:solidFill>
                          <a:latin typeface="Arial"/>
                        </a:defRPr>
                      </a:pPr>
                      <a:r>
                        <a:t>Khi đường dẫn ảnh bị lỗi (src=x), trình duyệt lập tức kích hoạt sự kiện onerror.</a:t>
                      </a:r>
                    </a:p>
                  </a:txBody>
                  <a:tcPr>
                    <a:solidFill>
                      <a:srgbClr val="FFFFFF"/>
                    </a:solidFill>
                  </a:tcPr>
                </a:tc>
                <a:tc>
                  <a:txBody>
                    <a:bodyPr/>
                    <a:lstStyle/>
                    <a:p>
                      <a:pPr>
                        <a:defRPr sz="1050">
                          <a:solidFill>
                            <a:srgbClr val="334155"/>
                          </a:solidFill>
                          <a:latin typeface="Arial"/>
                        </a:defRPr>
                      </a:pPr>
                      <a:r>
                        <a:t>Vượt qua các bộ lọc từ khóa đơn giản chỉ chặn chuỗi '&lt;script&gt;'.</a:t>
                      </a:r>
                    </a:p>
                  </a:txBody>
                  <a:tcPr>
                    <a:solidFill>
                      <a:srgbClr val="FFFFFF"/>
                    </a:solidFill>
                  </a:tcPr>
                </a:tc>
              </a:tr>
              <a:tr h="969264">
                <a:tc>
                  <a:txBody>
                    <a:bodyPr/>
                    <a:lstStyle/>
                    <a:p>
                      <a:pPr>
                        <a:defRPr sz="1050">
                          <a:solidFill>
                            <a:srgbClr val="0F172A"/>
                          </a:solidFill>
                          <a:latin typeface="Arial"/>
                        </a:defRPr>
                      </a:pPr>
                      <a:r>
                        <a:t>Payload 3: Thay đổi giao diện DOM</a:t>
                      </a:r>
                    </a:p>
                  </a:txBody>
                  <a:tcPr>
                    <a:solidFill>
                      <a:srgbClr val="F8FAFC"/>
                    </a:solidFill>
                  </a:tcPr>
                </a:tc>
                <a:tc>
                  <a:txBody>
                    <a:bodyPr/>
                    <a:lstStyle/>
                    <a:p>
                      <a:pPr>
                        <a:defRPr sz="1050" b="1">
                          <a:solidFill>
                            <a:srgbClr val="BE123C"/>
                          </a:solidFill>
                          <a:latin typeface="Courier New"/>
                        </a:defRPr>
                      </a:pPr>
                      <a:r>
                        <a:t>&lt;script&gt;document.body.innerHTML='...';&lt;/script&gt;</a:t>
                      </a:r>
                    </a:p>
                  </a:txBody>
                  <a:tcPr>
                    <a:solidFill>
                      <a:srgbClr val="F8FAFC"/>
                    </a:solidFill>
                  </a:tcPr>
                </a:tc>
                <a:tc>
                  <a:txBody>
                    <a:bodyPr/>
                    <a:lstStyle/>
                    <a:p>
                      <a:pPr>
                        <a:defRPr sz="1050">
                          <a:solidFill>
                            <a:srgbClr val="334155"/>
                          </a:solidFill>
                          <a:latin typeface="Arial"/>
                        </a:defRPr>
                      </a:pPr>
                      <a:r>
                        <a:t>Ghi đè thuộc tính innerHTML của thẻ body, xóa sạch nội dung gốc của trang.</a:t>
                      </a:r>
                    </a:p>
                  </a:txBody>
                  <a:tcPr>
                    <a:solidFill>
                      <a:srgbClr val="F8FAFC"/>
                    </a:solidFill>
                  </a:tcPr>
                </a:tc>
                <a:tc>
                  <a:txBody>
                    <a:bodyPr/>
                    <a:lstStyle/>
                    <a:p>
                      <a:pPr>
                        <a:defRPr sz="1050">
                          <a:solidFill>
                            <a:srgbClr val="334155"/>
                          </a:solidFill>
                          <a:latin typeface="Arial"/>
                        </a:defRPr>
                      </a:pPr>
                      <a:r>
                        <a:t>Web Defacement: Chèn form đăng nhập giả mạo lừa người dùng (Phishing).</a:t>
                      </a:r>
                    </a:p>
                  </a:txBody>
                  <a:tcPr>
                    <a:solidFill>
                      <a:srgbClr val="F8FAFC"/>
                    </a:solidFill>
                  </a:tcPr>
                </a:tc>
              </a:tr>
              <a:tr h="969264">
                <a:tc>
                  <a:txBody>
                    <a:bodyPr/>
                    <a:lstStyle/>
                    <a:p>
                      <a:pPr>
                        <a:defRPr sz="1050">
                          <a:solidFill>
                            <a:srgbClr val="0F172A"/>
                          </a:solidFill>
                          <a:latin typeface="Arial"/>
                        </a:defRPr>
                      </a:pPr>
                      <a:r>
                        <a:t>Bình luận hợp lệ chuẩn</a:t>
                      </a:r>
                    </a:p>
                  </a:txBody>
                  <a:tcPr>
                    <a:solidFill>
                      <a:srgbClr val="FFFFFF"/>
                    </a:solidFill>
                  </a:tcPr>
                </a:tc>
                <a:tc>
                  <a:txBody>
                    <a:bodyPr/>
                    <a:lstStyle/>
                    <a:p>
                      <a:pPr>
                        <a:defRPr sz="1050" b="1">
                          <a:solidFill>
                            <a:srgbClr val="047857"/>
                          </a:solidFill>
                          <a:latin typeface="Courier New"/>
                        </a:defRPr>
                      </a:pPr>
                      <a:r>
                        <a:t>Dịch vụ tư vấn rất chuyên nghiệp, 5 sao!</a:t>
                      </a:r>
                    </a:p>
                  </a:txBody>
                  <a:tcPr>
                    <a:solidFill>
                      <a:srgbClr val="FFFFFF"/>
                    </a:solidFill>
                  </a:tcPr>
                </a:tc>
                <a:tc>
                  <a:txBody>
                    <a:bodyPr/>
                    <a:lstStyle/>
                    <a:p>
                      <a:pPr>
                        <a:defRPr sz="1050">
                          <a:solidFill>
                            <a:srgbClr val="334155"/>
                          </a:solidFill>
                          <a:latin typeface="Arial"/>
                        </a:defRPr>
                      </a:pPr>
                      <a:r>
                        <a:t>Văn bản thuần túy không chứa thẻ HTML đặc biệt.</a:t>
                      </a:r>
                    </a:p>
                  </a:txBody>
                  <a:tcPr>
                    <a:solidFill>
                      <a:srgbClr val="FFFFFF"/>
                    </a:solidFill>
                  </a:tcPr>
                </a:tc>
                <a:tc>
                  <a:txBody>
                    <a:bodyPr/>
                    <a:lstStyle/>
                    <a:p>
                      <a:pPr>
                        <a:defRPr sz="1050">
                          <a:solidFill>
                            <a:srgbClr val="334155"/>
                          </a:solidFill>
                          <a:latin typeface="Arial"/>
                        </a:defRPr>
                      </a:pPr>
                      <a:r>
                        <a:t>Hiển thị bình thường trên cả 2 nhánh (Lỗi &amp; Đã phòng thủ).</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2.3. Stored XSS: Minh Chứng Thực Nghiệm Trực Quan Trên Web UI</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final_xss_proof.png"/>
          <p:cNvPicPr>
            <a:picLocks noChangeAspect="1"/>
          </p:cNvPicPr>
          <p:nvPr/>
        </p:nvPicPr>
        <p:blipFill>
          <a:blip r:embed="rId2"/>
          <a:stretch>
            <a:fillRect/>
          </a:stretch>
        </p:blipFill>
        <p:spPr>
          <a:xfrm>
            <a:off x="2615184" y="1234440"/>
            <a:ext cx="6949440" cy="4584700"/>
          </a:xfrm>
          <a:prstGeom prst="rect">
            <a:avLst/>
          </a:prstGeom>
        </p:spPr>
      </p:pic>
      <p:sp>
        <p:nvSpPr>
          <p:cNvPr id="7" name="TextBox 6"/>
          <p:cNvSpPr txBox="1"/>
          <p:nvPr/>
        </p:nvSpPr>
        <p:spPr>
          <a:xfrm>
            <a:off x="731520" y="6016752"/>
            <a:ext cx="10728655" cy="365760"/>
          </a:xfrm>
          <a:prstGeom prst="rect">
            <a:avLst/>
          </a:prstGeom>
          <a:noFill/>
        </p:spPr>
        <p:txBody>
          <a:bodyPr wrap="none">
            <a:spAutoFit/>
          </a:bodyPr>
          <a:lstStyle/>
          <a:p>
            <a:pPr algn="ctr">
              <a:defRPr sz="1100" b="1">
                <a:solidFill>
                  <a:srgbClr val="BE123C"/>
                </a:solidFill>
                <a:latin typeface="Arial"/>
              </a:defRPr>
            </a:pPr>
            <a:r>
              <a:t>Minh chứng đối chứng chức năng Đánh giá: Nhánh dính lỗi kích hoạt popup Alert (Trái) vs Nhánh an toàn mã hóa HTML (Phải)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2.4. Stored XSS: Minh Chứng Kiểm Thử Qua Chrome DevTools (Application &amp; Console)</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02_xss_devtools_proof.png"/>
          <p:cNvPicPr>
            <a:picLocks noChangeAspect="1"/>
          </p:cNvPicPr>
          <p:nvPr/>
        </p:nvPicPr>
        <p:blipFill>
          <a:blip r:embed="rId2"/>
          <a:stretch>
            <a:fillRect/>
          </a:stretch>
        </p:blipFill>
        <p:spPr>
          <a:xfrm>
            <a:off x="1883664" y="1234440"/>
            <a:ext cx="8412480" cy="4732020"/>
          </a:xfrm>
          <a:prstGeom prst="rect">
            <a:avLst/>
          </a:prstGeom>
        </p:spPr>
      </p:pic>
      <p:sp>
        <p:nvSpPr>
          <p:cNvPr id="7" name="TextBox 6"/>
          <p:cNvSpPr txBox="1"/>
          <p:nvPr/>
        </p:nvSpPr>
        <p:spPr>
          <a:xfrm>
            <a:off x="731520" y="6053328"/>
            <a:ext cx="10728655" cy="365760"/>
          </a:xfrm>
          <a:prstGeom prst="rect">
            <a:avLst/>
          </a:prstGeom>
          <a:noFill/>
        </p:spPr>
        <p:txBody>
          <a:bodyPr wrap="none">
            <a:spAutoFit/>
          </a:bodyPr>
          <a:lstStyle/>
          <a:p>
            <a:pPr algn="ctr">
              <a:defRPr sz="1100" b="1">
                <a:solidFill>
                  <a:srgbClr val="BE123C"/>
                </a:solidFill>
                <a:latin typeface="Arial"/>
              </a:defRPr>
            </a:pPr>
            <a:r>
              <a:t>Soi Cookie lưu trữ (HttpOnly = false) &amp; Cửa sổ Console: Lệnh JavaScript document.cookie đọc trộm toàn bộ AuthSessionToken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2.5. Stored XSS: Minh Chứng Dữ Liệu CSDL dbo.Comments &amp; Cờ Bảo Vệ</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Dữ Liệu Lưu Trong Bảng dbo.Comments</a:t>
            </a:r>
          </a:p>
          <a:p>
            <a:pPr>
              <a:spcBef>
                <a:spcPts val="600"/>
              </a:spcBef>
              <a:defRPr sz="950" b="0">
                <a:solidFill>
                  <a:srgbClr val="0F172A"/>
                </a:solidFill>
                <a:latin typeface="Courier New"/>
              </a:defRPr>
            </a:pPr>
            <a:r>
              <a:t>SELECT Id, Author, Content, IsSecureStored FROM dbo.Comments;</a:t>
            </a:r>
            <a:br/>
            <a:br/>
            <a:r>
              <a:t>Id | Author        | Content                           | IsSecure</a:t>
            </a:r>
            <a:br/>
            <a:r>
              <a:t>---+---------------+-----------------------------------+---------</a:t>
            </a:r>
            <a:br/>
            <a:r>
              <a:t> 1 | Le Thanh Binh | Dich vu tu van rat chuyen nghiep! | 1</a:t>
            </a:r>
            <a:br/>
            <a:r>
              <a:t> 2 | Hacker_XSS    | &lt;script&gt;alert(document.cookie);.. | 0</a:t>
            </a:r>
          </a:p>
          <a:p>
            <a:pPr>
              <a:spcBef>
                <a:spcPts val="800"/>
              </a:spcBef>
              <a:defRPr sz="1150" b="0">
                <a:solidFill>
                  <a:srgbClr val="334155"/>
                </a:solidFill>
                <a:latin typeface="Arial"/>
              </a:defRPr>
            </a:pPr>
            <a:r>
              <a:t>Phân tích đặc tính lưu trữ:</a:t>
            </a:r>
            <a:br/>
            <a:r>
              <a:t>Mã kịch bản độc hại được lưu trữ trực tiếp trong CSDL. Do đó, lỗ hổng Stored XSS có tính chất nguy hại kéo dài và phát tán tới mọi người dùng xem nội dung đó.</a:t>
            </a:r>
          </a:p>
        </p:txBody>
      </p:sp>
      <p:sp>
        <p:nvSpPr>
          <p:cNvPr id="7" name="Rounded Rectangle 6"/>
          <p:cNvSpPr/>
          <p:nvPr/>
        </p:nvSpPr>
        <p:spPr>
          <a:xfrm>
            <a:off x="626364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latin typeface="Arial"/>
              </a:defRPr>
            </a:pPr>
            <a:r>
              <a:t>Cơ Chế Bảo Vệ Với Cờ HttpOnly Cookie</a:t>
            </a:r>
          </a:p>
          <a:p>
            <a:pPr>
              <a:spcBef>
                <a:spcPts val="600"/>
              </a:spcBef>
              <a:defRPr sz="950" b="0">
                <a:solidFill>
                  <a:srgbClr val="065F46"/>
                </a:solidFill>
                <a:latin typeface="Courier New"/>
              </a:defRPr>
            </a:pPr>
            <a:r>
              <a:t>// CẤU HÌNH COOKIE AN TOÀN TRONG ASP.NET CORE:</a:t>
            </a:r>
            <a:br/>
            <a:r>
              <a:t>Response.Cookies.Append("AuthSessionToken", token, new CookieOptions</a:t>
            </a:r>
            <a:br/>
            <a:r>
              <a:t>{</a:t>
            </a:r>
            <a:br/>
            <a:r>
              <a:t>    HttpOnly = true, // CẤM JAVASCRIPT ĐỌC TRỘM</a:t>
            </a:r>
            <a:br/>
            <a:r>
              <a:t>    Secure = true,   // BẮT BUỘC TRUYỀN QUA HTTPS</a:t>
            </a:r>
            <a:br/>
            <a:r>
              <a:t>    SameSite = SameSiteMode.Strict</a:t>
            </a:r>
            <a:br/>
            <a:r>
              <a:t>});</a:t>
            </a:r>
          </a:p>
          <a:p>
            <a:pPr>
              <a:spcBef>
                <a:spcPts val="800"/>
              </a:spcBef>
              <a:defRPr sz="1150" b="0">
                <a:solidFill>
                  <a:srgbClr val="334155"/>
                </a:solidFill>
                <a:latin typeface="Arial"/>
              </a:defRPr>
            </a:pPr>
            <a:r>
              <a:t>Vai trò của cờ HttpOnly:</a:t>
            </a:r>
            <a:br/>
            <a:r>
              <a:t>Ngăn chặn mã JavaScript đọc thuộc tính document.cookie. Kể cả khi trang web xuất hiện lỗi XSS, kẻ tấn công cũng không thể trích xuất token phiên làm việc.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2.6. Stored XSS: Bộ Giải Pháp Phòng Thủ Chuẩn Trong ASP.NET Core</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10728655"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CÁC NGUYÊN TẮC PHÒNG THỦ XSS THEO KHUYẾN NGHỊ OWASP:</a:t>
            </a:r>
          </a:p>
          <a:p>
            <a:pPr>
              <a:spcBef>
                <a:spcPts val="800"/>
              </a:spcBef>
              <a:defRPr sz="1300" b="0">
                <a:solidFill>
                  <a:srgbClr val="334155"/>
                </a:solidFill>
                <a:latin typeface="Arial"/>
              </a:defRPr>
            </a:pPr>
            <a:r>
              <a:t>1. Tận dụng cơ chế mã hóa tự động của Razor View:</a:t>
            </a:r>
            <a:br/>
            <a:r>
              <a:t>   Sử dụng cú pháp mặc định @model.Property thay vì @Html.Raw() đối với mọi dữ liệu bắt nguồn từ người dùng. Các ký tự nhạy cảm (&lt;, &gt;, ", ') tự động được chuyển đổi sang thực thể HTML an toàn.</a:t>
            </a:r>
          </a:p>
          <a:p>
            <a:pPr>
              <a:spcBef>
                <a:spcPts val="800"/>
              </a:spcBef>
              <a:defRPr sz="1300" b="0">
                <a:solidFill>
                  <a:srgbClr val="334155"/>
                </a:solidFill>
                <a:latin typeface="Arial"/>
              </a:defRPr>
            </a:pPr>
            <a:r>
              <a:t>2. Mã hóa dữ liệu với System.Text.Encodings.Web:</a:t>
            </a:r>
            <a:br/>
            <a:r>
              <a:t>   Sử dụng HtmlEncoder.Default.Encode() để xử lý dữ liệu trước khi lưu trữ hoặc phản hồi.</a:t>
            </a:r>
          </a:p>
          <a:p>
            <a:pPr>
              <a:spcBef>
                <a:spcPts val="800"/>
              </a:spcBef>
              <a:defRPr sz="1300" b="0">
                <a:solidFill>
                  <a:srgbClr val="334155"/>
                </a:solidFill>
                <a:latin typeface="Arial"/>
              </a:defRPr>
            </a:pPr>
            <a:r>
              <a:t>3. Thiết lập thuộc tính an toàn cho Cookie:</a:t>
            </a:r>
            <a:br/>
            <a:r>
              <a:t>   Kích hoạt HttpOnly = true và Secure = true để bảo vệ token phiên làm việc khỏi sự can thiệp của mã kịch bản phía client.</a:t>
            </a:r>
          </a:p>
          <a:p>
            <a:pPr>
              <a:spcBef>
                <a:spcPts val="800"/>
              </a:spcBef>
              <a:defRPr sz="1300" b="0">
                <a:solidFill>
                  <a:srgbClr val="334155"/>
                </a:solidFill>
                <a:latin typeface="Arial"/>
              </a:defRPr>
            </a:pPr>
            <a:r>
              <a:t>4. Triển khai Content Security Policy (CSP Header):</a:t>
            </a:r>
            <a:br/>
            <a:r>
              <a:t>   Cấu hình chính sách bảo mật nội dung để hạn chế phạm vi thực thi kịch bản và chặn các nguồn tài nguyên không tin cậy.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3.1. CSRF Attack: Bản Chất Kỹ Thuật &amp; Điều Kiện Tấn Công</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Bản Chất Kỹ Thuật Của Tấn Công CSRF</a:t>
            </a:r>
          </a:p>
          <a:p>
            <a:pPr>
              <a:spcBef>
                <a:spcPts val="800"/>
              </a:spcBef>
              <a:defRPr sz="1250" b="0">
                <a:solidFill>
                  <a:srgbClr val="334155"/>
                </a:solidFill>
                <a:latin typeface="Arial"/>
              </a:defRPr>
            </a:pPr>
            <a:r>
              <a:t>• CSRF (A01:2021 - Broken Access Control) là kỹ thuật tấn công mượn quyền người dùng hợp lệ.</a:t>
            </a:r>
            <a:br/>
            <a:r>
              <a:t>• Điều kiện tiên quyết:</a:t>
            </a:r>
            <a:br/>
            <a:r>
              <a:t>  1. Nạn nhân có phiên đăng nhập hợp lệ tại ứng dụng mục tiêu (Cookie xác thực còn hiệu lực).</a:t>
            </a:r>
            <a:br/>
            <a:r>
              <a:t>  2. Trình duyệt tự động đính kèm Cookie xác thực theo mọi HTTP Request gửi tới tên miền của ứng dụng.</a:t>
            </a:r>
            <a:br/>
            <a:r>
              <a:t>  3. Kẻ tấn công lừa nạn nhân truy cập một trang web độc hại do kẻ tấn công kiểm soát.</a:t>
            </a:r>
            <a:br/>
            <a:r>
              <a:t>• Điểm mù kiểm soát: Máy chủ chỉ xác thực Cookie của người dùng mà không kiểm tra nguồn gốc phát sinh Request.</a:t>
            </a:r>
          </a:p>
        </p:txBody>
      </p:sp>
      <p:sp>
        <p:nvSpPr>
          <p:cNvPr id="7" name="Rounded Rectangle 6"/>
          <p:cNvSpPr/>
          <p:nvPr/>
        </p:nvSpPr>
        <p:spPr>
          <a:xfrm>
            <a:off x="6263640" y="123444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Action Xử Lý Giao Dịch Thiếu Kiểm Soát</a:t>
            </a:r>
          </a:p>
          <a:p>
            <a:pPr>
              <a:spcBef>
                <a:spcPts val="800"/>
              </a:spcBef>
              <a:defRPr sz="1000" b="0">
                <a:solidFill>
                  <a:srgbClr val="9F1239"/>
                </a:solidFill>
                <a:latin typeface="Courier New"/>
              </a:defRPr>
            </a:pPr>
            <a:r>
              <a:t>// ACTION NHẬN YÊU CẦU KHÔNG CÓ BẢO VỆ TOKEN:</a:t>
            </a:r>
            <a:br/>
            <a:r>
              <a:t>[HttpPost]</a:t>
            </a:r>
            <a:br/>
            <a:r>
              <a:t>public IActionResult TransferVulnerable(decimal amount)</a:t>
            </a:r>
            <a:br/>
            <a:r>
              <a:t>{</a:t>
            </a:r>
            <a:br/>
            <a:r>
              <a:t>    var victim = _context.Wallets.Find(1);</a:t>
            </a:r>
            <a:br/>
            <a:r>
              <a:t>    var hacker = _context.Wallets.Find(2);</a:t>
            </a:r>
            <a:br/>
            <a:r>
              <a:t>    </a:t>
            </a:r>
            <a:br/>
            <a:r>
              <a:t>    victim.Balance -= amount;</a:t>
            </a:r>
            <a:br/>
            <a:r>
              <a:t>    hacker.Balance += amount;</a:t>
            </a:r>
            <a:br/>
            <a:r>
              <a:t>    _context.SaveChanges();</a:t>
            </a:r>
            <a:br/>
            <a:r>
              <a:t>    return RedirectToAction("Index");</a:t>
            </a:r>
            <a:br/>
            <a:r>
              <a:t>}</a:t>
            </a:r>
          </a:p>
          <a:p>
            <a:pPr>
              <a:spcBef>
                <a:spcPts val="1000"/>
              </a:spcBef>
              <a:defRPr sz="1200" b="1">
                <a:solidFill>
                  <a:srgbClr val="0F172A"/>
                </a:solidFill>
                <a:latin typeface="Arial"/>
              </a:defRPr>
            </a:pPr>
            <a:r>
              <a:t>Khi Action không yêu cầu mã xác thực chống giả mạo, các yêu cầu POST bắt nguồn từ một website khác vẫn được máy chủ thực thi bình thường do Cookie xác thực được đính kèm tự động.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3.2. CSRF Attack: Kịch Bản Khai Thác Bằng Biểu Mẫu Ẩn</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10728655"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BE123C"/>
                </a:solidFill>
                <a:latin typeface="Arial"/>
              </a:defRPr>
            </a:pPr>
            <a:r>
              <a:t>Kịch Bản: Trang Web Giả Mạo Điều Khiển Yêu Cầu Chuyển Tiền</a:t>
            </a:r>
          </a:p>
          <a:p>
            <a:pPr>
              <a:spcBef>
                <a:spcPts val="800"/>
              </a:spcBef>
              <a:defRPr sz="1300" b="0">
                <a:solidFill>
                  <a:srgbClr val="334155"/>
                </a:solidFill>
                <a:latin typeface="Arial"/>
              </a:defRPr>
            </a:pPr>
            <a:r>
              <a:t>1. Nạn nhân có phiên làm việc đang hoạt động trên hệ thống tư vấn trực tuyến.</a:t>
            </a:r>
            <a:br/>
            <a:r>
              <a:t>2. Nạn nhân được dẫn dụ truy cập một trang web độc hại ở một tab khác (AttackerSite.cshtml).</a:t>
            </a:r>
            <a:br/>
            <a:r>
              <a:t>3. Trang web độc hại chứa một biểu mẫu ẩn trỏ trực tiếp tới địa chỉ nhận lệnh của ứng dụng mục tiêu:</a:t>
            </a:r>
          </a:p>
          <a:p>
            <a:pPr>
              <a:spcBef>
                <a:spcPts val="600"/>
              </a:spcBef>
              <a:defRPr sz="1100" b="1">
                <a:solidFill>
                  <a:srgbClr val="9F1239"/>
                </a:solidFill>
                <a:latin typeface="Courier New"/>
              </a:defRPr>
            </a:pPr>
            <a:r>
              <a:t>&lt;!-- BIỂU MẪU ẨN TRÊN TRANG WEB CỦA KẺ TẤN CÔNG --&gt;</a:t>
            </a:r>
            <a:br/>
            <a:r>
              <a:t>&lt;form id="exploit" action="http://localhost:5076/Csrf/TransferVulnerable" method="POST"&gt;</a:t>
            </a:r>
            <a:br/>
            <a:r>
              <a:t>    &lt;input type="hidden" name="amount" value="20000000" /&gt;</a:t>
            </a:r>
            <a:br/>
            <a:r>
              <a:t>&lt;/form&gt;</a:t>
            </a:r>
            <a:br/>
            <a:r>
              <a:t>&lt;script&gt;document.getElementById('exploit').submit();&lt;/script&gt;</a:t>
            </a:r>
          </a:p>
          <a:p>
            <a:pPr>
              <a:spcBef>
                <a:spcPts val="800"/>
              </a:spcBef>
              <a:defRPr sz="1300" b="1">
                <a:solidFill>
                  <a:srgbClr val="BE123C"/>
                </a:solidFill>
                <a:latin typeface="Arial"/>
              </a:defRPr>
            </a:pPr>
            <a:r>
              <a:t>Hậu quả thực tế: Yêu cầu giao dịch được thực hiện mà không có sự đồng thuận chủ động của người dùng, dẫn đến thay đổi số dư hoặc cấu hình tài khoản.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3.3. CSRF Attack: Minh Chứng Thực Nghiệm Trực Quan Trên Web UI</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final_csrf_proof.png"/>
          <p:cNvPicPr>
            <a:picLocks noChangeAspect="1"/>
          </p:cNvPicPr>
          <p:nvPr/>
        </p:nvPicPr>
        <p:blipFill>
          <a:blip r:embed="rId2"/>
          <a:stretch>
            <a:fillRect/>
          </a:stretch>
        </p:blipFill>
        <p:spPr>
          <a:xfrm>
            <a:off x="2523744" y="1234440"/>
            <a:ext cx="7132320" cy="4585063"/>
          </a:xfrm>
          <a:prstGeom prst="rect">
            <a:avLst/>
          </a:prstGeom>
        </p:spPr>
      </p:pic>
      <p:sp>
        <p:nvSpPr>
          <p:cNvPr id="7" name="TextBox 6"/>
          <p:cNvSpPr txBox="1"/>
          <p:nvPr/>
        </p:nvSpPr>
        <p:spPr>
          <a:xfrm>
            <a:off x="731520" y="6016752"/>
            <a:ext cx="10728655" cy="365760"/>
          </a:xfrm>
          <a:prstGeom prst="rect">
            <a:avLst/>
          </a:prstGeom>
          <a:noFill/>
        </p:spPr>
        <p:txBody>
          <a:bodyPr wrap="none">
            <a:spAutoFit/>
          </a:bodyPr>
          <a:lstStyle/>
          <a:p>
            <a:pPr algn="ctr">
              <a:defRPr sz="1100" b="1">
                <a:solidFill>
                  <a:srgbClr val="047857"/>
                </a:solidFill>
                <a:latin typeface="Arial"/>
              </a:defRPr>
            </a:pPr>
            <a:r>
              <a:t>Minh chứng đối chứng ví tiền: Bị trừ 20.000.000 VNĐ qua biểu mẫu ẩn của Hacker (Trái) vs Chặn đứng yêu cầu thiếu Token (Phải)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3.4. CSRF Attack: Minh Chứng Kiểm Thử Qua Chrome DevTools (Request Headers)</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03_csrf_devtools_proof.png"/>
          <p:cNvPicPr>
            <a:picLocks noChangeAspect="1"/>
          </p:cNvPicPr>
          <p:nvPr/>
        </p:nvPicPr>
        <p:blipFill>
          <a:blip r:embed="rId2"/>
          <a:stretch>
            <a:fillRect/>
          </a:stretch>
        </p:blipFill>
        <p:spPr>
          <a:xfrm>
            <a:off x="1883664" y="1234440"/>
            <a:ext cx="8412480" cy="4732020"/>
          </a:xfrm>
          <a:prstGeom prst="rect">
            <a:avLst/>
          </a:prstGeom>
        </p:spPr>
      </p:pic>
      <p:sp>
        <p:nvSpPr>
          <p:cNvPr id="7" name="TextBox 6"/>
          <p:cNvSpPr txBox="1"/>
          <p:nvPr/>
        </p:nvSpPr>
        <p:spPr>
          <a:xfrm>
            <a:off x="731520" y="6053328"/>
            <a:ext cx="10728655" cy="365760"/>
          </a:xfrm>
          <a:prstGeom prst="rect">
            <a:avLst/>
          </a:prstGeom>
          <a:noFill/>
        </p:spPr>
        <p:txBody>
          <a:bodyPr wrap="none">
            <a:spAutoFit/>
          </a:bodyPr>
          <a:lstStyle/>
          <a:p>
            <a:pPr algn="ctr">
              <a:defRPr sz="1100" b="1">
                <a:solidFill>
                  <a:srgbClr val="047857"/>
                </a:solidFill>
                <a:latin typeface="Arial"/>
              </a:defRPr>
            </a:pPr>
            <a:r>
              <a:t>Soi gói tin HTTP POST gửi ngầm từ Attacker Site: Đính kèm Cookie tự động nhưng thiếu hoàn toàn Anti-Forgery Token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3.5. CSRF Attack: Minh Chứng Biến Động CSDL dbo.UserWallets</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1. Trạng Thái CSDL Ban Đầu</a:t>
            </a:r>
          </a:p>
          <a:p>
            <a:pPr>
              <a:spcBef>
                <a:spcPts val="600"/>
              </a:spcBef>
              <a:defRPr sz="950" b="0">
                <a:solidFill>
                  <a:srgbClr val="0F172A"/>
                </a:solidFill>
                <a:latin typeface="Courier New"/>
              </a:defRPr>
            </a:pPr>
            <a:r>
              <a:t>SELECT Id, OwnerName, Balance FROM dbo.UserWallets;</a:t>
            </a:r>
            <a:br/>
            <a:br/>
            <a:r>
              <a:t>Id | OwnerName                      | Balance (VND)</a:t>
            </a:r>
            <a:br/>
            <a:r>
              <a:t>---+--------------------------------+---------------</a:t>
            </a:r>
            <a:br/>
            <a:r>
              <a:t> 1 | Nạn nhân (Nguyễn Danh Học)     | 50,000,000.00</a:t>
            </a:r>
            <a:br/>
            <a:r>
              <a:t> 2 | Kẻ tấn công (Hacker BlackHat)  |          0.00</a:t>
            </a:r>
            <a:br/>
            <a:r>
              <a:t>(2 rows affected)</a:t>
            </a:r>
          </a:p>
          <a:p>
            <a:pPr>
              <a:spcBef>
                <a:spcPts val="800"/>
              </a:spcBef>
              <a:defRPr sz="1150" b="0">
                <a:solidFill>
                  <a:srgbClr val="334155"/>
                </a:solidFill>
                <a:latin typeface="Arial"/>
              </a:defRPr>
            </a:pPr>
            <a:r>
              <a:t>Số dư ví tài khoản nạn nhân ở trạng thái ban đầu là 50 triệu VNĐ, tài khoản đối tượng tấn công là 0 VNĐ.</a:t>
            </a:r>
          </a:p>
        </p:txBody>
      </p:sp>
      <p:sp>
        <p:nvSpPr>
          <p:cNvPr id="7" name="Rounded Rectangle 6"/>
          <p:cNvSpPr/>
          <p:nvPr/>
        </p:nvSpPr>
        <p:spPr>
          <a:xfrm>
            <a:off x="6263640" y="123444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E123C"/>
                </a:solidFill>
                <a:latin typeface="Arial"/>
              </a:defRPr>
            </a:pPr>
            <a:r>
              <a:t>2. Trạng Thái CSDL Sau Khai Thác CSRF</a:t>
            </a:r>
          </a:p>
          <a:p>
            <a:pPr>
              <a:spcBef>
                <a:spcPts val="600"/>
              </a:spcBef>
              <a:defRPr sz="950" b="0">
                <a:solidFill>
                  <a:srgbClr val="9F1239"/>
                </a:solidFill>
                <a:latin typeface="Courier New"/>
              </a:defRPr>
            </a:pPr>
            <a:r>
              <a:t>SELECT Id, OwnerName, Balance FROM dbo.UserWallets;</a:t>
            </a:r>
            <a:br/>
            <a:br/>
            <a:r>
              <a:t>Id | OwnerName                      | Balance (VND)</a:t>
            </a:r>
            <a:br/>
            <a:r>
              <a:t>---+--------------------------------+---------------</a:t>
            </a:r>
            <a:br/>
            <a:r>
              <a:t> 1 | Nạn nhân (Nguyễn Danh Học)     | 30,000,000.00</a:t>
            </a:r>
            <a:br/>
            <a:r>
              <a:t> 2 | Kẻ tấn công (Hacker BlackHat)  | 20,000,000.00</a:t>
            </a:r>
            <a:br/>
            <a:r>
              <a:t>(2 rows affected)</a:t>
            </a:r>
          </a:p>
          <a:p>
            <a:pPr>
              <a:spcBef>
                <a:spcPts val="800"/>
              </a:spcBef>
              <a:defRPr sz="1150" b="0">
                <a:solidFill>
                  <a:srgbClr val="334155"/>
                </a:solidFill>
                <a:latin typeface="Arial"/>
              </a:defRPr>
            </a:pPr>
            <a:r>
              <a:t>Số dư thực tế trong CSDL bị thay đổi hoàn toàn tự động khi nạn nhân truy cập liên kết độc hại, chứng minh mức độ rủi ro nghiêm trọng của giao dịch thiếu token.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3.6. CSRF Attack: Cơ Chế Synchronizer Token &amp; Fetch API</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Mô Hình Synchronizer Token Pattern</a:t>
            </a:r>
          </a:p>
          <a:p>
            <a:pPr>
              <a:spcBef>
                <a:spcPts val="800"/>
              </a:spcBef>
              <a:defRPr sz="950" b="0">
                <a:solidFill>
                  <a:srgbClr val="065F46"/>
                </a:solidFill>
                <a:latin typeface="Courier New"/>
              </a:defRPr>
            </a:pPr>
            <a:r>
              <a:t>// 1. TRONG RAZOR VIEW: NHÚNG TOKEN VÀO FORM</a:t>
            </a:r>
            <a:br/>
            <a:r>
              <a:t>&lt;form asp-action="TransferSecure" method="post"&gt;</a:t>
            </a:r>
            <a:br/>
            <a:r>
              <a:t>    @Html.AntiForgeryToken()</a:t>
            </a:r>
            <a:br/>
            <a:r>
              <a:t>    &lt;input type="number" name="amount" /&gt;</a:t>
            </a:r>
            <a:br/>
            <a:r>
              <a:t>    &lt;button type="submit"&gt;Chuyển tiền&lt;/button&gt;</a:t>
            </a:r>
            <a:br/>
            <a:r>
              <a:t>&lt;/form&gt;</a:t>
            </a:r>
            <a:br/>
            <a:br/>
            <a:r>
              <a:t>// 2. TRONG CONTROLLER: BẮT BUỘC KIỂM TRA TOKEN</a:t>
            </a:r>
            <a:br/>
            <a:r>
              <a:t>[HttpPost]</a:t>
            </a:r>
            <a:br/>
            <a:r>
              <a:t>[ValidateAntiForgeryToken]</a:t>
            </a:r>
            <a:br/>
            <a:r>
              <a:t>public IActionResult TransferSecure(decimal amount)</a:t>
            </a:r>
            <a:br/>
            <a:r>
              <a:t>{</a:t>
            </a:r>
            <a:br/>
            <a:r>
              <a:t>    // Chỉ thực thi khi Token từ Form khớp với Token trong Cookie</a:t>
            </a:r>
            <a:br/>
            <a:r>
              <a:t>}</a:t>
            </a:r>
          </a:p>
          <a:p>
            <a:pPr>
              <a:spcBef>
                <a:spcPts val="800"/>
              </a:spcBef>
              <a:defRPr sz="1150" b="0">
                <a:solidFill>
                  <a:srgbClr val="334155"/>
                </a:solidFill>
                <a:latin typeface="Arial"/>
              </a:defRPr>
            </a:pPr>
            <a:r>
              <a:t>Cơ chế bảo vệ:</a:t>
            </a:r>
            <a:br/>
            <a:r>
              <a:t>Máy chủ phát hành một cặp token: một lưu trong Cookie và một nhúng vào biểu mẫu. Trang web độc hại bị chặn đọc token bởi chính sách Same-Origin Policy (SOP).</a:t>
            </a:r>
          </a:p>
        </p:txBody>
      </p:sp>
      <p:sp>
        <p:nvSpPr>
          <p:cNvPr id="7" name="Rounded Rectangle 6"/>
          <p:cNvSpPr/>
          <p:nvPr/>
        </p:nvSpPr>
        <p:spPr>
          <a:xfrm>
            <a:off x="626364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D4ED8"/>
                </a:solidFill>
                <a:latin typeface="Arial"/>
              </a:defRPr>
            </a:pPr>
            <a:r>
              <a:t>Tích Hợp Token Trong Fetch API (Slide Buổi 9)</a:t>
            </a:r>
          </a:p>
          <a:p>
            <a:pPr>
              <a:spcBef>
                <a:spcPts val="800"/>
              </a:spcBef>
              <a:defRPr sz="950" b="0">
                <a:solidFill>
                  <a:srgbClr val="0F172A"/>
                </a:solidFill>
                <a:latin typeface="Courier New"/>
              </a:defRPr>
            </a:pPr>
            <a:r>
              <a:t>// TRÍCH XUẤT VÀ GỬI TOKEN QUA HTTP HEADER:</a:t>
            </a:r>
            <a:br/>
            <a:r>
              <a:t>const token = document.querySelector('input[name="__RequestVerificationToken"]').value;</a:t>
            </a:r>
            <a:br/>
            <a:br/>
            <a:r>
              <a:t>fetch('/Csrf/TransferAjax', {</a:t>
            </a:r>
            <a:br/>
            <a:r>
              <a:t>    method: 'POST',</a:t>
            </a:r>
            <a:br/>
            <a:r>
              <a:t>    headers: {</a:t>
            </a:r>
            <a:br/>
            <a:r>
              <a:t>        'Content-Type': 'application/json',</a:t>
            </a:r>
            <a:br/>
            <a:r>
              <a:t>        'RequestVerificationToken': token // HEADER BẢO VỆ</a:t>
            </a:r>
            <a:br/>
            <a:r>
              <a:t>    },</a:t>
            </a:r>
            <a:br/>
            <a:r>
              <a:t>    body: JSON.stringify({ amount: 5000000 })</a:t>
            </a:r>
            <a:br/>
            <a:r>
              <a:t>})</a:t>
            </a:r>
            <a:br/>
            <a:r>
              <a:t>.then(response =&gt; response.json());</a:t>
            </a:r>
          </a:p>
          <a:p>
            <a:pPr>
              <a:spcBef>
                <a:spcPts val="800"/>
              </a:spcBef>
              <a:defRPr sz="1150" b="0">
                <a:solidFill>
                  <a:srgbClr val="334155"/>
                </a:solidFill>
                <a:latin typeface="Arial"/>
              </a:defRPr>
            </a:pPr>
            <a:r>
              <a:t>Ứng dụng trong thực tế:</a:t>
            </a:r>
            <a:br/>
            <a:r>
              <a:t>Đối với các tác vụ gọi AJAX không tải lại trang, token được đọc từ thẻ ẩn và truyền qua HTTP Header để đảm bảo vừa tiện dụng vừa an toàn.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57200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OWASP TOP 10 • THỰC NGHIỆM AN TOÀN WEB</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Kết Luận Báo Cáo Thực Nghiệm OWASP Top 10</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914400" y="1371600"/>
            <a:ext cx="10362895"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D4ED8"/>
                </a:solidFill>
                <a:latin typeface="Arial"/>
              </a:defRPr>
            </a:pPr>
            <a:r>
              <a:t>TỔNG KẾT KẾT QUẢ THỰC NGHIỆM CỦA NHÓM WNC.G01</a:t>
            </a:r>
          </a:p>
          <a:p>
            <a:pPr>
              <a:spcBef>
                <a:spcPts val="1400"/>
              </a:spcBef>
              <a:defRPr sz="1300" b="0">
                <a:solidFill>
                  <a:srgbClr val="334155"/>
                </a:solidFill>
                <a:latin typeface="Arial"/>
              </a:defRPr>
            </a:pPr>
            <a:r>
              <a:t>1. Nguyễn Danh Học (SQL Injection): Phân tích cơ chế tấn công bẻ gãy cú pháp CSDL ở tầng Backend và giải pháp phòng thủ triệt để bằng Parameterized Query / EF Core LINQ.</a:t>
            </a:r>
          </a:p>
          <a:p>
            <a:pPr>
              <a:spcBef>
                <a:spcPts val="1200"/>
              </a:spcBef>
              <a:defRPr sz="1300" b="0">
                <a:solidFill>
                  <a:srgbClr val="334155"/>
                </a:solidFill>
                <a:latin typeface="Arial"/>
              </a:defRPr>
            </a:pPr>
            <a:r>
              <a:t>2. Nguyễn Thanh Bình (Stored XSS): Phân tích nguy cơ đánh cắp Session Cookie qua dữ liệu lưu trữ CSDL và giải pháp tự động HTML Encoding của Razor View kết hợp cờ HttpOnly.</a:t>
            </a:r>
          </a:p>
          <a:p>
            <a:pPr>
              <a:spcBef>
                <a:spcPts val="1200"/>
              </a:spcBef>
              <a:defRPr sz="1300" b="0">
                <a:solidFill>
                  <a:srgbClr val="334155"/>
                </a:solidFill>
                <a:latin typeface="Arial"/>
              </a:defRPr>
            </a:pPr>
            <a:r>
              <a:t>3. Nguyễn Minh Cường (CSRF Attack): Phân tích kỹ thuật mượn quyền người dùng qua biểu mẫu ẩn và giải pháp phòng thủ bằng Synchronizer Token Pattern trên cả Form lẫn Fetch API.</a:t>
            </a:r>
          </a:p>
          <a:p>
            <a:pPr>
              <a:spcBef>
                <a:spcPts val="2400"/>
              </a:spcBef>
              <a:defRPr sz="1500" b="1">
                <a:solidFill>
                  <a:srgbClr val="BE123C"/>
                </a:solidFill>
                <a:latin typeface="Arial"/>
              </a:defRPr>
            </a:pPr>
            <a:r>
              <a:t>Kính chúc thầy sức khỏe và công tác tốt. Nhóm WNC.G01 xin trân trọng cảm ơn!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