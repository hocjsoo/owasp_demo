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685800"/>
            <a:ext cx="5303520" cy="38404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D4ED8"/>
                </a:solidFill>
              </a:defRPr>
            </a:pPr>
            <a:r>
              <a:t>TRƯỜNG ĐẠI HỌC MỞ HÀ NỘI — KHOA CÔNG NGHỆ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E123C"/>
                </a:solidFill>
              </a:defRPr>
            </a:pPr>
            <a:r>
              <a:t>BÁO CÁO THỰC NGHIỆM AN TOÀN WEB (OWASP TOP 10)</a:t>
            </a:r>
          </a:p>
          <a:p>
            <a:pPr>
              <a:spcBef>
                <a:spcPts val="800"/>
              </a:spcBef>
              <a:defRPr sz="3000" b="1">
                <a:solidFill>
                  <a:srgbClr val="0F172A"/>
                </a:solidFill>
              </a:defRPr>
            </a:pPr>
            <a:r>
              <a:t>Bộ 3 Lỗ Hổng Kinh Điển &amp; Cơ Chế Phòng Thủ</a:t>
            </a:r>
            <a:br/>
            <a:r>
              <a:t>(SQL Injection • Stored XSS • CSRF Attack)</a:t>
            </a:r>
          </a:p>
          <a:p>
            <a:pPr>
              <a:spcBef>
                <a:spcPts val="1000"/>
              </a:spcBef>
              <a:defRPr sz="1400">
                <a:solidFill>
                  <a:srgbClr val="334155"/>
                </a:solidFill>
              </a:defRPr>
            </a:pPr>
            <a:r>
              <a:t>Môn học: Lập trình Web nâng cao  •  Giảng viên hướng dẫn: ThS. Lê Hữu Dũng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97680"/>
            <a:ext cx="3328416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CHỦ ĐỀ 1: SQL INJECTION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</a:defRPr>
            </a:pPr>
            <a:r>
              <a:t>Nguyễn Danh Học</a:t>
            </a:r>
            <a:br/>
            <a:r>
              <a:t>MSV: 23A1001D0158</a:t>
            </a:r>
            <a:br/>
            <a:r>
              <a:t>Trưởng nhóm • Demo CSDL &amp;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4297680"/>
            <a:ext cx="3328416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BE123C"/>
                </a:solidFill>
              </a:defRPr>
            </a:pPr>
            <a:r>
              <a:t>CHỦ ĐỀ 2: STORED XSS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</a:defRPr>
            </a:pPr>
            <a:r>
              <a:t>Nguyễn Thanh Bình</a:t>
            </a:r>
            <a:br/>
            <a:r>
              <a:t>MSV: 23A1001D0041</a:t>
            </a:r>
            <a:br/>
            <a:r>
              <a:t>Thành viên • Demo Cookie &amp; DOM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6992" y="4297680"/>
            <a:ext cx="3328416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7857"/>
                </a:solidFill>
              </a:defRPr>
            </a:pPr>
            <a:r>
              <a:t>CHỦ ĐỀ 3: CSRF ATTACK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</a:defRPr>
            </a:pPr>
            <a:r>
              <a:t>Nguyễn Minh Cường</a:t>
            </a:r>
            <a:br/>
            <a:r>
              <a:t>MSV: 23A1001D0058</a:t>
            </a:r>
            <a:br/>
            <a:r>
              <a:t>Thành viên • Demo Form ẩn giả mạo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CHỦ ĐỀ 1 • NGUYỄN DANH HỌC (23A1001D0158)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Phần 1: SQL Injection (OWASP A03:2021) — Nguyễn Danh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(Học - Bình - Cường) • Khoa CNTT - Đại học Mở Hà Nội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384048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BE123C"/>
                </a:solidFill>
              </a:defRPr>
            </a:pPr>
            <a:r>
              <a:t>❌ BẢN CHẤT LỖ HỔNG &amp; KHAI THÁC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Nguyên nhân: Ghép chuỗi đầu vào trực tiếp vào câu lệnh SQL.</a:t>
            </a:r>
            <a:br/>
            <a:r>
              <a:t>  query = $"SELECT * FROM Accounts WHERE User='{u}' AND Pass='{p}'"</a:t>
            </a:r>
            <a:br/>
            <a:r>
              <a:t>• Payload tấn công: ' OR '1'='1' --</a:t>
            </a:r>
            <a:br/>
            <a:r>
              <a:t>• Cơ chế bẻ gãy:</a:t>
            </a:r>
            <a:br/>
            <a:r>
              <a:t>  - Dấu nháy đơn (') đóng chuỗi sớm.</a:t>
            </a:r>
            <a:br/>
            <a:r>
              <a:t>  - Mệnh đề OR '1'='1' biến điều kiện WHERE thành luôn TRUE.</a:t>
            </a:r>
            <a:br/>
            <a:r>
              <a:t>  - Ký tự '--' triệt tiêu toàn bộ bước kiểm tra mật khẩu phía sau.</a:t>
            </a:r>
            <a:br/>
            <a:r>
              <a:t>• Hậu quả: Bypass đăng nhập Admin không cần mật khẩu, rò rỉ CSDL.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166360" cy="384048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47857"/>
                </a:solidFill>
              </a:defRPr>
            </a:pPr>
            <a:r>
              <a:t>✅ CƠ CHẾ PHÒNG THỦ CHUẨN EF CORE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Giải pháp: Sử dụng Parameterized Query / LINQ trong EF Core.</a:t>
            </a:r>
            <a:br/>
            <a:r>
              <a:t>  _context.Accounts.Where(a =&gt; a.Username == u &amp;&amp; a.Password == p)</a:t>
            </a:r>
            <a:br/>
            <a:r>
              <a:t>• Cơ chế an toàn tuyệt đối:</a:t>
            </a:r>
            <a:br/>
            <a:r>
              <a:t>  - CSDL SQL Server biên dịch cấu trúc lệnh (Execution Plan) TRƯỚC.</a:t>
            </a:r>
            <a:br/>
            <a:r>
              <a:t>  - Giá trị payload được đưa vào qua tham số @p0, @p1 riêng biệt.</a:t>
            </a:r>
            <a:br/>
            <a:r>
              <a:t>  - Toàn bộ chuỗi payload bị cô lập thành String Literal thuần túy.</a:t>
            </a:r>
            <a:br/>
            <a:r>
              <a:t>• Kết quả: Trả về 0 dòng, chặn đứng tấn công 100%.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1D4ED8"/>
                </a:solidFill>
              </a:defRPr>
            </a:pPr>
            <a:r>
              <a:t>💻 [HỌC DEMO TRỰC TIẾP]: Chuyển sang Web UI Tab 1 &amp; VS Code SQL Server 2025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</a:defRPr>
            </a:pPr>
            <a:r>
              <a:t>Thao tác: Bấm nạp payload ' OR '1'='1' -- trên Web -&gt; Show bảng dữ liệu rò rỉ -&gt; Chuyển VS Code đối chiếu 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CHỦ ĐỀ 2 • NGUYỄN THANH BÌNH (23A1001D0041)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Phần 2: Stored Cross-Site Scripting (XSS) — Nguyễn Thanh Bình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(Học - Bình - Cường) • Khoa CNTT - Đại học Mở Hà Nội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384048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BE123C"/>
                </a:solidFill>
              </a:defRPr>
            </a:pPr>
            <a:r>
              <a:t>❌ BẢN CHẤT LỖ HỔNG &amp; KHAI THÁC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Ngữ cảnh: Chức năng nhận xét / đánh giá chất lượng chuyên gia.</a:t>
            </a:r>
            <a:br/>
            <a:r>
              <a:t>• Cơ chế lỗi: Máy chủ lưu nguyên văn chuỗi HTML chứa script của hacker vào CSDL, sau đó View dùng @Html.Raw() để render ra màn hình.</a:t>
            </a:r>
            <a:br/>
            <a:r>
              <a:t>• Payload tấn công:</a:t>
            </a:r>
            <a:br/>
            <a:r>
              <a:t>  &lt;script&gt;alert('Lộ Cookie: ' + document.cookie);&lt;/script&gt;</a:t>
            </a:r>
            <a:br/>
            <a:r>
              <a:t>  &lt;img src=x onerror=alert('XSS!')&gt;</a:t>
            </a:r>
            <a:br/>
            <a:r>
              <a:t>• Hậu quả: Bất kỳ ai vào xem đánh giá đều bị trình duyệt tự động kích hoạt mã script, bị đánh cắp Cookie, Session Token và thông tin cá nhân.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166360" cy="384048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47857"/>
                </a:solidFill>
              </a:defRPr>
            </a:pPr>
            <a:r>
              <a:t>✅ CƠ CHẾ PHÒNG THỦ TRONG ASP.NET CORE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Cơ chế phòng thủ 1 (Mặc định của Razor View):</a:t>
            </a:r>
            <a:br/>
            <a:r>
              <a:t>  Sử dụng @comment.Content (tự động HTML Encode).</a:t>
            </a:r>
            <a:br/>
            <a:r>
              <a:t>  Các ký tự nguy hiểm &lt;, &gt;, ", ' tự động biến thành &amp;lt;, &amp;gt;, &amp;quot;.</a:t>
            </a:r>
            <a:br/>
            <a:r>
              <a:t>• Cơ chế phòng thủ 2 (Mã hóa ở tầng Controller):</a:t>
            </a:r>
            <a:br/>
            <a:r>
              <a:t>  Sử dụng HtmlEncoder.Default.Encode(content) trước khi lưu.</a:t>
            </a:r>
            <a:br/>
            <a:r>
              <a:t>• Cơ chế phòng thủ 3 (Bảo vệ Cookie):</a:t>
            </a:r>
            <a:br/>
            <a:r>
              <a:t>  Bật cờ HttpOnly = true cho toàn bộ Cookie nhạy cảm, ngăn cấm hoàn toàn JavaScript truy cập document.cookie.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BE123C"/>
                </a:solidFill>
              </a:defRPr>
            </a:pPr>
            <a:r>
              <a:t>💬 [BÌNH DEMO TRỰC TIẾP]: Chuyển sang Web UI Tab 2 (Stored XSS)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</a:defRPr>
            </a:pPr>
            <a:r>
              <a:t>Thao tác: Bấm nạp payload đánh cắp Cookie -&gt; Đăng bình luận bên Lỗi (bật popup alert lộ Session) -&gt; Đăng bên An toàn (chữ hiển thị an toàn).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CHỦ ĐỀ 3 • NGUYỄN MINH CƯỜNG (23A1001D0058)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Phần 3: Cross-Site Request Forgery (CSRF) — Nguyễn Minh Cường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(Học - Bình - Cường) • Khoa CNTT - Đại học Mở Hà Nội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384048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BE123C"/>
                </a:solidFill>
              </a:defRPr>
            </a:pPr>
            <a:r>
              <a:t>❌ BẢN CHẤT LỖ HỔNG &amp; KHAI THÁC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Ngữ cảnh: Chức năng chuyển tiền ví hoặc đổi mật khẩu tài khoản.</a:t>
            </a:r>
            <a:br/>
            <a:r>
              <a:t>• Bản chất: Lừa nạn nhân (đang đăng nhập) gửi một HTTP POST ngầm mà nạn nhân không hề hay biết.</a:t>
            </a:r>
            <a:br/>
            <a:r>
              <a:t>• Kịch bản tấn công:</a:t>
            </a:r>
            <a:br/>
            <a:r>
              <a:t>  1. Nạn nhân đăng nhập vào web tư vấn trực tuyến (phiên hợp lệ).</a:t>
            </a:r>
            <a:br/>
            <a:r>
              <a:t>  2. Nạn nhân mở một trang web bẫy trúng thưởng do hacker dựng.</a:t>
            </a:r>
            <a:br/>
            <a:r>
              <a:t>  3. Trang web bẫy tự động kích hoạt form POST chuyển 20.000.000đ từ ví nạn nhân sang ví hacker.</a:t>
            </a:r>
            <a:br/>
            <a:r>
              <a:t>• Hậu quả: Mất tiền, mất tài khoản trong khi máy chủ vẫn tưởng là do nạn nhân tự gửi.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166360" cy="384048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47857"/>
                </a:solidFill>
              </a:defRPr>
            </a:pPr>
            <a:r>
              <a:t>✅ CƠ CHẾ PHÒNG THỦ ANTI-FORGERY TOKEN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Giải pháp bắt buộc trong ASP.NET Core:</a:t>
            </a:r>
            <a:br/>
            <a:r>
              <a:t>  1. Trong View: Nhúng @Html.AntiForgeryToken() sinh token bí mật.</a:t>
            </a:r>
            <a:br/>
            <a:r>
              <a:t>  2. Trong Controller: Đặt thuộc tính [ValidateAntiForgeryToken].</a:t>
            </a:r>
            <a:br/>
            <a:r>
              <a:t>• Cơ chế hoạt động của Token:</a:t>
            </a:r>
            <a:br/>
            <a:r>
              <a:t>  - Server phát hành một cặp token: 1 lưu trong Cookie, 1 nhúng vào Form ẩn.</a:t>
            </a:r>
            <a:br/>
            <a:r>
              <a:t>  - Trang web của hacker ở tên miền khác KHÔNG THỂ đọc trộm token trong form này (do chính sách Same-Origin Policy).</a:t>
            </a:r>
            <a:br/>
            <a:r>
              <a:t>  - Request giả mạo thiếu token bị máy chủ từ chối ngay (Lỗi 400 Bad Request).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47857"/>
                </a:solidFill>
              </a:defRPr>
            </a:pPr>
            <a:r>
              <a:t>💳 [CƯỜNG DEMO TRỰC TIẾP]: Chuyển sang Web UI Tab 3 (CSRF)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</a:defRPr>
            </a:pPr>
            <a:r>
              <a:t>Thao tác: Mở trang web trúng thưởng của hacker -&gt; Kích hoạt form ẩn -&gt; Số dư ví nạn nhân bị trừ 20 triệu -&gt; Thử lại với form có Token (chặn đứng).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BÁO CÁO THỰC NGHIỆM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Tổng Kết: Áp Dụng Chuẩn An Toàn Vào Đồ Án Website Tư Vấn Trực Tuyến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(Học - Bình - Cường) • Khoa CNTT - Đại học Mở Hà Nội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728655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D4ED8"/>
                </a:solidFill>
              </a:defRPr>
            </a:pPr>
            <a:r>
              <a:t>BẢNG TỔNG HỢP GIẢI PHÁP PHÒNG THỦ TRONG ĐỒ ÁN BTL (WNC.G01):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1. Phòng thủ SQL Injection (Nguyễn Danh Học):</a:t>
            </a:r>
            <a:br/>
            <a:r>
              <a:t>   Áp dụng 100% Entity Framework Core Code-First với Parameterized LINQ cho toàn bộ các thao tác đặt lịch, quản lý chuyên gia và đánh giá chất lượng.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2. Phòng thủ Stored XSS (Nguyễn Thanh Bình):</a:t>
            </a:r>
            <a:br/>
            <a:r>
              <a:t>   Toàn bộ phản hồi tư vấn và đánh giá của khách hàng được Razor View tự động HTML Encode, kết hợp cấu hình Cookie an toàn (HttpOnly = true, SameSite = Strict).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3. Phòng thủ CSRF (Nguyễn Minh Cường):</a:t>
            </a:r>
            <a:br/>
            <a:r>
              <a:t>   Bắt buộc nhúng AntiForgeryToken và kiểm tra [ValidateAntiForgeryToken] trên 100% các form POST giao dịch (đặt lịch tư vấn, nạp tiền ví, đổi mật khẩu).</a:t>
            </a:r>
          </a:p>
          <a:p>
            <a:pPr>
              <a:spcBef>
                <a:spcPts val="1800"/>
              </a:spcBef>
              <a:defRPr sz="1500" b="1">
                <a:solidFill>
                  <a:srgbClr val="BE123C"/>
                </a:solidFill>
              </a:defRPr>
            </a:pPr>
            <a:r>
              <a:t>XIN TRÂN TRỌNG CẢM ƠN THẦY VÀ CÁC BẠN ĐÃ THEO DÕI!</a:t>
            </a:r>
            <a:br/>
            <a:r>
              <a:t>Nhóm WNC.G01 sẵn sàng nhận câu hỏi phản biện từ giảng viên.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