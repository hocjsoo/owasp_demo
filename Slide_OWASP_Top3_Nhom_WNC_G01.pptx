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80644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63093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191FF"/>
                </a:solidFill>
                <a:latin typeface="Aptos"/>
              </a:rPr>
              <a:t>OWASP TOP 10  •  THỰC NGHIỆM AN TOÀN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6583680" cy="10972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121F34"/>
                </a:solidFill>
                <a:latin typeface="Aptos"/>
              </a:rPr>
              <a:t>Nghiên cứu lỗ hổng Web
&amp; cơ chế phòng thủ đa tầng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630936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D6C82"/>
                </a:solidFill>
                <a:latin typeface="Aptos"/>
              </a:rPr>
              <a:t>SQL Injection  •  Stored XSS  •  CSRF Attack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4612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401568"/>
            <a:ext cx="493776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Mô hình: 3 bề mặt nguy cơ → 3 cơ chế phòng thủ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51960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370832"/>
            <a:ext cx="1453896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A1223"/>
                </a:solidFill>
                <a:latin typeface="Aptos"/>
              </a:rPr>
              <a:t>SQL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4251960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24912" y="4370832"/>
            <a:ext cx="1453896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A1223"/>
                </a:solidFill>
                <a:latin typeface="Aptos"/>
              </a:rPr>
              <a:t>STORED XSS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4251960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4370832"/>
            <a:ext cx="1453896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A1223"/>
                </a:solidFill>
                <a:latin typeface="Aptos"/>
              </a:rPr>
              <a:t>CSRF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66360"/>
            <a:ext cx="667512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C82"/>
                </a:solidFill>
                <a:latin typeface="Aptos"/>
              </a:rPr>
              <a:t>GVHD: ThS. Lê Hữu Dũng  •  Khoa CNTT — Trường Đại học Mở Hà Nội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960120"/>
            <a:ext cx="32918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47CDDC"/>
                </a:solidFill>
                <a:latin typeface="Aptos"/>
              </a:rPr>
              <a:t>NHÓM WNC.G01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508760"/>
            <a:ext cx="3337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55063"/>
            <a:ext cx="283464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1F34"/>
                </a:solidFill>
                <a:latin typeface="Aptos"/>
              </a:rPr>
              <a:t>Nguyễn Danh Học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947672"/>
            <a:ext cx="28346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F5B5B"/>
                </a:solidFill>
                <a:latin typeface="Aptos"/>
              </a:rPr>
              <a:t>23A1001D0158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167128"/>
            <a:ext cx="283464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C82"/>
                </a:solidFill>
                <a:latin typeface="Aptos"/>
              </a:rPr>
              <a:t>SQL Injection • CSDL &amp;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2743200"/>
            <a:ext cx="3337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889504"/>
            <a:ext cx="283464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1F34"/>
                </a:solidFill>
                <a:latin typeface="Aptos"/>
              </a:rPr>
              <a:t>Nguyễn Thanh Bình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182112"/>
            <a:ext cx="28346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1BE48"/>
                </a:solidFill>
                <a:latin typeface="Aptos"/>
              </a:rPr>
              <a:t>23A1001D0041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401568"/>
            <a:ext cx="283464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C82"/>
                </a:solidFill>
                <a:latin typeface="Aptos"/>
              </a:rPr>
              <a:t>Stored XSS • Cookie &amp; DOM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977639"/>
            <a:ext cx="3337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123944"/>
            <a:ext cx="283464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1F34"/>
                </a:solidFill>
                <a:latin typeface="Aptos"/>
              </a:rPr>
              <a:t>Nguyễn Minh Cường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416552"/>
            <a:ext cx="28346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9C480"/>
                </a:solidFill>
                <a:latin typeface="Aptos"/>
              </a:rPr>
              <a:t>23A1001D0058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636007"/>
            <a:ext cx="283464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C82"/>
                </a:solidFill>
                <a:latin typeface="Aptos"/>
              </a:rPr>
              <a:t>CSRF • Giao dịch &amp; 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01 • BỐI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Môi trường công nghệ &amp; phạm vi thực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492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" cy="452628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490472"/>
            <a:ext cx="4983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191FF"/>
                </a:solidFill>
                <a:latin typeface="Aptos"/>
              </a:rPr>
              <a:t>▣  TECH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01952"/>
            <a:ext cx="4983479" cy="3813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Operating System
Ubuntu 24.04 LTS / Linux Kernel 6.8
Backend
ASP.NET Core MVC / .NET 10.0
Database
Microsoft SQL Server 2025 Developer • Port 1433
Frontend &amp; Tools
Razor • HTML5 • CSS3 • JavaScript
VS Code • Chrome DevTools • cURL CLI • MSSQL Extension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492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4864" cy="452628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490472"/>
            <a:ext cx="498347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✓  LAB SCOPE • NGUYÊN TẮC ĐẠO ĐỨC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901952"/>
            <a:ext cx="4983479" cy="3813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Môi trường cô lập
Localhost: http://localhost:5076
Đối chứng song song
Vulnerable  ↔  Secure
Dữ liệu mô phỏng an toàn
Tài khoản, số dư và mật khẩu đều là dữ liệu giả định phục vụ học tập.
Không quét / tấn công hệ thống bên ngoài.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02 • SQL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1.1  Lỗi xảy ra ở đâu &amp; nguyên nhân cốt lõi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53949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WHERE DOES IT BREAK?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83464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764792"/>
            <a:ext cx="268833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Browser / Client
Input: ' OR '1'='1' --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93008" y="2002536"/>
            <a:ext cx="502920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023360" y="1691640"/>
            <a:ext cx="283464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6512" y="1764792"/>
            <a:ext cx="268833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ASP.NET Core Controller
Ghép chuỗi SQL trực tiếp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76288" y="2002536"/>
            <a:ext cx="502920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0" y="1691640"/>
            <a:ext cx="283464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1764792"/>
            <a:ext cx="268833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SQL Server 2025
Thực thi cú pháp bị bẻ gãy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69748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697480"/>
            <a:ext cx="54864" cy="1417320"/>
          </a:xfrm>
          <a:prstGeom prst="rect">
            <a:avLst/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2862072"/>
            <a:ext cx="4846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5B5B"/>
                </a:solidFill>
                <a:latin typeface="Aptos"/>
              </a:rPr>
              <a:t>!  ROOT CAUSE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273552"/>
            <a:ext cx="484632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Dữ liệu người dùng được ghép trực tiếp vào câu lệnh SQL → CSDL không còn phân định được Data và Code.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697480"/>
            <a:ext cx="5669280" cy="29718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825496"/>
            <a:ext cx="534924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F5B5B"/>
                </a:solidFill>
                <a:latin typeface="Aptos"/>
              </a:rPr>
              <a:t>VULNERABLE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3136392"/>
            <a:ext cx="5349240" cy="2441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string rawSql = $"SELECT * FROM Accounts " +
                 $"WHERE Username = '{username}' " +
                 $"AND Password = '{password}'";
var accounts = _context.Accounts
    .FromSqlRaw(rawSql)
    .ToList();
// ' đóng chuỗi sớm; -- vô hiệu hóa phần còn lại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Danh Học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02 • SQL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1.2  Ba kịch bản khai thác thực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" cy="1234440"/>
          </a:xfrm>
          <a:prstGeom prst="rect">
            <a:avLst/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49047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5B5B"/>
                </a:solidFill>
                <a:latin typeface="Aptos"/>
              </a:rPr>
              <a:t>01  •  BYPASS ĐĂNG NHẬP TỔNG QUÁT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01952"/>
            <a:ext cx="10607040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Payload:  ' OR '1'='1' --
Cơ chế: đóng chuỗi → OR luôn đúng → -- vô hiệu hóa kiểm tra mật khẩu.  Kết quả: vượt xác thực và vào tài khoản đầu tiên (Admin).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432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743200"/>
            <a:ext cx="54864" cy="1234440"/>
          </a:xfrm>
          <a:prstGeom prst="rect">
            <a:avLst/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90779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1BE48"/>
                </a:solidFill>
                <a:latin typeface="Aptos"/>
              </a:rPr>
              <a:t>02  •  TẤN CÔNG ĐÍCH DANH QUẢN TRỊ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319272"/>
            <a:ext cx="10607040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Payload:  admin' --
Cơ chế: cố định Username = admin; -- cắt phần AND Password.  Kết quả: truy cập tài khoản Admin mà không cần mật khẩu.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16052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160520"/>
            <a:ext cx="54864" cy="123444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32511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03  •  ĐĂNG NHẬP HỢP LỆ — ĐỐI CHỨNG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736592"/>
            <a:ext cx="10607040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Payload:  admin / AdminPassword@2026
Dữ liệu bình thường, không điều khiển cú pháp.  Kết quả: đăng nhập thành công trên cả Vulnerable và Secure.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Danh Học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02 • SQL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1.3  Minh chứng thực nghiệm — Web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s5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623560"/>
            <a:ext cx="2971800" cy="438912"/>
          </a:xfrm>
          <a:prstGeom prst="roundRect">
            <a:avLst>
              <a:gd name="adj" fmla="val 8000"/>
            </a:avLst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705856"/>
            <a:ext cx="2743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VULNERABLE • 4 accounts leaked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5623560"/>
            <a:ext cx="2834640" cy="438912"/>
          </a:xfrm>
          <a:prstGeom prst="roundRect">
            <a:avLst>
              <a:gd name="adj" fmla="val 8000"/>
            </a:avLst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58784" y="5705856"/>
            <a:ext cx="2633472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SECURE • 0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Danh Học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02 • SQL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1.4  Minh chứng gói tin mạng — Chrome DevTools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06</a:t>
            </a:r>
          </a:p>
        </p:txBody>
      </p:sp>
      <p:pic>
        <p:nvPicPr>
          <p:cNvPr id="6" name="Picture 5" descr="s6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5623560"/>
            <a:ext cx="5669280" cy="411480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5349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21F34"/>
                </a:solidFill>
                <a:latin typeface="Aptos"/>
              </a:rPr>
              <a:t>PAYLOAD:  ' OR '1'='1' --    →    RESPONSE: JSON chứa 4 tài khoản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Danh Học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02 • SQL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1.5  Cơ chế phòng thủ chuẩn hóa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306324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453895"/>
            <a:ext cx="5166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9C480"/>
                </a:solidFill>
                <a:latin typeface="Aptos"/>
              </a:rPr>
              <a:t>SECURE CODE • EF CORE LINQ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64792"/>
            <a:ext cx="5166360" cy="25328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var account = _context.Accounts
    .FirstOrDefault(a =&gt;
        a.Username == user &amp;&amp;
        a.Password == pass);
// Data ≠ SQL Syntax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4864" cy="141732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490472"/>
            <a:ext cx="4892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✓  01 • PARAMETERIZED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901952"/>
            <a:ext cx="489204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SQL Server biên dịch cấu trúc truy vấn trước; payload được nhận như literal, không trở thành cú pháp.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880360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880360"/>
            <a:ext cx="54864" cy="141732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3044952"/>
            <a:ext cx="4892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191FF"/>
                </a:solidFill>
                <a:latin typeface="Aptos"/>
              </a:rPr>
              <a:t>✓  02 • PASSWORD HASHING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3456432"/>
            <a:ext cx="489204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Bảo vệ mật khẩu là lớp Defense-in-Depth riêng: ASP.NET Core Identity PBKDF2 + Salt.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434840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434840"/>
            <a:ext cx="54864" cy="1417320"/>
          </a:xfrm>
          <a:prstGeom prst="rect">
            <a:avLst/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4599431"/>
            <a:ext cx="4892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1BE48"/>
                </a:solidFill>
                <a:latin typeface="Aptos"/>
              </a:rPr>
              <a:t>✓  03 • LEAST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5010912"/>
            <a:ext cx="489204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Ứng dụng chỉ được cấp quyền cần thiết; không cấp sa / DDL cho tài khoản ứng dụng.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Danh Học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03 • STORED XSS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2.1  Lỗi phát tán &amp; nguyên nhân gốc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46888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490472"/>
            <a:ext cx="232257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Attacker
Nhập JavaScript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90672" y="1728216"/>
            <a:ext cx="411480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66160" y="1417320"/>
            <a:ext cx="246888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490472"/>
            <a:ext cx="232257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Web Server
Lưu nguyên văn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62472" y="1728216"/>
            <a:ext cx="411480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37960" y="1417320"/>
            <a:ext cx="246888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1490472"/>
            <a:ext cx="232257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Database
dbo.Comments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34272" y="1728216"/>
            <a:ext cx="411480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417320"/>
            <a:ext cx="246888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82912" y="1490472"/>
            <a:ext cx="232257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Victim Browser
Thực thi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468880"/>
            <a:ext cx="51663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2468880"/>
            <a:ext cx="54864" cy="1417320"/>
          </a:xfrm>
          <a:prstGeom prst="rect">
            <a:avLst/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633472"/>
            <a:ext cx="48006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5B5B"/>
                </a:solidFill>
                <a:latin typeface="Aptos"/>
              </a:rPr>
              <a:t>!  ROOT CAUSE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044952"/>
            <a:ext cx="480060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Dữ liệu không tin cậy được render trực tiếp mà không qua Output Encoding.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46888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3912" y="2596896"/>
            <a:ext cx="5166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F5B5B"/>
                </a:solidFill>
                <a:latin typeface="Aptos"/>
              </a:rPr>
              <a:t>VULNERABLE • @HTML.RAW()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907792"/>
            <a:ext cx="5166360" cy="1801367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var comment = new Comment {
    Author = author,
    Content = content
};
&lt;div class="comment-body"&gt;
    @Html.Raw(comment.Content)
&lt;/div&gt;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937760"/>
            <a:ext cx="1078992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BE48"/>
                </a:solidFill>
                <a:latin typeface="Aptos"/>
              </a:rPr>
              <a:t>Điểm mù: @Html.Raw() vô hiệu hóa HTML encoding mặc định của Razor → script có thể chạy trên trình duyệt nạn nhân.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Thanh Bình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03 • STORED XSS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2.2  Ba kịch bản tiêm mã độc thực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" cy="1234440"/>
          </a:xfrm>
          <a:prstGeom prst="rect">
            <a:avLst/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49047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5B5B"/>
                </a:solidFill>
                <a:latin typeface="Aptos"/>
              </a:rPr>
              <a:t>01  •  ĐÁNH CẮP COOKIE /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01952"/>
            <a:ext cx="10607040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Payload:  &lt;script&gt;alert(document.cookie);&lt;/script&gt;
Cơ chế: script đọc document.cookie.  Hậu quả mô phỏng: Cookie Stealing / Session Token.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432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743200"/>
            <a:ext cx="54864" cy="1234440"/>
          </a:xfrm>
          <a:prstGeom prst="rect">
            <a:avLst/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90779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1BE48"/>
                </a:solidFill>
                <a:latin typeface="Aptos"/>
              </a:rPr>
              <a:t>02  •  BYPASS BỘ LỌC QUA EVENT HANDLER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319272"/>
            <a:ext cx="10607040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Payload:  &lt;img src=x onerror=alert('XSS!')&gt;
Cơ chế: onerror chạy khi ảnh lỗi; minh họa việc vượt bộ lọc chỉ chặn chuỗi &lt;script&gt;.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16052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160520"/>
            <a:ext cx="54864" cy="123444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32511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03  •  ĐÁNH GIÁ HỢP LỆ — ĐỐI CHỨNG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736592"/>
            <a:ext cx="10607040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Payload:  Dịch vụ tư vấn rất chuyên nghiệp, 5 sao!
Văn bản thuần túy → hiển thị an toàn trên cả Vulnerable và Secure.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Thanh Bình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03 • STORED XSS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2.3  Minh chứng thực nghiệm — Web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10</a:t>
            </a:r>
          </a:p>
        </p:txBody>
      </p:sp>
      <p:pic>
        <p:nvPicPr>
          <p:cNvPr id="6" name="Picture 5" descr="s10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623560"/>
            <a:ext cx="3200400" cy="438912"/>
          </a:xfrm>
          <a:prstGeom prst="roundRect">
            <a:avLst>
              <a:gd name="adj" fmla="val 8000"/>
            </a:avLst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705856"/>
            <a:ext cx="29718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VULNERABLE • popup Alert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5623560"/>
            <a:ext cx="3108960" cy="438912"/>
          </a:xfrm>
          <a:prstGeom prst="roundRect">
            <a:avLst>
              <a:gd name="adj" fmla="val 8000"/>
            </a:avLst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5705856"/>
            <a:ext cx="28803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SECURE • HTML được encode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Thanh Bình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03 • STORED XSS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2.4  Minh chứng Chrome DevTools — Cookie &amp; Console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11</a:t>
            </a:r>
          </a:p>
        </p:txBody>
      </p:sp>
      <p:pic>
        <p:nvPicPr>
          <p:cNvPr id="6" name="Picture 5" descr="s11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5623560"/>
            <a:ext cx="6309360" cy="3931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5705856"/>
            <a:ext cx="608076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LAB ONLY: nhánh Vulnerable cấu hình HttpOnly = false để minh họa JS đọc Cookie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Thanh Bình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03 • STORED XSS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2.5  Cơ chế phòng thủ chuẩn trong ASP.NET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453895"/>
            <a:ext cx="49377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9C480"/>
                </a:solidFill>
                <a:latin typeface="Aptos"/>
              </a:rPr>
              <a:t>SECURE • OUTPUT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64792"/>
            <a:ext cx="4937760" cy="23042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// Razor mặc định
&lt;p&gt;@comment.Content&lt;/p&gt;
// Hoặc encode tại Controller
string encoded =
    HtmlEncoder.Default.Encode(content);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3258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1325880"/>
            <a:ext cx="54864" cy="141732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1490472"/>
            <a:ext cx="5074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✓  COOKIE AN TOÀN —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1901952"/>
            <a:ext cx="507492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HttpOnly = true
Secure = true
SameSite = Strict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9260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926080"/>
            <a:ext cx="54864" cy="141732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3090672"/>
            <a:ext cx="5074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191FF"/>
                </a:solidFill>
                <a:latin typeface="Aptos"/>
              </a:rPr>
              <a:t>✓  CSP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3502152"/>
            <a:ext cx="507492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Content-Security-Policy với script-src 'self' tạo thêm lớp kiểm soát script.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5262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4526280"/>
            <a:ext cx="54864" cy="1417320"/>
          </a:xfrm>
          <a:prstGeom prst="rect">
            <a:avLst/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4690872"/>
            <a:ext cx="5074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1BE48"/>
                </a:solidFill>
                <a:latin typeface="Aptos"/>
              </a:rPr>
              <a:t>✓  NGUYÊN TẮC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5102352"/>
            <a:ext cx="507492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Ký tự &lt; và &gt; được encode → trình duyệt hiển thị văn bản, không thực thi script.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Thanh Bình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04 • CSRF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3.1  Cơ chế mượn quyền &amp; phân loại OWASP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42316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490472"/>
            <a:ext cx="227685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Victim logged in
Cookie hợp lệ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35808" y="1728216"/>
            <a:ext cx="384048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93008" y="1417320"/>
            <a:ext cx="242316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490472"/>
            <a:ext cx="227685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Attacker Site
POST ngầm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4456" y="1728216"/>
            <a:ext cx="384048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91656" y="1417320"/>
            <a:ext cx="242316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490472"/>
            <a:ext cx="227685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Target Server
Nhận Cookie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33104" y="1728216"/>
            <a:ext cx="384048" cy="0"/>
          </a:xfrm>
          <a:prstGeom prst="line">
            <a:avLst/>
          </a:prstGeom>
          <a:ln w="27940">
            <a:solidFill>
              <a:srgbClr val="41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90304" y="1417320"/>
            <a:ext cx="2423160" cy="621792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3456" y="1490472"/>
            <a:ext cx="2276856" cy="45720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Unauthorized
Transfer 20M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46888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2468880"/>
            <a:ext cx="54864" cy="141732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633472"/>
            <a:ext cx="4846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191FF"/>
                </a:solidFill>
                <a:latin typeface="Aptos"/>
              </a:rPr>
              <a:t>i  PHÂN LOẠI OWASP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044952"/>
            <a:ext cx="4846320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CSRF không phải mục độc lập trong OWASP Top 10 2021; tài liệu hiện tại liên hệ nó với A01:2021 – Broken Access Control và cơ chế bảo toàn yêu cầu phiên.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468880"/>
            <a:ext cx="5486400" cy="256032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3912" y="2596896"/>
            <a:ext cx="5166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F5B5B"/>
                </a:solidFill>
                <a:latin typeface="Aptos"/>
              </a:rPr>
              <a:t>VULNERABLE • ACTION THIẾU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907792"/>
            <a:ext cx="5166360" cy="2029967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[HttpPost]
public IActionResult TransferVulnerable(decimal amount)
{
    var victim = _context.Wallets.Find(1);
    var hacker = _context.Wallets.Find(2);
    victim.Balance -= amount;
    hacker.Balance += amount;
    _context.SaveChanges();
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120640"/>
            <a:ext cx="10789920" cy="7315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BE48"/>
                </a:solidFill>
                <a:latin typeface="Aptos"/>
              </a:rPr>
              <a:t>Điểm mù: thiếu [ValidateAntiForgeryToken] → server chỉ thấy Cookie hợp lệ và thực hiện giao dịch.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Minh Cường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04 • CSRF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3.2  Kịch bản khai thác qua biểu mẫu 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21208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4864" cy="4480560"/>
          </a:xfrm>
          <a:prstGeom prst="rect">
            <a:avLst/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399032"/>
            <a:ext cx="4846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5B5B"/>
                </a:solidFill>
                <a:latin typeface="Aptos"/>
              </a:rPr>
              <a:t>!  KỊCH BẢN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810512"/>
            <a:ext cx="4846320" cy="37673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1. Nạn nhân đang có phiên làm việc.
2. Nạn nhân mở AttackerSite.cshtml ở tab khác.
3. Trang độc hại tự động gửi POST tới endpoint chuyển tiền.
4. Server nhận Cookie và thực thi giao dịch.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23444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362456"/>
            <a:ext cx="5166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F5B5B"/>
                </a:solidFill>
                <a:latin typeface="Aptos"/>
              </a:rPr>
              <a:t>HIDDEN FORM • 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673352"/>
            <a:ext cx="5166360" cy="39502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&lt;form id="exploit"
 action="http://localhost:5076/Csrf/TransferVulnerable"
 method="POST"&gt;
  &lt;input type="hidden"
         name="amount"
         value="20000000" /&gt;
&lt;/form&gt;
&lt;script&gt;
  document.getElementById('exploit')
          .submit();
&lt;/script&gt;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9592"/>
            <a:ext cx="108356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21F34"/>
                </a:solidFill>
                <a:latin typeface="Aptos"/>
              </a:rPr>
              <a:t>Hậu quả thực nghiệm: thay đổi số dư ví mà không cần thao tác chủ động của người dùng.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Minh Cường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04 • CSRF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3.3  Minh chứng thực nghiệm — Web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15</a:t>
            </a:r>
          </a:p>
        </p:txBody>
      </p:sp>
      <p:pic>
        <p:nvPicPr>
          <p:cNvPr id="6" name="Picture 5" descr="s15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623560"/>
            <a:ext cx="3246120" cy="438912"/>
          </a:xfrm>
          <a:prstGeom prst="roundRect">
            <a:avLst>
              <a:gd name="adj" fmla="val 8000"/>
            </a:avLst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705856"/>
            <a:ext cx="301752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VULNERABLE • 20.000.000 VNĐ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623560"/>
            <a:ext cx="3246120" cy="438912"/>
          </a:xfrm>
          <a:prstGeom prst="roundRect">
            <a:avLst>
              <a:gd name="adj" fmla="val 8000"/>
            </a:avLst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5705856"/>
            <a:ext cx="301752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21F34"/>
                </a:solidFill>
                <a:latin typeface="Aptos"/>
              </a:rPr>
              <a:t>SECURE • thiếu Token → bị chặn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Minh Cường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04 • CSRF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3.4  Minh chứng gói tin mạng — Headers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16</a:t>
            </a:r>
          </a:p>
        </p:txBody>
      </p:sp>
      <p:pic>
        <p:nvPicPr>
          <p:cNvPr id="6" name="Picture 5" descr="s16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5623560"/>
            <a:ext cx="7315200" cy="411480"/>
          </a:xfrm>
          <a:prstGeom prst="roundRect">
            <a:avLst>
              <a:gd name="adj" fmla="val 8000"/>
            </a:avLst>
          </a:prstGeom>
          <a:solidFill>
            <a:srgbClr val="EFF5FC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5705856"/>
            <a:ext cx="699516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21F34"/>
                </a:solidFill>
                <a:latin typeface="Aptos"/>
              </a:rPr>
              <a:t>HTTP POST: Cookie được đính kèm tự động  •  Anti-Forgery Token: ABSENT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Minh Cường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04 • CSRF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3.5  Cơ chế phòng thủ bằng Anti-Forgery Token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80160"/>
            <a:ext cx="5257800" cy="3200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408176"/>
            <a:ext cx="49377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9C480"/>
                </a:solidFill>
                <a:latin typeface="Aptos"/>
              </a:rPr>
              <a:t>1 • RAZOR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19072"/>
            <a:ext cx="4937760" cy="2670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&lt;form asp-action="TransferSecure"
      method="post"&gt;
    @Html.AntiForgeryToken()
    &lt;input type="number" name="amount" /&gt;
    &lt;button type="submit"&gt;Chuyển tiền&lt;/button&gt;
&lt;/form&gt;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5257800" cy="3200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5352" y="1408176"/>
            <a:ext cx="49377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9C480"/>
                </a:solidFill>
                <a:latin typeface="Aptos"/>
              </a:rPr>
              <a:t>2 •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719072"/>
            <a:ext cx="4937760" cy="2670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21F34"/>
                </a:solidFill>
                <a:latin typeface="Cascadia Mono"/>
              </a:rPr>
              <a:t>[HttpPost]
[ValidateAntiForgeryToken]
public IActionResult TransferSecure(
    decimal amount)
{
    // Chỉ thực thi khi Token hợp lệ
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754880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754880"/>
            <a:ext cx="54864" cy="105156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4919472"/>
            <a:ext cx="4892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✓  CƠ CHẾ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5330952"/>
            <a:ext cx="4892040" cy="33832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Token từ form phải khớp token phía server; request thiếu token bị chặn.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754880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754880"/>
            <a:ext cx="54864" cy="105156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4919472"/>
            <a:ext cx="4892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191FF"/>
                </a:solidFill>
                <a:latin typeface="Aptos"/>
              </a:rPr>
              <a:t>✓  AJAX / FETCH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5330952"/>
            <a:ext cx="4892040" cy="33832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Token có thể được gửi qua RequestVerificationToken header cho các request AJAX.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6547104"/>
            <a:ext cx="25146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Nguyễn Minh Cường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05 • TỔNG HỢP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Bài học rút ra: 3 lỗ hổng &amp; cơ chế phòng thủ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342900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71600"/>
            <a:ext cx="3429000" cy="82296"/>
          </a:xfrm>
          <a:prstGeom prst="rect">
            <a:avLst/>
          </a:prstGeom>
          <a:solidFill>
            <a:srgbClr val="EF5B5B"/>
          </a:solidFill>
          <a:ln>
            <a:solidFill>
              <a:srgbClr val="E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664208"/>
            <a:ext cx="301752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F5B5B"/>
                </a:solidFill>
                <a:latin typeface="Aptos"/>
              </a:rPr>
              <a:t>SQL INJECTION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331720"/>
            <a:ext cx="2971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D6C82"/>
                </a:solidFill>
                <a:latin typeface="Aptos"/>
              </a:rPr>
              <a:t>NGUYÊN NHÂN CỐT LÕI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697480"/>
            <a:ext cx="2971800" cy="9601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Ghép chuỗi SQL trực tiếp.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3840480"/>
            <a:ext cx="297180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4114800"/>
            <a:ext cx="2971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D6C82"/>
                </a:solidFill>
                <a:latin typeface="Aptos"/>
              </a:rPr>
              <a:t>PHÒNG THỦ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480560"/>
            <a:ext cx="2971800" cy="7772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Parameterized Query
EF Core LINQ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440680"/>
            <a:ext cx="29718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6C82"/>
                </a:solidFill>
                <a:latin typeface="Aptos"/>
              </a:rPr>
              <a:t>Nguyễn Danh Học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371600"/>
            <a:ext cx="342900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371600"/>
            <a:ext cx="3429000" cy="82296"/>
          </a:xfrm>
          <a:prstGeom prst="rect">
            <a:avLst/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664208"/>
            <a:ext cx="301752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BE48"/>
                </a:solidFill>
                <a:latin typeface="Aptos"/>
              </a:rPr>
              <a:t>STORED XSS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31720"/>
            <a:ext cx="2971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D6C82"/>
                </a:solidFill>
                <a:latin typeface="Aptos"/>
              </a:rPr>
              <a:t>NGUYÊN NHÂN CỐT LÕI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697480"/>
            <a:ext cx="2971800" cy="9601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Lưu script thô + @Html.Raw().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44568" y="3840480"/>
            <a:ext cx="297180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4114800"/>
            <a:ext cx="2971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D6C82"/>
                </a:solidFill>
                <a:latin typeface="Aptos"/>
              </a:rPr>
              <a:t>PHÒNG THỦ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4480560"/>
            <a:ext cx="2971800" cy="7772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HTML Encoding
+ HttpOnly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5440680"/>
            <a:ext cx="29718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6C82"/>
                </a:solidFill>
                <a:latin typeface="Aptos"/>
              </a:rPr>
              <a:t>Nguyễn Thanh Bình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371600"/>
            <a:ext cx="342900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371600"/>
            <a:ext cx="3429000" cy="82296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664208"/>
            <a:ext cx="301752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9C480"/>
                </a:solidFill>
                <a:latin typeface="Aptos"/>
              </a:rPr>
              <a:t>CSRF ATTACK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2331720"/>
            <a:ext cx="2971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D6C82"/>
                </a:solidFill>
                <a:latin typeface="Aptos"/>
              </a:rPr>
              <a:t>NGUYÊN NHÂN CỐT LÕI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2697480"/>
            <a:ext cx="2971800" cy="9601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Chỉ kiểm tra Cookie; thiếu xác thực request.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93608" y="3840480"/>
            <a:ext cx="297180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4114800"/>
            <a:ext cx="2971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D6C82"/>
                </a:solidFill>
                <a:latin typeface="Aptos"/>
              </a:rPr>
              <a:t>PHÒNG THỦ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4480560"/>
            <a:ext cx="2971800" cy="7772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F34"/>
                </a:solidFill>
                <a:latin typeface="Aptos"/>
              </a:rPr>
              <a:t>Synchronizer Token
@Html.AntiForgeryToken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3608" y="5440680"/>
            <a:ext cx="29718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6C82"/>
                </a:solidFill>
                <a:latin typeface="Aptos"/>
              </a:rPr>
              <a:t>Nguyễn Minh Cường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191FF"/>
                </a:solidFill>
                <a:latin typeface="Aptos"/>
              </a:rPr>
              <a:t>06 • 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1F34"/>
                </a:solidFill>
                <a:latin typeface="Aptos"/>
              </a:rPr>
              <a:t>Từ khai thác thực nghiệm đến phòng thủ đa tầng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55680" cy="13716"/>
          </a:xfrm>
          <a:prstGeom prst="rect">
            <a:avLst/>
          </a:prstGeom>
          <a:solidFill>
            <a:srgbClr val="D6E0ED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201168"/>
            <a:ext cx="6858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D6C82"/>
                </a:solidFill>
                <a:latin typeface="Aptos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" cy="1143000"/>
          </a:xfrm>
          <a:prstGeom prst="rect">
            <a:avLst/>
          </a:prstGeom>
          <a:solidFill>
            <a:srgbClr val="4191FF"/>
          </a:solidFill>
          <a:ln>
            <a:solidFill>
              <a:srgbClr val="41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49047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191FF"/>
                </a:solidFill>
                <a:latin typeface="Aptos"/>
              </a:rPr>
              <a:t>→  01  •  TÁI LẬP LỖ HỔNG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01952"/>
            <a:ext cx="10607040" cy="429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Nhóm biểu diễn thành công kịch bản trên 3 bề mặt: Web UI, gói tin mạng (Chrome DevTools) và CSDL SQL Server 2025.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974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697480"/>
            <a:ext cx="54864" cy="1143000"/>
          </a:xfrm>
          <a:prstGeom prst="rect">
            <a:avLst/>
          </a:prstGeom>
          <a:solidFill>
            <a:srgbClr val="39C480"/>
          </a:solidFill>
          <a:ln>
            <a:solidFill>
              <a:srgbClr val="39C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6207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9C480"/>
                </a:solidFill>
                <a:latin typeface="Aptos"/>
              </a:rPr>
              <a:t>✓  02  •  KIỂM CHỨNG PHÒNG THỦ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273552"/>
            <a:ext cx="10607040" cy="429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Parameterized Query, HTML Encoding và Anti-Forgery Token được dùng để chặn các vector tấn công trong lab.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0690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069080"/>
            <a:ext cx="54864" cy="1143000"/>
          </a:xfrm>
          <a:prstGeom prst="rect">
            <a:avLst/>
          </a:prstGeom>
          <a:solidFill>
            <a:srgbClr val="F1BE48"/>
          </a:solidFill>
          <a:ln>
            <a:solidFill>
              <a:srgbClr val="F1B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233672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1BE48"/>
                </a:solidFill>
                <a:latin typeface="Aptos"/>
              </a:rPr>
              <a:t>◆  03  •  SECURITY PRINCIPLE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645152"/>
            <a:ext cx="10607040" cy="429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21F34"/>
                </a:solidFill>
                <a:latin typeface="Aptos"/>
              </a:rPr>
              <a:t>Never trust user-controlled input.
Separate data from executable instructions.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715000"/>
            <a:ext cx="1088136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21F34"/>
                </a:solidFill>
                <a:latin typeface="Aptos"/>
              </a:rPr>
              <a:t>XIN TRÂN TRỌNG CẢM ƠN THẦY VÀ CÁC BẠN!  • 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47104"/>
            <a:ext cx="86868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6C82"/>
                </a:solidFill>
                <a:latin typeface="Aptos"/>
              </a:rPr>
              <a:t>WNC.G01  •  Lập trình Web nâng cao  •  Trường Đại học Mở Hà Nội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