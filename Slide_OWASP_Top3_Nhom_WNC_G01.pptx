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latin typeface="Aria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500" b="1">
                <a:solidFill>
                  <a:srgbClr val="BE123C"/>
                </a:solidFill>
                <a:latin typeface="Arial"/>
              </a:defRPr>
            </a:pPr>
            <a:r>
              <a:t>BÁO CÁO THỰC NGHIỆM AN TOÀN WEB (OWASP TOP 10)</a:t>
            </a:r>
          </a:p>
          <a:p>
            <a:pPr>
              <a:spcBef>
                <a:spcPts val="800"/>
              </a:spcBef>
              <a:defRPr sz="2700" b="1">
                <a:solidFill>
                  <a:srgbClr val="0F172A"/>
                </a:solidFill>
                <a:latin typeface="Arial"/>
              </a:defRPr>
            </a:pPr>
            <a:r>
              <a:t>SQL Injection • Stored XSS • CSRF Attack</a:t>
            </a:r>
            <a:br/>
            <a:r>
              <a:t>Nghiên Cứu Lỗ Hổng — Thực Nghiệm — Cơ Chế Phòng Thủ</a:t>
            </a:r>
          </a:p>
          <a:p>
            <a:pPr>
              <a:spcBef>
                <a:spcPts val="800"/>
              </a:spcBef>
              <a:defRPr sz="1350" b="0">
                <a:solidFill>
                  <a:srgbClr val="334155"/>
                </a:solidFill>
                <a:latin typeface="Arial"/>
              </a:defRPr>
            </a:pPr>
            <a:r>
              <a:t>Học phần: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latin typeface="Arial"/>
              </a:defRPr>
            </a:pPr>
            <a:r>
              <a:t>CHỦ ĐỀ 1: SQL INJECTION</a:t>
            </a:r>
          </a:p>
          <a:p>
            <a:pPr>
              <a:spcBef>
                <a:spcPts val="400"/>
              </a:spcBef>
              <a:defRPr sz="1200" b="0">
                <a:solidFill>
                  <a:srgbClr val="0F172A"/>
                </a:solidFill>
                <a:latin typeface="Arial"/>
              </a:defRPr>
            </a:pPr>
            <a:r>
              <a:t>Nguyễn Danh Học</a:t>
            </a:r>
            <a:br/>
            <a:r>
              <a:t>MSV: 23A1001D0158</a:t>
            </a:r>
            <a:br/>
            <a:r>
              <a:t>Trưởng nhóm • Phụ trách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BE123C"/>
                </a:solidFill>
                <a:latin typeface="Arial"/>
              </a:defRPr>
            </a:pPr>
            <a:r>
              <a:t>CHỦ ĐỀ 2: STORED XSS</a:t>
            </a:r>
          </a:p>
          <a:p>
            <a:pPr>
              <a:spcBef>
                <a:spcPts val="400"/>
              </a:spcBef>
              <a:defRPr sz="1200" b="0">
                <a:solidFill>
                  <a:srgbClr val="0F172A"/>
                </a:solidFill>
                <a:latin typeface="Arial"/>
              </a:defRPr>
            </a:pPr>
            <a:r>
              <a:t>Nguyễn Thanh Bình</a:t>
            </a:r>
            <a:br/>
            <a:r>
              <a:t>MSV: 23A1001D0041</a:t>
            </a:r>
            <a:br/>
            <a:r>
              <a:t>Thành viên • Phụ trách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47857"/>
                </a:solidFill>
                <a:latin typeface="Arial"/>
              </a:defRPr>
            </a:pPr>
            <a:r>
              <a:t>CHỦ ĐỀ 3: CSRF ATTACK</a:t>
            </a:r>
          </a:p>
          <a:p>
            <a:pPr>
              <a:spcBef>
                <a:spcPts val="400"/>
              </a:spcBef>
              <a:defRPr sz="1200" b="0">
                <a:solidFill>
                  <a:srgbClr val="0F172A"/>
                </a:solidFill>
                <a:latin typeface="Arial"/>
              </a:defRPr>
            </a:pPr>
            <a:r>
              <a:t>Nguyễn Minh Cường</a:t>
            </a:r>
            <a:br/>
            <a:r>
              <a:t>MSV: 23A1001D0058</a:t>
            </a:r>
            <a:br/>
            <a:r>
              <a:t>Thành viên • Phụ trách Giao dịch &amp; Token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Môi Trường Công Nghệ &amp; Phạm Vi Thực Nghiệm</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Thông Số Cấu Hình Hệ Thống Thực Nghiệm</a:t>
            </a:r>
          </a:p>
          <a:p>
            <a:pPr>
              <a:spcBef>
                <a:spcPts val="800"/>
              </a:spcBef>
              <a:defRPr sz="1200" b="0">
                <a:solidFill>
                  <a:srgbClr val="334155"/>
                </a:solidFill>
                <a:latin typeface="Arial"/>
              </a:defRPr>
            </a:pPr>
            <a:r>
              <a:t>• Hệ điều hành: Linux (Ubuntu 24.04 LTS / Zorin OS)</a:t>
            </a:r>
          </a:p>
          <a:p>
            <a:pPr>
              <a:spcBef>
                <a:spcPts val="600"/>
              </a:spcBef>
              <a:defRPr sz="1200" b="0">
                <a:solidFill>
                  <a:srgbClr val="334155"/>
                </a:solidFill>
                <a:latin typeface="Arial"/>
              </a:defRPr>
            </a:pPr>
            <a:r>
              <a:t>• Nền tảng Backend: ASP.NET Core MVC (.NET 10.0)</a:t>
            </a:r>
          </a:p>
          <a:p>
            <a:pPr>
              <a:spcBef>
                <a:spcPts val="600"/>
              </a:spcBef>
              <a:defRPr sz="1200" b="0">
                <a:solidFill>
                  <a:srgbClr val="334155"/>
                </a:solidFill>
                <a:latin typeface="Arial"/>
              </a:defRPr>
            </a:pPr>
            <a:r>
              <a:t>• Cơ sở dữ liệu: Microsoft SQL Server 2025 Developer (Port 1433)</a:t>
            </a:r>
          </a:p>
          <a:p>
            <a:pPr>
              <a:spcBef>
                <a:spcPts val="600"/>
              </a:spcBef>
              <a:defRPr sz="1200" b="0">
                <a:solidFill>
                  <a:srgbClr val="334155"/>
                </a:solidFill>
                <a:latin typeface="Arial"/>
              </a:defRPr>
            </a:pPr>
            <a:r>
              <a:t>• Tầng giao diện: Razor View Engine, HTML5, CSS3, JavaScript</a:t>
            </a:r>
          </a:p>
          <a:p>
            <a:pPr>
              <a:spcBef>
                <a:spcPts val="600"/>
              </a:spcBef>
              <a:defRPr sz="1200" b="0">
                <a:solidFill>
                  <a:srgbClr val="334155"/>
                </a:solidFill>
                <a:latin typeface="Arial"/>
              </a:defRPr>
            </a:pPr>
            <a:r>
              <a:t>• Môi trường phát triển: Visual Studio Code, C# DevKit</a:t>
            </a:r>
          </a:p>
          <a:p>
            <a:pPr>
              <a:spcBef>
                <a:spcPts val="600"/>
              </a:spcBef>
              <a:defRPr sz="1200" b="0">
                <a:solidFill>
                  <a:srgbClr val="334155"/>
                </a:solidFill>
                <a:latin typeface="Arial"/>
              </a:defRPr>
            </a:pPr>
            <a:r>
              <a:t>• Công cụ kiểm thử: Chrome DevTools, cURL CLI, MSSQL Extension</a:t>
            </a:r>
          </a:p>
        </p:txBody>
      </p:sp>
      <p:sp>
        <p:nvSpPr>
          <p:cNvPr id="7" name="Rounded Rectangle 6"/>
          <p:cNvSpPr/>
          <p:nvPr/>
        </p:nvSpPr>
        <p:spPr>
          <a:xfrm>
            <a:off x="626364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Phạm Vi &amp; Nguyên Tắc Đạo Đức An Ninh</a:t>
            </a:r>
          </a:p>
          <a:p>
            <a:pPr>
              <a:spcBef>
                <a:spcPts val="800"/>
              </a:spcBef>
              <a:defRPr sz="1250" b="1">
                <a:solidFill>
                  <a:srgbClr val="0F172A"/>
                </a:solidFill>
                <a:latin typeface="Arial"/>
              </a:defRPr>
            </a:pPr>
            <a:r>
              <a:t>✓ Môi trường cô lập (Localhost):</a:t>
            </a:r>
          </a:p>
          <a:p>
            <a:pPr>
              <a:spcBef>
                <a:spcPts val="400"/>
              </a:spcBef>
              <a:defRPr sz="1200" b="0">
                <a:solidFill>
                  <a:srgbClr val="334155"/>
                </a:solidFill>
                <a:latin typeface="Arial"/>
              </a:defRPr>
            </a:pPr>
            <a:r>
              <a:t>Toàn bộ thực nghiệm được tiến hành trên ứng dụng mẫu do nhóm tự xây dựng (chạy trên localhost:5076), tuyệt đối không thực hiện trên các hệ thống bên ngoài.</a:t>
            </a:r>
          </a:p>
          <a:p>
            <a:pPr>
              <a:spcBef>
                <a:spcPts val="1200"/>
              </a:spcBef>
              <a:defRPr sz="1250" b="1">
                <a:solidFill>
                  <a:srgbClr val="0F172A"/>
                </a:solidFill>
                <a:latin typeface="Arial"/>
              </a:defRPr>
            </a:pPr>
            <a:r>
              <a:t>✓ Thiết kế đối chứng song song (Vulnerable vs Secure):</a:t>
            </a:r>
          </a:p>
          <a:p>
            <a:pPr>
              <a:spcBef>
                <a:spcPts val="400"/>
              </a:spcBef>
              <a:defRPr sz="1200" b="0">
                <a:solidFill>
                  <a:srgbClr val="334155"/>
                </a:solidFill>
                <a:latin typeface="Arial"/>
              </a:defRPr>
            </a:pPr>
            <a:r>
              <a:t>Mỗi lỗ hổng đều xây dựng 2 nhánh xử lý: Nhánh dính lỗi (để chứng minh sự nguy hiểm) và Nhánh an toàn (để kiểm chứng hiệu quả phòng thủ).</a:t>
            </a:r>
          </a:p>
          <a:p>
            <a:pPr>
              <a:spcBef>
                <a:spcPts val="1200"/>
              </a:spcBef>
              <a:defRPr sz="1250" b="1">
                <a:solidFill>
                  <a:srgbClr val="0F172A"/>
                </a:solidFill>
                <a:latin typeface="Arial"/>
              </a:defRPr>
            </a:pPr>
            <a:r>
              <a:t>✓ Dữ liệu mô phỏng an toàn:</a:t>
            </a:r>
          </a:p>
          <a:p>
            <a:pPr>
              <a:spcBef>
                <a:spcPts val="400"/>
              </a:spcBef>
              <a:defRPr sz="1200" b="0">
                <a:solidFill>
                  <a:srgbClr val="334155"/>
                </a:solidFill>
                <a:latin typeface="Arial"/>
              </a:defRPr>
            </a:pPr>
            <a:r>
              <a:t>Toàn bộ tài khoản, mật khẩu và số dư ví trong CSDL là dữ liệu mẫu giả định phục vụ mục đích học tập và nghiên cứu.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1.1. SQL Injection: Sơ Đồ Luồng &amp; Nguyên Nhân Cốt Lõi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Sơ Đồ Luồng Xử Lý Dữ Liệu</a:t>
            </a:r>
          </a:p>
          <a:p>
            <a:pPr>
              <a:spcBef>
                <a:spcPts val="800"/>
              </a:spcBef>
              <a:defRPr sz="1200" b="1">
                <a:solidFill>
                  <a:srgbClr val="1D4ED8"/>
                </a:solidFill>
                <a:latin typeface="Arial"/>
              </a:defRPr>
            </a:pPr>
            <a:r>
              <a:t>Browser (Client) ➔ Gửi Input (' OR '1'='1' --)</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ASP.NET Core Controller ➔ Ghép chuỗi SQL trực tiếp</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SQL Server 2025 ➔ Thông dịch cấu trúc lệnh bị tiêm nhiễm</a:t>
            </a:r>
          </a:p>
          <a:p>
            <a:br/>
            <a:pPr>
              <a:spcBef>
                <a:spcPts val="800"/>
              </a:spcBef>
              <a:defRPr sz="1200" b="0">
                <a:solidFill>
                  <a:srgbClr val="334155"/>
                </a:solidFill>
                <a:latin typeface="Arial"/>
              </a:defRPr>
            </a:pPr>
            <a:r>
              <a:t>Root Cause (Nguyên nhân cốt lõi):</a:t>
            </a:r>
            <a:br/>
            <a:r>
              <a:t>Dữ liệu người dùng được ghép trực tiếp vào câu truy vấn. Hệ CSDL không phân định được đâu là Dữ liệu (Data) và đâu là Cú pháp lệnh (Code).</a:t>
            </a:r>
          </a:p>
        </p:txBody>
      </p:sp>
      <p:sp>
        <p:nvSpPr>
          <p:cNvPr id="7" name="Rounded Rectangle 6"/>
          <p:cNvSpPr/>
          <p:nvPr/>
        </p:nvSpPr>
        <p:spPr>
          <a:xfrm>
            <a:off x="6263640" y="128016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Đoạn Mã Gây Lỗi (C# Controller)</a:t>
            </a:r>
          </a:p>
          <a:p>
            <a:pPr>
              <a:spcBef>
                <a:spcPts val="800"/>
              </a:spcBef>
              <a:defRPr sz="1050" b="0">
                <a:solidFill>
                  <a:srgbClr val="9F1239"/>
                </a:solidFill>
                <a:latin typeface="Courier New"/>
              </a:defRPr>
            </a:pPr>
            <a:r>
              <a:t>// NỐI CHUỖI TRỰC TIẾP TỪ THAM SỐ:</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b="1">
                <a:solidFill>
                  <a:srgbClr val="0F172A"/>
                </a:solidFill>
                <a:latin typeface="Arial"/>
              </a:defRPr>
            </a:pPr>
            <a:r>
              <a:t>Cơ chế phá vỡ cú pháp:</a:t>
            </a:r>
            <a:br/>
            <a:r>
              <a:t>Dấu nháy đơn (') của kẻ tấn công đóng sớm chuỗi giá trị Username. Phần còn lại được máy chủ thông dịch thành lệnh điều khiển thay vì dữ liệu.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1.2. SQL Injection: 3 Kịch Bản Khai Thác Thực Nghiệm</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graphicFrame>
        <p:nvGraphicFramePr>
          <p:cNvPr id="6" name="Table 5"/>
          <p:cNvGraphicFramePr>
            <a:graphicFrameLocks noGrp="1"/>
          </p:cNvGraphicFramePr>
          <p:nvPr/>
        </p:nvGraphicFramePr>
        <p:xfrm>
          <a:off x="731520" y="1280160"/>
          <a:ext cx="10728655" cy="4846320"/>
        </p:xfrm>
        <a:graphic>
          <a:graphicData uri="http://schemas.openxmlformats.org/drawingml/2006/table">
            <a:tbl>
              <a:tblPr firstRow="1" bandRow="1">
                <a:tableStyleId>{5C22544A-7EE6-4342-B048-85BDC9FD1C3A}</a:tableStyleId>
              </a:tblPr>
              <a:tblGrid>
                <a:gridCol w="2682163"/>
                <a:gridCol w="2682163"/>
                <a:gridCol w="2682163"/>
                <a:gridCol w="2682166"/>
              </a:tblGrid>
              <a:tr h="1211580">
                <a:tc>
                  <a:txBody>
                    <a:bodyPr/>
                    <a:lstStyle/>
                    <a:p>
                      <a:pPr>
                        <a:defRPr b="1" sz="1100">
                          <a:solidFill>
                            <a:srgbClr val="FFFFFF"/>
                          </a:solidFill>
                          <a:latin typeface="Arial"/>
                        </a:defRPr>
                      </a:pPr>
                      <a:r>
                        <a:t>Kịch bản kiểm thử</a:t>
                      </a:r>
                    </a:p>
                  </a:txBody>
                  <a:tcPr>
                    <a:solidFill>
                      <a:srgbClr val="1D4ED8"/>
                    </a:solidFill>
                  </a:tcPr>
                </a:tc>
                <a:tc>
                  <a:txBody>
                    <a:bodyPr/>
                    <a:lstStyle/>
                    <a:p>
                      <a:pPr>
                        <a:defRPr b="1" sz="1100">
                          <a:solidFill>
                            <a:srgbClr val="FFFFFF"/>
                          </a:solidFill>
                          <a:latin typeface="Arial"/>
                        </a:defRPr>
                      </a:pPr>
                      <a:r>
                        <a:t>Payload đưa vào ô Username</a:t>
                      </a:r>
                    </a:p>
                  </a:txBody>
                  <a:tcPr>
                    <a:solidFill>
                      <a:srgbClr val="1D4ED8"/>
                    </a:solidFill>
                  </a:tcPr>
                </a:tc>
                <a:tc>
                  <a:txBody>
                    <a:bodyPr/>
                    <a:lstStyle/>
                    <a:p>
                      <a:pPr>
                        <a:defRPr b="1" sz="1100">
                          <a:solidFill>
                            <a:srgbClr val="FFFFFF"/>
                          </a:solidFill>
                          <a:latin typeface="Arial"/>
                        </a:defRPr>
                      </a:pPr>
                      <a:r>
                        <a:t>Cơ chế bẻ gãy cú pháp</a:t>
                      </a:r>
                    </a:p>
                  </a:txBody>
                  <a:tcPr>
                    <a:solidFill>
                      <a:srgbClr val="1D4ED8"/>
                    </a:solidFill>
                  </a:tcPr>
                </a:tc>
                <a:tc>
                  <a:txBody>
                    <a:bodyPr/>
                    <a:lstStyle/>
                    <a:p>
                      <a:pPr>
                        <a:defRPr b="1" sz="1100">
                          <a:solidFill>
                            <a:srgbClr val="FFFFFF"/>
                          </a:solidFill>
                          <a:latin typeface="Arial"/>
                        </a:defRPr>
                      </a:pPr>
                      <a:r>
                        <a:t>Kết quả thực tế</a:t>
                      </a:r>
                    </a:p>
                  </a:txBody>
                  <a:tcPr>
                    <a:solidFill>
                      <a:srgbClr val="1D4ED8"/>
                    </a:solidFill>
                  </a:tcPr>
                </a:tc>
              </a:tr>
              <a:tr h="1211580">
                <a:tc>
                  <a:txBody>
                    <a:bodyPr/>
                    <a:lstStyle/>
                    <a:p>
                      <a:pPr>
                        <a:defRPr sz="1100">
                          <a:solidFill>
                            <a:srgbClr val="0F172A"/>
                          </a:solidFill>
                          <a:latin typeface="Arial"/>
                        </a:defRPr>
                      </a:pPr>
                      <a:r>
                        <a:t>Kịch bản 1: Bypass tổng quát</a:t>
                      </a:r>
                    </a:p>
                  </a:txBody>
                  <a:tcPr>
                    <a:solidFill>
                      <a:srgbClr val="F8FAFC"/>
                    </a:solidFill>
                  </a:tcPr>
                </a:tc>
                <a:tc>
                  <a:txBody>
                    <a:bodyPr/>
                    <a:lstStyle/>
                    <a:p>
                      <a:pPr>
                        <a:defRPr sz="1100" b="1">
                          <a:solidFill>
                            <a:srgbClr val="BE123C"/>
                          </a:solidFill>
                          <a:latin typeface="Courier New"/>
                        </a:defRPr>
                      </a:pPr>
                      <a:r>
                        <a:t>' OR '1'='1' --</a:t>
                      </a:r>
                    </a:p>
                  </a:txBody>
                  <a:tcPr>
                    <a:solidFill>
                      <a:srgbClr val="F8FAFC"/>
                    </a:solidFill>
                  </a:tcPr>
                </a:tc>
                <a:tc>
                  <a:txBody>
                    <a:bodyPr/>
                    <a:lstStyle/>
                    <a:p>
                      <a:pPr>
                        <a:defRPr sz="1100">
                          <a:solidFill>
                            <a:srgbClr val="334155"/>
                          </a:solidFill>
                          <a:latin typeface="Arial"/>
                        </a:defRPr>
                      </a:pPr>
                      <a:r>
                        <a:t>Nháy đơn (') đóng chuỗi; OR '1'='1' luôn đúng; '--' hủy vế kiểm tra mật khẩu.</a:t>
                      </a:r>
                    </a:p>
                  </a:txBody>
                  <a:tcPr>
                    <a:solidFill>
                      <a:srgbClr val="F8FAFC"/>
                    </a:solidFill>
                  </a:tcPr>
                </a:tc>
                <a:tc>
                  <a:txBody>
                    <a:bodyPr/>
                    <a:lstStyle/>
                    <a:p>
                      <a:pPr>
                        <a:defRPr sz="1100">
                          <a:solidFill>
                            <a:srgbClr val="334155"/>
                          </a:solidFill>
                          <a:latin typeface="Arial"/>
                        </a:defRPr>
                      </a:pPr>
                      <a:r>
                        <a:t>Bypass thành công, lấy tài khoản đầu tiên trong bảng (Admin).</a:t>
                      </a:r>
                    </a:p>
                  </a:txBody>
                  <a:tcPr>
                    <a:solidFill>
                      <a:srgbClr val="F8FAFC"/>
                    </a:solidFill>
                  </a:tcPr>
                </a:tc>
              </a:tr>
              <a:tr h="1211580">
                <a:tc>
                  <a:txBody>
                    <a:bodyPr/>
                    <a:lstStyle/>
                    <a:p>
                      <a:pPr>
                        <a:defRPr sz="1100">
                          <a:solidFill>
                            <a:srgbClr val="0F172A"/>
                          </a:solidFill>
                          <a:latin typeface="Arial"/>
                        </a:defRPr>
                      </a:pPr>
                      <a:r>
                        <a:t>Kịch bản 2: Nhắm đích danh Admin</a:t>
                      </a:r>
                    </a:p>
                  </a:txBody>
                  <a:tcPr>
                    <a:solidFill>
                      <a:srgbClr val="FFFFFF"/>
                    </a:solidFill>
                  </a:tcPr>
                </a:tc>
                <a:tc>
                  <a:txBody>
                    <a:bodyPr/>
                    <a:lstStyle/>
                    <a:p>
                      <a:pPr>
                        <a:defRPr sz="1100" b="1">
                          <a:solidFill>
                            <a:srgbClr val="BE123C"/>
                          </a:solidFill>
                          <a:latin typeface="Courier New"/>
                        </a:defRPr>
                      </a:pPr>
                      <a:r>
                        <a:t>admin' --</a:t>
                      </a:r>
                    </a:p>
                  </a:txBody>
                  <a:tcPr>
                    <a:solidFill>
                      <a:srgbClr val="FFFFFF"/>
                    </a:solidFill>
                  </a:tcPr>
                </a:tc>
                <a:tc>
                  <a:txBody>
                    <a:bodyPr/>
                    <a:lstStyle/>
                    <a:p>
                      <a:pPr>
                        <a:defRPr sz="1100">
                          <a:solidFill>
                            <a:srgbClr val="334155"/>
                          </a:solidFill>
                          <a:latin typeface="Arial"/>
                        </a:defRPr>
                      </a:pPr>
                      <a:r>
                        <a:t>Cố định Username = 'admin'; '--' hủy toàn bộ vế AND Password = ...</a:t>
                      </a:r>
                    </a:p>
                  </a:txBody>
                  <a:tcPr>
                    <a:solidFill>
                      <a:srgbClr val="FFFFFF"/>
                    </a:solidFill>
                  </a:tcPr>
                </a:tc>
                <a:tc>
                  <a:txBody>
                    <a:bodyPr/>
                    <a:lstStyle/>
                    <a:p>
                      <a:pPr>
                        <a:defRPr sz="1100">
                          <a:solidFill>
                            <a:srgbClr val="334155"/>
                          </a:solidFill>
                          <a:latin typeface="Arial"/>
                        </a:defRPr>
                      </a:pPr>
                      <a:r>
                        <a:t>Chiếm đoạt chính xác quyền Admin mà không cần biết mật khẩu.</a:t>
                      </a:r>
                    </a:p>
                  </a:txBody>
                  <a:tcPr>
                    <a:solidFill>
                      <a:srgbClr val="FFFFFF"/>
                    </a:solidFill>
                  </a:tcPr>
                </a:tc>
              </a:tr>
              <a:tr h="1211580">
                <a:tc>
                  <a:txBody>
                    <a:bodyPr/>
                    <a:lstStyle/>
                    <a:p>
                      <a:pPr>
                        <a:defRPr sz="1100">
                          <a:solidFill>
                            <a:srgbClr val="0F172A"/>
                          </a:solidFill>
                          <a:latin typeface="Arial"/>
                        </a:defRPr>
                      </a:pPr>
                      <a:r>
                        <a:t>Kịch bản chuẩn: Đăng nhập đúng</a:t>
                      </a:r>
                    </a:p>
                  </a:txBody>
                  <a:tcPr>
                    <a:solidFill>
                      <a:srgbClr val="F8FAFC"/>
                    </a:solidFill>
                  </a:tcPr>
                </a:tc>
                <a:tc>
                  <a:txBody>
                    <a:bodyPr/>
                    <a:lstStyle/>
                    <a:p>
                      <a:pPr>
                        <a:defRPr sz="1100" b="1">
                          <a:solidFill>
                            <a:srgbClr val="047857"/>
                          </a:solidFill>
                          <a:latin typeface="Courier New"/>
                        </a:defRPr>
                      </a:pPr>
                      <a:r>
                        <a:t>admin / AdminPassword@2026</a:t>
                      </a:r>
                    </a:p>
                  </a:txBody>
                  <a:tcPr>
                    <a:solidFill>
                      <a:srgbClr val="F8FAFC"/>
                    </a:solidFill>
                  </a:tcPr>
                </a:tc>
                <a:tc>
                  <a:txBody>
                    <a:bodyPr/>
                    <a:lstStyle/>
                    <a:p>
                      <a:pPr>
                        <a:defRPr sz="1100">
                          <a:solidFill>
                            <a:srgbClr val="334155"/>
                          </a:solidFill>
                          <a:latin typeface="Arial"/>
                        </a:defRPr>
                      </a:pPr>
                      <a:r>
                        <a:t>Dữ liệu hợp lệ, không chứa ký tự điều khiển hay can thiệp cú pháp.</a:t>
                      </a:r>
                    </a:p>
                  </a:txBody>
                  <a:tcPr>
                    <a:solidFill>
                      <a:srgbClr val="F8FAFC"/>
                    </a:solidFill>
                  </a:tcPr>
                </a:tc>
                <a:tc>
                  <a:txBody>
                    <a:bodyPr/>
                    <a:lstStyle/>
                    <a:p>
                      <a:pPr>
                        <a:defRPr sz="1100">
                          <a:solidFill>
                            <a:srgbClr val="334155"/>
                          </a:solidFill>
                          <a:latin typeface="Arial"/>
                        </a:defRPr>
                      </a:pPr>
                      <a:r>
                        <a:t>Đăng nhập thành công trên cả 2 nhánh (Lỗi &amp; Đã phòng thủ).</a:t>
                      </a:r>
                    </a:p>
                  </a:txBody>
                  <a:tcPr>
                    <a:solidFill>
                      <a:srgbClr val="F8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1.3. SQL Injection: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sqli_proof.png"/>
          <p:cNvPicPr>
            <a:picLocks noChangeAspect="1"/>
          </p:cNvPicPr>
          <p:nvPr/>
        </p:nvPicPr>
        <p:blipFill>
          <a:blip r:embed="rId2"/>
          <a:stretch>
            <a:fillRect/>
          </a:stretch>
        </p:blipFill>
        <p:spPr>
          <a:xfrm>
            <a:off x="2066543" y="1234440"/>
            <a:ext cx="8046720" cy="475488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1D4ED8"/>
                </a:solidFill>
                <a:latin typeface="Arial"/>
              </a:defRPr>
            </a:pPr>
            <a:r>
              <a:t>Minh chứng đối chứng: Trích xuất 4 tài khoản CSDL khi inject ' OR '1'='1' -- (Trái) vs Chặn đứng an toàn với EF Core (Phải)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1.4. SQL Injection: Minh Chứng Gói Tin Mạng (Chrome DevTools Network)</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1_sqli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1D4ED8"/>
                </a:solidFill>
                <a:latin typeface="Arial"/>
              </a:defRPr>
            </a:pPr>
            <a:r>
              <a:t>Soi gói tin mạng (Network Fetch/XHR): Payload gửi lên mang chuỗi ' OR '1'='1' -- và JSON trích xuất 4 tài khoản rò rỉ</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1.5. SQL Injection: Cơ Chế Phòng Thủ Chuẩn Hóa</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Phòng Thủ SQL Injection: Parameterized Query</a:t>
            </a:r>
          </a:p>
          <a:p>
            <a:pPr>
              <a:spcBef>
                <a:spcPts val="800"/>
              </a:spcBef>
              <a:defRPr sz="1100" b="0">
                <a:solidFill>
                  <a:srgbClr val="065F46"/>
                </a:solidFill>
                <a:latin typeface="Courier New"/>
              </a:defRPr>
            </a:pPr>
            <a:r>
              <a:t>// DÙNG LINQ PARAMETERIZED TRONG EF CORE:</a:t>
            </a:r>
            <a:br/>
            <a:r>
              <a:t>var account = _context.Accounts</a:t>
            </a:r>
            <a:br/>
            <a:r>
              <a:t>    .FirstOrDefault(a =&gt; a.Username == user </a:t>
            </a:r>
            <a:br/>
            <a:r>
              <a:t>                      &amp;&amp; a.Password == pass);</a:t>
            </a:r>
          </a:p>
          <a:p>
            <a:pPr>
              <a:spcBef>
                <a:spcPts val="1200"/>
              </a:spcBef>
              <a:defRPr sz="1200" b="0">
                <a:solidFill>
                  <a:srgbClr val="334155"/>
                </a:solidFill>
                <a:latin typeface="Arial"/>
              </a:defRPr>
            </a:pPr>
            <a:r>
              <a:t>Nguyên lý kỹ thuật:</a:t>
            </a:r>
            <a:br/>
            <a:r>
              <a:t>• Data ≠ SQL Syntax: Đầu vào người dùng được truyền qua tham số riêng biệt (@p0, @p1).</a:t>
            </a:r>
            <a:br/>
            <a:r>
              <a:t>• Máy chủ SQL Server biên dịch cấu trúc cây truy vấn (Execution Plan) TRƯỚC khi gán dữ liệu.</a:t>
            </a:r>
            <a:br/>
            <a:r>
              <a:t>• Toàn bộ chuỗi payload bị cô lập thành giá trị văn bản (literal), không thể can thiệp vào logic thực thi.</a:t>
            </a:r>
          </a:p>
        </p:txBody>
      </p:sp>
      <p:sp>
        <p:nvSpPr>
          <p:cNvPr id="7" name="Rounded Rectangle 6"/>
          <p:cNvSpPr/>
          <p:nvPr/>
        </p:nvSpPr>
        <p:spPr>
          <a:xfrm>
            <a:off x="626364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Bảo Vệ Mật Khẩu: Tách Biệt Với SQL Injection</a:t>
            </a:r>
          </a:p>
          <a:p>
            <a:pPr>
              <a:spcBef>
                <a:spcPts val="800"/>
              </a:spcBef>
              <a:defRPr sz="1200" b="0">
                <a:solidFill>
                  <a:srgbClr val="334155"/>
                </a:solidFill>
                <a:latin typeface="Arial"/>
              </a:defRPr>
            </a:pPr>
            <a:r>
              <a:t>Lưu ý logic bảo mật quan trọng:</a:t>
            </a:r>
            <a:br/>
            <a:r>
              <a:t>• Parameterized Query giải quyết triệt để lỗi SQL Injection.</a:t>
            </a:r>
            <a:br/>
            <a:r>
              <a:t>• Tuy nhiên, để bảo vệ mật khẩu người dùng phòng trường hợp CSDL bị rò rỉ, cần lớp phòng thủ bổ sung (Defense-in-Depth):</a:t>
            </a:r>
          </a:p>
          <a:p>
            <a:pPr>
              <a:spcBef>
                <a:spcPts val="800"/>
              </a:spcBef>
              <a:defRPr sz="1200" b="0">
                <a:solidFill>
                  <a:srgbClr val="334155"/>
                </a:solidFill>
                <a:latin typeface="Arial"/>
              </a:defRPr>
            </a:pPr>
            <a:r>
              <a:t>1. Password Hashing (ASP.NET Core Identity):</a:t>
            </a:r>
            <a:br/>
            <a:r>
              <a:t>   Băm mật khẩu 1 chiều bằng thuật toán an toàn (PBKDF2/BCrypt) kèm Salt, tuyệt đối không lưu mật khẩu dạng plain-text.</a:t>
            </a:r>
            <a:br/>
            <a:br/>
            <a:r>
              <a:t>2. Phân quyền tối thiểu (Least Privilege):</a:t>
            </a:r>
            <a:br/>
            <a:r>
              <a:t>   Tài khoản kết nối CSDL của ứng dụng chỉ có quyền SELECT/INSERT/UPDATE trên các bảng nghiệp vụ, không dùng quyền sa/DDL.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2.1. Stored XSS: Bản Chất Kỹ Thuật &amp; Sơ Đồ Luồng</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Sơ Đồ Luồng Phát Tán Của Stored XSS</a:t>
            </a:r>
          </a:p>
          <a:p>
            <a:pPr>
              <a:spcBef>
                <a:spcPts val="800"/>
              </a:spcBef>
              <a:defRPr sz="1200" b="1">
                <a:solidFill>
                  <a:srgbClr val="BE123C"/>
                </a:solidFill>
                <a:latin typeface="Arial"/>
              </a:defRPr>
            </a:pPr>
            <a:r>
              <a:t>Kẻ tấn công ➔ Nhập mã độc JavaScript vào form đánh giá</a:t>
            </a:r>
          </a:p>
          <a:p>
            <a:pPr>
              <a:spcBef>
                <a:spcPts val="200"/>
              </a:spcBef>
              <a:defRPr sz="1200" b="1">
                <a:solidFill>
                  <a:srgbClr val="64748B"/>
                </a:solidFill>
                <a:latin typeface="Arial"/>
              </a:defRPr>
            </a:pPr>
            <a:r>
              <a:t>            │</a:t>
            </a:r>
            <a:br/>
            <a:r>
              <a:t>            ▼</a:t>
            </a:r>
          </a:p>
          <a:p>
            <a:pPr>
              <a:spcBef>
                <a:spcPts val="200"/>
              </a:spcBef>
              <a:defRPr sz="1200" b="1">
                <a:solidFill>
                  <a:srgbClr val="0F172A"/>
                </a:solidFill>
                <a:latin typeface="Arial"/>
              </a:defRPr>
            </a:pPr>
            <a:r>
              <a:t>Web Server ➔ Lưu nguyên văn mã độc vào Database (dbo.Comments)</a:t>
            </a:r>
          </a:p>
          <a:p>
            <a:pPr>
              <a:spcBef>
                <a:spcPts val="200"/>
              </a:spcBef>
              <a:defRPr sz="1200" b="1">
                <a:solidFill>
                  <a:srgbClr val="64748B"/>
                </a:solidFill>
                <a:latin typeface="Arial"/>
              </a:defRPr>
            </a:pPr>
            <a:r>
              <a:t>            │</a:t>
            </a:r>
            <a:br/>
            <a:r>
              <a:t>            ▼</a:t>
            </a:r>
          </a:p>
          <a:p>
            <a:pPr>
              <a:spcBef>
                <a:spcPts val="200"/>
              </a:spcBef>
              <a:defRPr sz="1200" b="1">
                <a:solidFill>
                  <a:srgbClr val="BE123C"/>
                </a:solidFill>
                <a:latin typeface="Arial"/>
              </a:defRPr>
            </a:pPr>
            <a:r>
              <a:t>Nạn nhân truy cập trang ➔ Trình duyệt tự động thực thi script độc hại</a:t>
            </a:r>
          </a:p>
          <a:p>
            <a:br/>
            <a:pPr>
              <a:spcBef>
                <a:spcPts val="800"/>
              </a:spcBef>
              <a:defRPr sz="1200" b="0">
                <a:solidFill>
                  <a:srgbClr val="334155"/>
                </a:solidFill>
                <a:latin typeface="Arial"/>
              </a:defRPr>
            </a:pPr>
            <a:r>
              <a:t>Đặc điểm kỹ thuật:</a:t>
            </a:r>
            <a:br/>
            <a:r>
              <a:t>Stored XSS là dạng XSS lưu trữ: mã độc được lưu trên máy chủ CSDL và có thể được kích hoạt tự động mỗi khi người dùng khác truy cập trang nội dung bị nhiễm.</a:t>
            </a:r>
          </a:p>
        </p:txBody>
      </p:sp>
      <p:sp>
        <p:nvSpPr>
          <p:cNvPr id="7" name="Rounded Rectangle 6"/>
          <p:cNvSpPr/>
          <p:nvPr/>
        </p:nvSpPr>
        <p:spPr>
          <a:xfrm>
            <a:off x="6263640" y="128016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Nguyên Nhân: Sự Lạm Dụng @@Html.Raw()</a:t>
            </a:r>
          </a:p>
          <a:p>
            <a:pPr>
              <a:spcBef>
                <a:spcPts val="600"/>
              </a:spcBef>
              <a:defRPr sz="1000" b="0">
                <a:solidFill>
                  <a:srgbClr val="9F1239"/>
                </a:solidFill>
                <a:latin typeface="Courier New"/>
              </a:defRPr>
            </a:pPr>
            <a:r>
              <a:t>// 1. CONTROLLER LƯU NGUYÊN VĂN NỘI DUNG VÀO CSDL:</a:t>
            </a:r>
            <a:br/>
            <a:r>
              <a:t>var comment = new Comment {</a:t>
            </a:r>
            <a:br/>
            <a:r>
              <a:t>    Author = author,</a:t>
            </a:r>
            <a:br/>
            <a:r>
              <a:t>    Content = content // Chứa thẻ &lt;script&gt; độc hại</a:t>
            </a:r>
            <a:br/>
            <a:r>
              <a:t>};</a:t>
            </a:r>
            <a:br/>
            <a:r>
              <a:t>_context.Comments.Add(comment);</a:t>
            </a:r>
            <a:br/>
            <a:br/>
            <a:r>
              <a:t>// 2. RAZOR VIEW HIỂN THỊ DỮ LIỆU THÔ BẰNG HTML.RAW:</a:t>
            </a:r>
            <a:br/>
            <a:r>
              <a:t>&lt;div class="comment-body"&gt;</a:t>
            </a:r>
            <a:br/>
            <a:r>
              <a:t>    @Html.Raw(comment.Content)</a:t>
            </a:r>
            <a:br/>
            <a:r>
              <a:t>&lt;/div&gt;</a:t>
            </a:r>
          </a:p>
          <a:p>
            <a:pPr>
              <a:spcBef>
                <a:spcPts val="1000"/>
              </a:spcBef>
              <a:defRPr sz="1200" b="1">
                <a:solidFill>
                  <a:srgbClr val="0F172A"/>
                </a:solidFill>
                <a:latin typeface="Arial"/>
              </a:defRPr>
            </a:pPr>
            <a:r>
              <a:t>Điểm mù kỹ thuật:</a:t>
            </a:r>
            <a:br/>
            <a:r>
              <a:t>@Html.Raw() vô hiệu hóa hoàn toàn cơ chế mã hóa HTML tự động của Razor Engine, ép trình duyệt phải biên dịch và thực thi chuỗi dữ liệu như mã lệnh.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2.2. Stored XSS: 3 Kịch Bản Tiêm Mã Độc Thực Nghiệm</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graphicFrame>
        <p:nvGraphicFramePr>
          <p:cNvPr id="6" name="Table 5"/>
          <p:cNvGraphicFramePr>
            <a:graphicFrameLocks noGrp="1"/>
          </p:cNvGraphicFramePr>
          <p:nvPr/>
        </p:nvGraphicFramePr>
        <p:xfrm>
          <a:off x="731520" y="1280160"/>
          <a:ext cx="10728655" cy="4846320"/>
        </p:xfrm>
        <a:graphic>
          <a:graphicData uri="http://schemas.openxmlformats.org/drawingml/2006/table">
            <a:tbl>
              <a:tblPr firstRow="1" bandRow="1">
                <a:tableStyleId>{5C22544A-7EE6-4342-B048-85BDC9FD1C3A}</a:tableStyleId>
              </a:tblPr>
              <a:tblGrid>
                <a:gridCol w="2682163"/>
                <a:gridCol w="2682163"/>
                <a:gridCol w="2682163"/>
                <a:gridCol w="2682166"/>
              </a:tblGrid>
              <a:tr h="1211580">
                <a:tc>
                  <a:txBody>
                    <a:bodyPr/>
                    <a:lstStyle/>
                    <a:p>
                      <a:pPr>
                        <a:defRPr b="1" sz="1100">
                          <a:solidFill>
                            <a:srgbClr val="FFFFFF"/>
                          </a:solidFill>
                          <a:latin typeface="Arial"/>
                        </a:defRPr>
                      </a:pPr>
                      <a:r>
                        <a:t>Kịch bản kiểm thử</a:t>
                      </a:r>
                    </a:p>
                  </a:txBody>
                  <a:tcPr>
                    <a:solidFill>
                      <a:srgbClr val="BE123C"/>
                    </a:solidFill>
                  </a:tcPr>
                </a:tc>
                <a:tc>
                  <a:txBody>
                    <a:bodyPr/>
                    <a:lstStyle/>
                    <a:p>
                      <a:pPr>
                        <a:defRPr b="1" sz="1100">
                          <a:solidFill>
                            <a:srgbClr val="FFFFFF"/>
                          </a:solidFill>
                          <a:latin typeface="Arial"/>
                        </a:defRPr>
                      </a:pPr>
                      <a:r>
                        <a:t>Mã độc Payload đưa vào</a:t>
                      </a:r>
                    </a:p>
                  </a:txBody>
                  <a:tcPr>
                    <a:solidFill>
                      <a:srgbClr val="BE123C"/>
                    </a:solidFill>
                  </a:tcPr>
                </a:tc>
                <a:tc>
                  <a:txBody>
                    <a:bodyPr/>
                    <a:lstStyle/>
                    <a:p>
                      <a:pPr>
                        <a:defRPr b="1" sz="1100">
                          <a:solidFill>
                            <a:srgbClr val="FFFFFF"/>
                          </a:solidFill>
                          <a:latin typeface="Arial"/>
                        </a:defRPr>
                      </a:pPr>
                      <a:r>
                        <a:t>Cơ chế kích hoạt trên Trình duyệt</a:t>
                      </a:r>
                    </a:p>
                  </a:txBody>
                  <a:tcPr>
                    <a:solidFill>
                      <a:srgbClr val="BE123C"/>
                    </a:solidFill>
                  </a:tcPr>
                </a:tc>
                <a:tc>
                  <a:txBody>
                    <a:bodyPr/>
                    <a:lstStyle/>
                    <a:p>
                      <a:pPr>
                        <a:defRPr b="1" sz="1100">
                          <a:solidFill>
                            <a:srgbClr val="FFFFFF"/>
                          </a:solidFill>
                          <a:latin typeface="Arial"/>
                        </a:defRPr>
                      </a:pPr>
                      <a:r>
                        <a:t>Mục tiêu khai thác</a:t>
                      </a:r>
                    </a:p>
                  </a:txBody>
                  <a:tcPr>
                    <a:solidFill>
                      <a:srgbClr val="BE123C"/>
                    </a:solidFill>
                  </a:tcPr>
                </a:tc>
              </a:tr>
              <a:tr h="1211580">
                <a:tc>
                  <a:txBody>
                    <a:bodyPr/>
                    <a:lstStyle/>
                    <a:p>
                      <a:pPr>
                        <a:defRPr sz="1100">
                          <a:solidFill>
                            <a:srgbClr val="0F172A"/>
                          </a:solidFill>
                          <a:latin typeface="Arial"/>
                        </a:defRPr>
                      </a:pPr>
                      <a:r>
                        <a:t>Kịch bản 1: Đánh cắp Cookie</a:t>
                      </a:r>
                    </a:p>
                  </a:txBody>
                  <a:tcPr>
                    <a:solidFill>
                      <a:srgbClr val="F8FAFC"/>
                    </a:solidFill>
                  </a:tcPr>
                </a:tc>
                <a:tc>
                  <a:txBody>
                    <a:bodyPr/>
                    <a:lstStyle/>
                    <a:p>
                      <a:pPr>
                        <a:defRPr sz="1100" b="1">
                          <a:solidFill>
                            <a:srgbClr val="BE123C"/>
                          </a:solidFill>
                          <a:latin typeface="Courier New"/>
                        </a:defRPr>
                      </a:pPr>
                      <a:r>
                        <a:t>&lt;script&gt;alert(document.cookie);&lt;/script&gt;</a:t>
                      </a:r>
                    </a:p>
                  </a:txBody>
                  <a:tcPr>
                    <a:solidFill>
                      <a:srgbClr val="F8FAFC"/>
                    </a:solidFill>
                  </a:tcPr>
                </a:tc>
                <a:tc>
                  <a:txBody>
                    <a:bodyPr/>
                    <a:lstStyle/>
                    <a:p>
                      <a:pPr>
                        <a:defRPr sz="1100">
                          <a:solidFill>
                            <a:srgbClr val="334155"/>
                          </a:solidFill>
                          <a:latin typeface="Arial"/>
                        </a:defRPr>
                      </a:pPr>
                      <a:r>
                        <a:t>Trình duyệt thực thi thẻ &lt;script&gt; và đọc toàn bộ giá trị lưu trong document.cookie.</a:t>
                      </a:r>
                    </a:p>
                  </a:txBody>
                  <a:tcPr>
                    <a:solidFill>
                      <a:srgbClr val="F8FAFC"/>
                    </a:solidFill>
                  </a:tcPr>
                </a:tc>
                <a:tc>
                  <a:txBody>
                    <a:bodyPr/>
                    <a:lstStyle/>
                    <a:p>
                      <a:pPr>
                        <a:defRPr sz="1100">
                          <a:solidFill>
                            <a:srgbClr val="334155"/>
                          </a:solidFill>
                          <a:latin typeface="Arial"/>
                        </a:defRPr>
                      </a:pPr>
                      <a:r>
                        <a:t>Chiếm đoạt Session Token (Cookie Stealing) để mạo danh phiên làm việc.</a:t>
                      </a:r>
                    </a:p>
                  </a:txBody>
                  <a:tcPr>
                    <a:solidFill>
                      <a:srgbClr val="F8FAFC"/>
                    </a:solidFill>
                  </a:tcPr>
                </a:tc>
              </a:tr>
              <a:tr h="1211580">
                <a:tc>
                  <a:txBody>
                    <a:bodyPr/>
                    <a:lstStyle/>
                    <a:p>
                      <a:pPr>
                        <a:defRPr sz="1100">
                          <a:solidFill>
                            <a:srgbClr val="0F172A"/>
                          </a:solidFill>
                          <a:latin typeface="Arial"/>
                        </a:defRPr>
                      </a:pPr>
                      <a:r>
                        <a:t>Kịch bản 2: Bypass qua thẻ &lt;img&gt;</a:t>
                      </a:r>
                    </a:p>
                  </a:txBody>
                  <a:tcPr>
                    <a:solidFill>
                      <a:srgbClr val="FFFFFF"/>
                    </a:solidFill>
                  </a:tcPr>
                </a:tc>
                <a:tc>
                  <a:txBody>
                    <a:bodyPr/>
                    <a:lstStyle/>
                    <a:p>
                      <a:pPr>
                        <a:defRPr sz="1100" b="1">
                          <a:solidFill>
                            <a:srgbClr val="BE123C"/>
                          </a:solidFill>
                          <a:latin typeface="Courier New"/>
                        </a:defRPr>
                      </a:pPr>
                      <a:r>
                        <a:t>&lt;img src=x onerror=alert('XSS!')&gt;</a:t>
                      </a:r>
                    </a:p>
                  </a:txBody>
                  <a:tcPr>
                    <a:solidFill>
                      <a:srgbClr val="FFFFFF"/>
                    </a:solidFill>
                  </a:tcPr>
                </a:tc>
                <a:tc>
                  <a:txBody>
                    <a:bodyPr/>
                    <a:lstStyle/>
                    <a:p>
                      <a:pPr>
                        <a:defRPr sz="1100">
                          <a:solidFill>
                            <a:srgbClr val="334155"/>
                          </a:solidFill>
                          <a:latin typeface="Arial"/>
                        </a:defRPr>
                      </a:pPr>
                      <a:r>
                        <a:t>Khi đường dẫn ảnh bị lỗi (src=x), trình duyệt lập tức kích hoạt sự kiện onerror.</a:t>
                      </a:r>
                    </a:p>
                  </a:txBody>
                  <a:tcPr>
                    <a:solidFill>
                      <a:srgbClr val="FFFFFF"/>
                    </a:solidFill>
                  </a:tcPr>
                </a:tc>
                <a:tc>
                  <a:txBody>
                    <a:bodyPr/>
                    <a:lstStyle/>
                    <a:p>
                      <a:pPr>
                        <a:defRPr sz="1100">
                          <a:solidFill>
                            <a:srgbClr val="334155"/>
                          </a:solidFill>
                          <a:latin typeface="Arial"/>
                        </a:defRPr>
                      </a:pPr>
                      <a:r>
                        <a:t>Vượt qua các bộ lọc từ khóa đơn giản chỉ chặn chuỗi '&lt;script&gt;'.</a:t>
                      </a:r>
                    </a:p>
                  </a:txBody>
                  <a:tcPr>
                    <a:solidFill>
                      <a:srgbClr val="FFFFFF"/>
                    </a:solidFill>
                  </a:tcPr>
                </a:tc>
              </a:tr>
              <a:tr h="1211580">
                <a:tc>
                  <a:txBody>
                    <a:bodyPr/>
                    <a:lstStyle/>
                    <a:p>
                      <a:pPr>
                        <a:defRPr sz="1100">
                          <a:solidFill>
                            <a:srgbClr val="0F172A"/>
                          </a:solidFill>
                          <a:latin typeface="Arial"/>
                        </a:defRPr>
                      </a:pPr>
                      <a:r>
                        <a:t>Kịch bản chuẩn: Đánh giá hợp lệ</a:t>
                      </a:r>
                    </a:p>
                  </a:txBody>
                  <a:tcPr>
                    <a:solidFill>
                      <a:srgbClr val="F8FAFC"/>
                    </a:solidFill>
                  </a:tcPr>
                </a:tc>
                <a:tc>
                  <a:txBody>
                    <a:bodyPr/>
                    <a:lstStyle/>
                    <a:p>
                      <a:pPr>
                        <a:defRPr sz="1100" b="1">
                          <a:solidFill>
                            <a:srgbClr val="047857"/>
                          </a:solidFill>
                          <a:latin typeface="Courier New"/>
                        </a:defRPr>
                      </a:pPr>
                      <a:r>
                        <a:t>Dịch vụ tư vấn rất chuyên nghiệp, 5 sao!</a:t>
                      </a:r>
                    </a:p>
                  </a:txBody>
                  <a:tcPr>
                    <a:solidFill>
                      <a:srgbClr val="F8FAFC"/>
                    </a:solidFill>
                  </a:tcPr>
                </a:tc>
                <a:tc>
                  <a:txBody>
                    <a:bodyPr/>
                    <a:lstStyle/>
                    <a:p>
                      <a:pPr>
                        <a:defRPr sz="1100">
                          <a:solidFill>
                            <a:srgbClr val="334155"/>
                          </a:solidFill>
                          <a:latin typeface="Arial"/>
                        </a:defRPr>
                      </a:pPr>
                      <a:r>
                        <a:t>Văn bản thuần túy không chứa thẻ HTML hay kịch bản đặc biệt.</a:t>
                      </a:r>
                    </a:p>
                  </a:txBody>
                  <a:tcPr>
                    <a:solidFill>
                      <a:srgbClr val="F8FAFC"/>
                    </a:solidFill>
                  </a:tcPr>
                </a:tc>
                <a:tc>
                  <a:txBody>
                    <a:bodyPr/>
                    <a:lstStyle/>
                    <a:p>
                      <a:pPr>
                        <a:defRPr sz="1100">
                          <a:solidFill>
                            <a:srgbClr val="334155"/>
                          </a:solidFill>
                          <a:latin typeface="Arial"/>
                        </a:defRPr>
                      </a:pPr>
                      <a:r>
                        <a:t>Hiển thị bình thường trên cả 2 nhánh (Lỗi &amp; Đã phòng thủ).</a:t>
                      </a:r>
                    </a:p>
                  </a:txBody>
                  <a:tcPr>
                    <a:solidFill>
                      <a:srgbClr val="F8FA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2.3. Stored XSS: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xss_proof.png"/>
          <p:cNvPicPr>
            <a:picLocks noChangeAspect="1"/>
          </p:cNvPicPr>
          <p:nvPr/>
        </p:nvPicPr>
        <p:blipFill>
          <a:blip r:embed="rId2"/>
          <a:stretch>
            <a:fillRect/>
          </a:stretch>
        </p:blipFill>
        <p:spPr>
          <a:xfrm>
            <a:off x="2615184" y="1234440"/>
            <a:ext cx="6949440" cy="458470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BE123C"/>
                </a:solidFill>
                <a:latin typeface="Arial"/>
              </a:defRPr>
            </a:pPr>
            <a:r>
              <a:t>Minh chứng đối chứng chức năng Đánh giá: Nhánh dính lỗi kích hoạt popup Alert (Trái) vs Nhánh an toàn mã hóa HTML (Phải)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2.4. Stored XSS: Minh Chứng Kiểm Thử Qua Chrome DevTools (Cookie &amp; Console)</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2_xss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BE123C"/>
                </a:solidFill>
                <a:latin typeface="Arial"/>
              </a:defRPr>
            </a:pPr>
            <a:r>
              <a:t>Mô phỏng Lab: Nhánh vulnerable cấu hình HttpOnly = false để chứng minh JavaScript đọc trộm được Session Cookie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2.5. Stored XSS: Cơ Chế Phòng Thủ Chuẩn Trong ASP.NET Core</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Phòng Thủ Tầng View: Context-Aware Encoding</a:t>
            </a:r>
          </a:p>
          <a:p>
            <a:pPr>
              <a:spcBef>
                <a:spcPts val="800"/>
              </a:spcBef>
              <a:defRPr sz="1050" b="0">
                <a:solidFill>
                  <a:srgbClr val="065F46"/>
                </a:solidFill>
                <a:latin typeface="Courier New"/>
              </a:defRPr>
            </a:pPr>
            <a:r>
              <a:t>// CÚ PHÁP RAZOR VIEW MẶC ĐỊNH (KHÔNG DÙNG HTML.RAW):</a:t>
            </a:r>
            <a:br/>
            <a:r>
              <a:t>&lt;p&gt;@comment.Content&lt;/p&gt;</a:t>
            </a:r>
            <a:br/>
            <a:br/>
            <a:r>
              <a:t>// HOẶC MÃ HÓA TẠI CONTROLLER VỚI HTMLENCODER:</a:t>
            </a:r>
            <a:br/>
            <a:r>
              <a:t>string encoded = HtmlEncoder.Default.Encode(content);</a:t>
            </a:r>
            <a:br/>
            <a:r>
              <a:t>comment.Content = encoded;</a:t>
            </a:r>
          </a:p>
          <a:p>
            <a:pPr>
              <a:spcBef>
                <a:spcPts val="1200"/>
              </a:spcBef>
              <a:defRPr sz="1200" b="0">
                <a:solidFill>
                  <a:srgbClr val="334155"/>
                </a:solidFill>
                <a:latin typeface="Arial"/>
              </a:defRPr>
            </a:pPr>
            <a:r>
              <a:t>Cơ chế chuyển đổi thực thể HTML:</a:t>
            </a:r>
            <a:br/>
            <a:r>
              <a:t>• Ký tự '&lt;' biến đổi thành &amp;lt;</a:t>
            </a:r>
            <a:br/>
            <a:r>
              <a:t>• Ký tự '&gt;' biến đổi thành &amp;gt;</a:t>
            </a:r>
            <a:br/>
            <a:r>
              <a:t>Trình duyệt hiển thị dưới dạng văn bản thuần túy, loại bỏ hoàn toàn khả năng thực thi mã kịch bản.</a:t>
            </a:r>
          </a:p>
        </p:txBody>
      </p:sp>
      <p:sp>
        <p:nvSpPr>
          <p:cNvPr id="7" name="Rounded Rectangle 6"/>
          <p:cNvSpPr/>
          <p:nvPr/>
        </p:nvSpPr>
        <p:spPr>
          <a:xfrm>
            <a:off x="626364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Phòng Thủ Tầng Cookie &amp; Header (Khuyến Nghị)</a:t>
            </a:r>
          </a:p>
          <a:p>
            <a:pPr>
              <a:spcBef>
                <a:spcPts val="600"/>
              </a:spcBef>
              <a:defRPr sz="1000" b="0">
                <a:solidFill>
                  <a:srgbClr val="0F172A"/>
                </a:solidFill>
                <a:latin typeface="Courier New"/>
              </a:defRPr>
            </a:pPr>
            <a:r>
              <a:t>// CẤU HÌNH COOKIE AN TOÀN TRONG SẢN PHẨM THẬT:</a:t>
            </a:r>
            <a:br/>
            <a:r>
              <a:t>Response.Cookies.Append("AuthSessionToken", token, new CookieOptions</a:t>
            </a:r>
            <a:br/>
            <a:r>
              <a:t>{</a:t>
            </a:r>
            <a:br/>
            <a:r>
              <a:t>    HttpOnly = true, // CẤM JAVASCRIPT ĐỌC TRỘM</a:t>
            </a:r>
            <a:br/>
            <a:r>
              <a:t>    Secure = true,   // BẮT BUỘC TRUYỀN QUA HTTPS</a:t>
            </a:r>
            <a:br/>
            <a:r>
              <a:t>    SameSite = SameSiteMode.Strict</a:t>
            </a:r>
            <a:br/>
            <a:r>
              <a:t>});</a:t>
            </a:r>
          </a:p>
          <a:p>
            <a:pPr>
              <a:spcBef>
                <a:spcPts val="1000"/>
              </a:spcBef>
              <a:defRPr sz="1200" b="0">
                <a:solidFill>
                  <a:srgbClr val="334155"/>
                </a:solidFill>
                <a:latin typeface="Arial"/>
              </a:defRPr>
            </a:pPr>
            <a:r>
              <a:t>Chính sách Content Security Policy (CSP Header):</a:t>
            </a:r>
            <a:br/>
            <a:r>
              <a:t>Thiết lập HTTP Header 'script-src self' ngăn cấm trình duyệt thực thi inline script, tạo thêm lớp bảo vệ vững chắc ngay cả khi có sơ hở ở tầng 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3.1. CSRF Attack: Bản Chất Kỹ Thuật &amp; Phân Loại OWASP</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Bản Chất Kỹ Thuật Của Tấn Công CSRF</a:t>
            </a:r>
          </a:p>
          <a:p>
            <a:pPr>
              <a:spcBef>
                <a:spcPts val="800"/>
              </a:spcBef>
              <a:defRPr sz="1250" b="1">
                <a:solidFill>
                  <a:srgbClr val="BE123C"/>
                </a:solidFill>
                <a:latin typeface="Arial"/>
              </a:defRPr>
            </a:pPr>
            <a:r>
              <a:t>• Phân loại chuẩn OWASP: CSRF không phải một mục riêng lẻ trong OWASP Top 10 2021; nó liên quan trực tiếp đến A01:2021 – Broken Access Control và cơ chế xác thực phiên.</a:t>
            </a:r>
          </a:p>
          <a:p>
            <a:pPr>
              <a:spcBef>
                <a:spcPts val="800"/>
              </a:spcBef>
              <a:defRPr sz="1200" b="0">
                <a:solidFill>
                  <a:srgbClr val="334155"/>
                </a:solidFill>
                <a:latin typeface="Arial"/>
              </a:defRPr>
            </a:pPr>
            <a:r>
              <a:t>• Cơ chế mượn quyền:</a:t>
            </a:r>
            <a:br/>
            <a:r>
              <a:t>  1. Nạn nhân có phiên làm việc hợp lệ (Cookie xác thực còn hiệu lực trên trình duyệt).</a:t>
            </a:r>
            <a:br/>
            <a:r>
              <a:t>  2. Trình duyệt tự động đính kèm Cookie xác thực theo mọi HTTP Request gửi tới ứng dụng mục tiêu.</a:t>
            </a:r>
            <a:br/>
            <a:r>
              <a:t>  3. Kẻ tấn công lừa nạn nhân truy cập một trang web nguồn gốc chéo (Cross-Origin Attacker Site).</a:t>
            </a:r>
            <a:br/>
            <a:r>
              <a:t>• Điểm mù: Máy chủ chỉ xác thực Cookie mà không kiểm tra nguồn gốc phát sinh Request.</a:t>
            </a:r>
          </a:p>
        </p:txBody>
      </p:sp>
      <p:sp>
        <p:nvSpPr>
          <p:cNvPr id="7" name="Rounded Rectangle 6"/>
          <p:cNvSpPr/>
          <p:nvPr/>
        </p:nvSpPr>
        <p:spPr>
          <a:xfrm>
            <a:off x="6263640" y="128016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Action Xử Lý Giao Dịch Thiếu Kiểm Soát</a:t>
            </a:r>
          </a:p>
          <a:p>
            <a:pPr>
              <a:spcBef>
                <a:spcPts val="800"/>
              </a:spcBef>
              <a:defRPr sz="1000" b="0">
                <a:solidFill>
                  <a:srgbClr val="9F1239"/>
                </a:solidFill>
                <a:latin typeface="Courier New"/>
              </a:defRPr>
            </a:pPr>
            <a:r>
              <a:t>// ACTION NHẬN YÊU CẦU KHÔNG CÓ BẢO VỆ TOKEN:</a:t>
            </a:r>
            <a:br/>
            <a:r>
              <a:t>[HttpPost]</a:t>
            </a:r>
            <a:br/>
            <a:r>
              <a:t>public IActionResult TransferVulnerable(decimal amount)</a:t>
            </a:r>
            <a:br/>
            <a:r>
              <a:t>{</a:t>
            </a:r>
            <a:br/>
            <a:r>
              <a:t>    var victim = _context.Wallets.Find(1);</a:t>
            </a:r>
            <a:br/>
            <a:r>
              <a:t>    var hacker = _context.Wallets.Find(2);</a:t>
            </a:r>
            <a:br/>
            <a:r>
              <a:t>    </a:t>
            </a:r>
            <a:br/>
            <a:r>
              <a:t>    victim.Balance -= amount;</a:t>
            </a:r>
            <a:br/>
            <a:r>
              <a:t>    hacker.Balance += amount;</a:t>
            </a:r>
            <a:br/>
            <a:r>
              <a:t>    _context.SaveChanges();</a:t>
            </a:r>
            <a:br/>
            <a:r>
              <a:t>    return RedirectToAction("Index");</a:t>
            </a:r>
            <a:br/>
            <a:r>
              <a:t>}</a:t>
            </a:r>
          </a:p>
          <a:p>
            <a:pPr>
              <a:spcBef>
                <a:spcPts val="1000"/>
              </a:spcBef>
              <a:defRPr sz="1200" b="1">
                <a:solidFill>
                  <a:srgbClr val="0F172A"/>
                </a:solidFill>
                <a:latin typeface="Arial"/>
              </a:defRPr>
            </a:pPr>
            <a:r>
              <a:t>Khi Action thiếu thuộc tính [ValidateAntiForgeryToken], yêu cầu POST bắt nguồn từ một website khác vẫn được thực thi do trình duyệt tự động kẹp theo Cookie của nạn nhân.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3.2. CSRF Attack: Kịch Bản Khai Thác Qua Biểu Mẫu Ẩn</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10728655"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BE123C"/>
                </a:solidFill>
                <a:latin typeface="Arial"/>
              </a:defRPr>
            </a:pPr>
            <a:r>
              <a:t>Kịch Bản: Trang Web Giả Mạo Điều Khiển Yêu Cầu Chuyển Tiền</a:t>
            </a:r>
          </a:p>
          <a:p>
            <a:pPr>
              <a:spcBef>
                <a:spcPts val="800"/>
              </a:spcBef>
              <a:defRPr sz="1300" b="0">
                <a:solidFill>
                  <a:srgbClr val="334155"/>
                </a:solidFill>
                <a:latin typeface="Arial"/>
              </a:defRPr>
            </a:pPr>
            <a:r>
              <a:t>1. Nạn nhân có phiên làm việc đang hoạt động trên hệ thống tư vấn trực tuyến.</a:t>
            </a:r>
            <a:br/>
            <a:r>
              <a:t>2. Nạn nhân được dẫn dụ truy cập một trang web độc hại ở một tab khác (AttackerSite.cshtml).</a:t>
            </a:r>
            <a:br/>
            <a:r>
              <a:t>3. Trang web độc hại chứa một biểu mẫu ẩn trỏ trực tiếp tới địa chỉ nhận lệnh của ứng dụng mục tiêu:</a:t>
            </a:r>
          </a:p>
          <a:p>
            <a:pPr>
              <a:spcBef>
                <a:spcPts val="600"/>
              </a:spcBef>
              <a:defRPr sz="1100" b="1">
                <a:solidFill>
                  <a:srgbClr val="9F1239"/>
                </a:solidFill>
                <a:latin typeface="Courier New"/>
              </a:defRPr>
            </a:pPr>
            <a:r>
              <a:t>&lt;!-- BIỂU MẪU ẨN TRÊN TRANG WEB CỦA KẺ TẤN CÔNG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latin typeface="Arial"/>
              </a:defRPr>
            </a:pPr>
            <a:r>
              <a:t>Hậu quả thực tế: Giao dịch chuyển tiền được thực thi hoàn toàn tự động mà không có sự đồng thuận chủ động của người dùng, làm thay đổi số dư ví tài khoản.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3.3. CSRF Attack: Minh Chứng Thực Nghiệm Trực Quan Trên Web UI</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final_csrf_proof.png"/>
          <p:cNvPicPr>
            <a:picLocks noChangeAspect="1"/>
          </p:cNvPicPr>
          <p:nvPr/>
        </p:nvPicPr>
        <p:blipFill>
          <a:blip r:embed="rId2"/>
          <a:stretch>
            <a:fillRect/>
          </a:stretch>
        </p:blipFill>
        <p:spPr>
          <a:xfrm>
            <a:off x="2523744" y="1234440"/>
            <a:ext cx="7132320" cy="4585063"/>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047857"/>
                </a:solidFill>
                <a:latin typeface="Arial"/>
              </a:defRPr>
            </a:pPr>
            <a:r>
              <a:t>Minh chứng đối chứng: Mô phỏng giao dịch trái phép 20.000.000 VNĐ trong lab (Trái) vs Chặn đứng yêu cầu thiếu Token (Phải)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3.4. CSRF Attack: Minh Chứng Gói Tin Mạng (Chrome DevTools Headers)</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3_csrf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5989320"/>
            <a:ext cx="10728655" cy="365760"/>
          </a:xfrm>
          <a:prstGeom prst="rect">
            <a:avLst/>
          </a:prstGeom>
          <a:noFill/>
        </p:spPr>
        <p:txBody>
          <a:bodyPr wrap="none">
            <a:spAutoFit/>
          </a:bodyPr>
          <a:lstStyle/>
          <a:p>
            <a:pPr algn="ctr">
              <a:defRPr sz="1100" b="1">
                <a:solidFill>
                  <a:srgbClr val="047857"/>
                </a:solidFill>
                <a:latin typeface="Arial"/>
              </a:defRPr>
            </a:pPr>
            <a:r>
              <a:t>Soi gói tin HTTP POST gửi ngầm từ Attacker Site: Đính kèm Cookie tự động nhưng thiếu hoàn toàn Anti-Forgery Token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3.5. CSRF Attack: Cơ Chế Phòng Thủ Bằng Anti-Forgery Token</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8016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Mô Hình Synchronizer Token Pattern</a:t>
            </a:r>
          </a:p>
          <a:p>
            <a:pPr>
              <a:spcBef>
                <a:spcPts val="800"/>
              </a:spcBef>
              <a:defRPr sz="950" b="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a:p>
            <a:pPr>
              <a:spcBef>
                <a:spcPts val="800"/>
              </a:spcBef>
              <a:defRPr sz="1150" b="0">
                <a:solidFill>
                  <a:srgbClr val="334155"/>
                </a:solidFill>
                <a:latin typeface="Arial"/>
              </a:defRPr>
            </a:pPr>
            <a:r>
              <a:t>Cơ chế bảo vệ:</a:t>
            </a:r>
            <a:br/>
            <a:r>
              <a:t>Máy chủ phát hành một cặp token: một lưu trong Cookie và một nhúng vào biểu mẫu. Trang web độc hại bị chặn đọc token bởi chính sách Same-Origin Policy (SOP).</a:t>
            </a:r>
          </a:p>
        </p:txBody>
      </p:sp>
      <p:sp>
        <p:nvSpPr>
          <p:cNvPr id="7" name="Rounded Rectangle 6"/>
          <p:cNvSpPr/>
          <p:nvPr/>
        </p:nvSpPr>
        <p:spPr>
          <a:xfrm>
            <a:off x="6263640" y="128016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Tích Hợp Token Trong Fetch API (Slide Buổi 9)</a:t>
            </a:r>
          </a:p>
          <a:p>
            <a:pPr>
              <a:spcBef>
                <a:spcPts val="800"/>
              </a:spcBef>
              <a:defRPr sz="950" b="0">
                <a:solidFill>
                  <a:srgbClr val="0F172A"/>
                </a:solidFill>
                <a:latin typeface="Courier New"/>
              </a:defRPr>
            </a:pPr>
            <a:r>
              <a:t>// TRÍCH XUẤT VÀ GỬI TOKEN QUA HTTP HEADER:</a:t>
            </a:r>
            <a:br/>
            <a:r>
              <a:t>const token = document.querySelector('input[name="__RequestVerificationToken"]').value;</a:t>
            </a:r>
            <a:br/>
            <a:br/>
            <a:r>
              <a:t>fetch('/Csrf/TransferAjax', {</a:t>
            </a:r>
            <a:br/>
            <a:r>
              <a:t>    method: 'POST',</a:t>
            </a:r>
            <a:br/>
            <a:r>
              <a:t>    headers: {</a:t>
            </a:r>
            <a:br/>
            <a:r>
              <a:t>        'Content-Type': 'application/json',</a:t>
            </a:r>
            <a:br/>
            <a:r>
              <a:t>        'RequestVerificationToken': token // HEADER BẢO VỆ</a:t>
            </a:r>
            <a:br/>
            <a:r>
              <a:t>    },</a:t>
            </a:r>
            <a:br/>
            <a:r>
              <a:t>    body: JSON.stringify({ amount: 5000000 })</a:t>
            </a:r>
            <a:br/>
            <a:r>
              <a:t>})</a:t>
            </a:r>
            <a:br/>
            <a:r>
              <a:t>.then(response =&gt; response.json());</a:t>
            </a:r>
          </a:p>
          <a:p>
            <a:pPr>
              <a:spcBef>
                <a:spcPts val="800"/>
              </a:spcBef>
              <a:defRPr sz="1150" b="0">
                <a:solidFill>
                  <a:srgbClr val="334155"/>
                </a:solidFill>
                <a:latin typeface="Arial"/>
              </a:defRPr>
            </a:pPr>
            <a:r>
              <a:t>Ứng dụng trong thực tế:</a:t>
            </a:r>
            <a:br/>
            <a:r>
              <a:t>Đối với các tác vụ gọi AJAX không tải lại trang, token được đọc từ thẻ ẩn và truyền qua HTTP Header để đảm bảo vừa tiện dụng vừa an toàn.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Tổng Kết: Bài Học Kỹ Thuật &amp; Bảng Đối Chiếu Phòng Thủ</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graphicFrame>
        <p:nvGraphicFramePr>
          <p:cNvPr id="6" name="Table 5"/>
          <p:cNvGraphicFramePr>
            <a:graphicFrameLocks noGrp="1"/>
          </p:cNvGraphicFramePr>
          <p:nvPr/>
        </p:nvGraphicFramePr>
        <p:xfrm>
          <a:off x="731520" y="1371600"/>
          <a:ext cx="10728655" cy="4754880"/>
        </p:xfrm>
        <a:graphic>
          <a:graphicData uri="http://schemas.openxmlformats.org/drawingml/2006/table">
            <a:tbl>
              <a:tblPr firstRow="1" bandRow="1">
                <a:tableStyleId>{5C22544A-7EE6-4342-B048-85BDC9FD1C3A}</a:tableStyleId>
              </a:tblPr>
              <a:tblGrid>
                <a:gridCol w="2682163"/>
                <a:gridCol w="2682163"/>
                <a:gridCol w="2682163"/>
                <a:gridCol w="2682166"/>
              </a:tblGrid>
              <a:tr h="1188720">
                <a:tc>
                  <a:txBody>
                    <a:bodyPr/>
                    <a:lstStyle/>
                    <a:p>
                      <a:pPr>
                        <a:defRPr b="1" sz="1200">
                          <a:solidFill>
                            <a:srgbClr val="FFFFFF"/>
                          </a:solidFill>
                          <a:latin typeface="Arial"/>
                        </a:defRPr>
                      </a:pPr>
                      <a:r>
                        <a:t>Lỗ hổng an ninh</a:t>
                      </a:r>
                    </a:p>
                  </a:txBody>
                  <a:tcPr>
                    <a:solidFill>
                      <a:srgbClr val="1D4ED8"/>
                    </a:solidFill>
                  </a:tcPr>
                </a:tc>
                <a:tc>
                  <a:txBody>
                    <a:bodyPr/>
                    <a:lstStyle/>
                    <a:p>
                      <a:pPr>
                        <a:defRPr b="1" sz="1200">
                          <a:solidFill>
                            <a:srgbClr val="FFFFFF"/>
                          </a:solidFill>
                          <a:latin typeface="Arial"/>
                        </a:defRPr>
                      </a:pPr>
                      <a:r>
                        <a:t>Nguyên nhân cốt lõi</a:t>
                      </a:r>
                    </a:p>
                  </a:txBody>
                  <a:tcPr>
                    <a:solidFill>
                      <a:srgbClr val="1D4ED8"/>
                    </a:solidFill>
                  </a:tcPr>
                </a:tc>
                <a:tc>
                  <a:txBody>
                    <a:bodyPr/>
                    <a:lstStyle/>
                    <a:p>
                      <a:pPr>
                        <a:defRPr b="1" sz="1200">
                          <a:solidFill>
                            <a:srgbClr val="FFFFFF"/>
                          </a:solidFill>
                          <a:latin typeface="Arial"/>
                        </a:defRPr>
                      </a:pPr>
                      <a:r>
                        <a:t>Cơ chế phòng thủ chuẩn</a:t>
                      </a:r>
                    </a:p>
                  </a:txBody>
                  <a:tcPr>
                    <a:solidFill>
                      <a:srgbClr val="1D4ED8"/>
                    </a:solidFill>
                  </a:tcPr>
                </a:tc>
                <a:tc>
                  <a:txBody>
                    <a:bodyPr/>
                    <a:lstStyle/>
                    <a:p>
                      <a:pPr>
                        <a:defRPr b="1" sz="1200">
                          <a:solidFill>
                            <a:srgbClr val="FFFFFF"/>
                          </a:solidFill>
                          <a:latin typeface="Arial"/>
                        </a:defRPr>
                      </a:pPr>
                      <a:r>
                        <a:t>Thành viên phụ trách</a:t>
                      </a:r>
                    </a:p>
                  </a:txBody>
                  <a:tcPr>
                    <a:solidFill>
                      <a:srgbClr val="1D4ED8"/>
                    </a:solidFill>
                  </a:tcPr>
                </a:tc>
              </a:tr>
              <a:tr h="1188720">
                <a:tc>
                  <a:txBody>
                    <a:bodyPr/>
                    <a:lstStyle/>
                    <a:p>
                      <a:pPr>
                        <a:defRPr sz="1100" b="1">
                          <a:solidFill>
                            <a:srgbClr val="0F172A"/>
                          </a:solidFill>
                          <a:latin typeface="Arial"/>
                        </a:defRPr>
                      </a:pPr>
                      <a:r>
                        <a:t>SQL Injection</a:t>
                      </a:r>
                      <a:br/>
                      <a:r>
                        <a:t>(A03:2021)</a:t>
                      </a:r>
                    </a:p>
                  </a:txBody>
                  <a:tcPr>
                    <a:solidFill>
                      <a:srgbClr val="F8FAFC"/>
                    </a:solidFill>
                  </a:tcPr>
                </a:tc>
                <a:tc>
                  <a:txBody>
                    <a:bodyPr/>
                    <a:lstStyle/>
                    <a:p>
                      <a:pPr>
                        <a:defRPr sz="1100">
                          <a:solidFill>
                            <a:srgbClr val="334155"/>
                          </a:solidFill>
                          <a:latin typeface="Arial"/>
                        </a:defRPr>
                      </a:pPr>
                      <a:r>
                        <a:t>Ghép chuỗi đầu vào trực tiếp vào câu lệnh SQL.</a:t>
                      </a:r>
                    </a:p>
                  </a:txBody>
                  <a:tcPr>
                    <a:solidFill>
                      <a:srgbClr val="F8FAFC"/>
                    </a:solidFill>
                  </a:tcPr>
                </a:tc>
                <a:tc>
                  <a:txBody>
                    <a:bodyPr/>
                    <a:lstStyle/>
                    <a:p>
                      <a:pPr>
                        <a:defRPr sz="1100" b="1">
                          <a:solidFill>
                            <a:srgbClr val="047857"/>
                          </a:solidFill>
                          <a:latin typeface="Arial"/>
                        </a:defRPr>
                      </a:pPr>
                      <a:r>
                        <a:t>Parameterized Query (EF Core LINQ) + Nguyên tắc đặc quyền tối thiểu.</a:t>
                      </a:r>
                    </a:p>
                  </a:txBody>
                  <a:tcPr>
                    <a:solidFill>
                      <a:srgbClr val="F8FAFC"/>
                    </a:solidFill>
                  </a:tcPr>
                </a:tc>
                <a:tc>
                  <a:txBody>
                    <a:bodyPr/>
                    <a:lstStyle/>
                    <a:p>
                      <a:pPr>
                        <a:defRPr sz="1100">
                          <a:solidFill>
                            <a:srgbClr val="0F172A"/>
                          </a:solidFill>
                          <a:latin typeface="Arial"/>
                        </a:defRPr>
                      </a:pPr>
                      <a:r>
                        <a:t>Nguyễn Danh Học</a:t>
                      </a:r>
                      <a:br/>
                      <a:r>
                        <a:t>(23A1001D0158)</a:t>
                      </a:r>
                    </a:p>
                  </a:txBody>
                  <a:tcPr>
                    <a:solidFill>
                      <a:srgbClr val="F8FAFC"/>
                    </a:solidFill>
                  </a:tcPr>
                </a:tc>
              </a:tr>
              <a:tr h="1188720">
                <a:tc>
                  <a:txBody>
                    <a:bodyPr/>
                    <a:lstStyle/>
                    <a:p>
                      <a:pPr>
                        <a:defRPr sz="1100" b="1">
                          <a:solidFill>
                            <a:srgbClr val="0F172A"/>
                          </a:solidFill>
                          <a:latin typeface="Arial"/>
                        </a:defRPr>
                      </a:pPr>
                      <a:r>
                        <a:t>Stored XSS</a:t>
                      </a:r>
                      <a:br/>
                      <a:r>
                        <a:t>(A03:2021)</a:t>
                      </a:r>
                    </a:p>
                  </a:txBody>
                  <a:tcPr>
                    <a:solidFill>
                      <a:srgbClr val="FFFFFF"/>
                    </a:solidFill>
                  </a:tcPr>
                </a:tc>
                <a:tc>
                  <a:txBody>
                    <a:bodyPr/>
                    <a:lstStyle/>
                    <a:p>
                      <a:pPr>
                        <a:defRPr sz="1100">
                          <a:solidFill>
                            <a:srgbClr val="334155"/>
                          </a:solidFill>
                          <a:latin typeface="Arial"/>
                        </a:defRPr>
                      </a:pPr>
                      <a:r>
                        <a:t>Lưu trữ script độc hại vào CSDL &amp; render thô bằng @Html.Raw().</a:t>
                      </a:r>
                    </a:p>
                  </a:txBody>
                  <a:tcPr>
                    <a:solidFill>
                      <a:srgbClr val="FFFFFF"/>
                    </a:solidFill>
                  </a:tcPr>
                </a:tc>
                <a:tc>
                  <a:txBody>
                    <a:bodyPr/>
                    <a:lstStyle/>
                    <a:p>
                      <a:pPr>
                        <a:defRPr sz="1100" b="1">
                          <a:solidFill>
                            <a:srgbClr val="047857"/>
                          </a:solidFill>
                          <a:latin typeface="Arial"/>
                        </a:defRPr>
                      </a:pPr>
                      <a:r>
                        <a:t>Context-Aware HTML Encoding (@model.Property) + HttpOnly Cookie.</a:t>
                      </a:r>
                    </a:p>
                  </a:txBody>
                  <a:tcPr>
                    <a:solidFill>
                      <a:srgbClr val="FFFFFF"/>
                    </a:solidFill>
                  </a:tcPr>
                </a:tc>
                <a:tc>
                  <a:txBody>
                    <a:bodyPr/>
                    <a:lstStyle/>
                    <a:p>
                      <a:pPr>
                        <a:defRPr sz="1100">
                          <a:solidFill>
                            <a:srgbClr val="0F172A"/>
                          </a:solidFill>
                          <a:latin typeface="Arial"/>
                        </a:defRPr>
                      </a:pPr>
                      <a:r>
                        <a:t>Nguyễn Thanh Bình</a:t>
                      </a:r>
                      <a:br/>
                      <a:r>
                        <a:t>(23A1001D0041)</a:t>
                      </a:r>
                    </a:p>
                  </a:txBody>
                  <a:tcPr>
                    <a:solidFill>
                      <a:srgbClr val="FFFFFF"/>
                    </a:solidFill>
                  </a:tcPr>
                </a:tc>
              </a:tr>
              <a:tr h="1188720">
                <a:tc>
                  <a:txBody>
                    <a:bodyPr/>
                    <a:lstStyle/>
                    <a:p>
                      <a:pPr>
                        <a:defRPr sz="1100" b="1">
                          <a:solidFill>
                            <a:srgbClr val="0F172A"/>
                          </a:solidFill>
                          <a:latin typeface="Arial"/>
                        </a:defRPr>
                      </a:pPr>
                      <a:r>
                        <a:t>CSRF Attack</a:t>
                      </a:r>
                      <a:br/>
                      <a:r>
                        <a:t>(A01:2021 / Session)</a:t>
                      </a:r>
                    </a:p>
                  </a:txBody>
                  <a:tcPr>
                    <a:solidFill>
                      <a:srgbClr val="F8FAFC"/>
                    </a:solidFill>
                  </a:tcPr>
                </a:tc>
                <a:tc>
                  <a:txBody>
                    <a:bodyPr/>
                    <a:lstStyle/>
                    <a:p>
                      <a:pPr>
                        <a:defRPr sz="1100">
                          <a:solidFill>
                            <a:srgbClr val="334155"/>
                          </a:solidFill>
                          <a:latin typeface="Arial"/>
                        </a:defRPr>
                      </a:pPr>
                      <a:r>
                        <a:t>Máy chủ chỉ kiểm tra Cookie mà không xác thực nguồn gốc Request.</a:t>
                      </a:r>
                    </a:p>
                  </a:txBody>
                  <a:tcPr>
                    <a:solidFill>
                      <a:srgbClr val="F8FAFC"/>
                    </a:solidFill>
                  </a:tcPr>
                </a:tc>
                <a:tc>
                  <a:txBody>
                    <a:bodyPr/>
                    <a:lstStyle/>
                    <a:p>
                      <a:pPr>
                        <a:defRPr sz="1100" b="1">
                          <a:solidFill>
                            <a:srgbClr val="047857"/>
                          </a:solidFill>
                          <a:latin typeface="Arial"/>
                        </a:defRPr>
                      </a:pPr>
                      <a:r>
                        <a:t>Synchronizer Token Pattern (@Html.AntiForgeryToken() / Header).</a:t>
                      </a:r>
                    </a:p>
                  </a:txBody>
                  <a:tcPr>
                    <a:solidFill>
                      <a:srgbClr val="F8FAFC"/>
                    </a:solidFill>
                  </a:tcPr>
                </a:tc>
                <a:tc>
                  <a:txBody>
                    <a:bodyPr/>
                    <a:lstStyle/>
                    <a:p>
                      <a:pPr>
                        <a:defRPr sz="1100">
                          <a:solidFill>
                            <a:srgbClr val="0F172A"/>
                          </a:solidFill>
                          <a:latin typeface="Arial"/>
                        </a:defRPr>
                      </a:pPr>
                      <a:r>
                        <a:t>Nguyễn Minh Cường</a:t>
                      </a:r>
                      <a:br/>
                      <a:r>
                        <a:t>(23A1001D0058)</a:t>
                      </a:r>
                    </a:p>
                  </a:txBody>
                  <a:tcPr>
                    <a:solidFill>
                      <a:srgbClr val="F8FAF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75488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Kết Luận Báo Cáo Thực Nghiệm OWASP Top 10</a:t>
            </a:r>
          </a:p>
        </p:txBody>
      </p:sp>
      <p:sp>
        <p:nvSpPr>
          <p:cNvPr id="5" name="TextBox 4"/>
          <p:cNvSpPr txBox="1"/>
          <p:nvPr/>
        </p:nvSpPr>
        <p:spPr>
          <a:xfrm>
            <a:off x="731520" y="6537960"/>
            <a:ext cx="10698480" cy="256032"/>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914400" y="1371600"/>
            <a:ext cx="10362895"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D4ED8"/>
                </a:solidFill>
                <a:latin typeface="Arial"/>
              </a:defRPr>
            </a:pPr>
            <a:r>
              <a:t>KẾT LUẬN &amp; CAM KẾT CHUẨN BẢO MẬT (NHÓM WNC.G01)</a:t>
            </a:r>
          </a:p>
          <a:p>
            <a:pPr>
              <a:spcBef>
                <a:spcPts val="1400"/>
              </a:spcBef>
              <a:defRPr sz="1300" b="0">
                <a:solidFill>
                  <a:srgbClr val="334155"/>
                </a:solidFill>
                <a:latin typeface="Arial"/>
              </a:defRPr>
            </a:pPr>
            <a:r>
              <a:t>1. Thực nghiệm trực quan: Nhóm đã chứng minh rõ cơ chế khai thác và mức độ rủi ro của từng lỗ hổng trên cả 3 tầng: Giao diện Web, Gói tin mạng (Chrome DevTools) và Cơ sở dữ liệu (SQL Server 2025).</a:t>
            </a:r>
          </a:p>
          <a:p>
            <a:pPr>
              <a:spcBef>
                <a:spcPts val="1200"/>
              </a:spcBef>
              <a:defRPr sz="1300" b="0">
                <a:solidFill>
                  <a:srgbClr val="334155"/>
                </a:solidFill>
                <a:latin typeface="Arial"/>
              </a:defRPr>
            </a:pPr>
            <a:r>
              <a:t>2. Phòng thủ đa tầng (Security View): Các cơ chế phòng thủ (EF Core Parameterized, Razor HTML Encoding, Anti-Forgery Token) được tích hợp trực tiếp vào kiến trúc nền tảng của Đồ án BTL Website Tư Vấn Trực Tuyến.</a:t>
            </a:r>
          </a:p>
          <a:p>
            <a:pPr>
              <a:spcBef>
                <a:spcPts val="1200"/>
              </a:spcBef>
              <a:defRPr sz="1300" b="0">
                <a:solidFill>
                  <a:srgbClr val="334155"/>
                </a:solidFill>
                <a:latin typeface="Arial"/>
              </a:defRPr>
            </a:pPr>
            <a:r>
              <a:t>3. Đóng góp đồng đều: Cả 3 thành viên đều trực tiếp xây dựng mã nguồn, kiểm thử đối chứng và phân tích chuyên môn độc lập.</a:t>
            </a:r>
          </a:p>
          <a:p>
            <a:br/>
            <a:pPr>
              <a:spcBef>
                <a:spcPts val="2400"/>
              </a:spcBef>
              <a:defRPr sz="1500" b="1">
                <a:solidFill>
                  <a:srgbClr val="BE123C"/>
                </a:solidFill>
                <a:latin typeface="Arial"/>
              </a:defRPr>
            </a:pPr>
            <a:r>
              <a:t>Kính chúc thầy sức khỏe và công tác tốt. Nhóm WNC.G01 xin trân trọng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