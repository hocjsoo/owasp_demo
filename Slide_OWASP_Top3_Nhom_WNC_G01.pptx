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640080"/>
            <a:ext cx="5303520" cy="384048"/>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D4ED8"/>
                </a:solidFill>
              </a:defRPr>
            </a:pPr>
            <a:r>
              <a:t>TRƯỜNG ĐẠI HỌC MỞ HÀ NỘI — KHOA CÔNG NGHỆ THÔNG TIN</a:t>
            </a:r>
          </a:p>
        </p:txBody>
      </p:sp>
      <p:sp>
        <p:nvSpPr>
          <p:cNvPr id="4" name="TextBox 3"/>
          <p:cNvSpPr txBox="1"/>
          <p:nvPr/>
        </p:nvSpPr>
        <p:spPr>
          <a:xfrm>
            <a:off x="914400" y="1143000"/>
            <a:ext cx="10362895" cy="2926080"/>
          </a:xfrm>
          <a:prstGeom prst="rect">
            <a:avLst/>
          </a:prstGeom>
          <a:noFill/>
        </p:spPr>
        <p:txBody>
          <a:bodyPr wrap="square">
            <a:spAutoFit/>
          </a:bodyPr>
          <a:lstStyle/>
          <a:p>
            <a:pPr>
              <a:defRPr sz="1500" b="1">
                <a:solidFill>
                  <a:srgbClr val="BE123C"/>
                </a:solidFill>
              </a:defRPr>
            </a:pPr>
            <a:r>
              <a:t>BÁO CÁO THỰC NGHIỆM AN TOÀN WEB (OWASP TOP 10)</a:t>
            </a:r>
          </a:p>
          <a:p>
            <a:pPr>
              <a:spcBef>
                <a:spcPts val="800"/>
              </a:spcBef>
              <a:defRPr sz="2800" b="1">
                <a:solidFill>
                  <a:srgbClr val="0F172A"/>
                </a:solidFill>
              </a:defRPr>
            </a:pPr>
            <a:r>
              <a:t>Nghiên Cứu Thực Nghiệm Lỗ Hổng Web &amp; Cơ Chế Phòng Thủ</a:t>
            </a:r>
            <a:br/>
            <a:r>
              <a:t>(SQL Injection • Stored XSS • CSRF Attack)</a:t>
            </a:r>
          </a:p>
          <a:p>
            <a:pPr>
              <a:spcBef>
                <a:spcPts val="800"/>
              </a:spcBef>
              <a:defRPr sz="1350">
                <a:solidFill>
                  <a:srgbClr val="334155"/>
                </a:solidFill>
              </a:defRPr>
            </a:pPr>
            <a:r>
              <a:t>Học phần: Lập trình Web nâng cao  •  Giảng viên hướng dẫn: ThS. Lê Hữu Dũng</a:t>
            </a:r>
          </a:p>
        </p:txBody>
      </p:sp>
      <p:sp>
        <p:nvSpPr>
          <p:cNvPr id="5" name="Rounded Rectangle 4"/>
          <p:cNvSpPr/>
          <p:nvPr/>
        </p:nvSpPr>
        <p:spPr>
          <a:xfrm>
            <a:off x="914400" y="4297680"/>
            <a:ext cx="3328416" cy="18288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D4ED8"/>
                </a:solidFill>
              </a:defRPr>
            </a:pPr>
            <a:r>
              <a:t>CHỦ ĐỀ 1: SQL INJECTION</a:t>
            </a:r>
          </a:p>
          <a:p>
            <a:pPr>
              <a:spcBef>
                <a:spcPts val="400"/>
              </a:spcBef>
              <a:defRPr sz="1200">
                <a:solidFill>
                  <a:srgbClr val="0F172A"/>
                </a:solidFill>
              </a:defRPr>
            </a:pPr>
            <a:r>
              <a:t>Nguyễn Danh Học</a:t>
            </a:r>
            <a:br/>
            <a:r>
              <a:t>MSV: 23A1001D0158</a:t>
            </a:r>
            <a:br/>
            <a:r>
              <a:t>Trưởng nhóm • Phụ trách CSDL &amp; API</a:t>
            </a:r>
          </a:p>
        </p:txBody>
      </p:sp>
      <p:sp>
        <p:nvSpPr>
          <p:cNvPr id="6" name="Rounded Rectangle 5"/>
          <p:cNvSpPr/>
          <p:nvPr/>
        </p:nvSpPr>
        <p:spPr>
          <a:xfrm>
            <a:off x="4425696" y="4297680"/>
            <a:ext cx="3328416" cy="1828800"/>
          </a:xfrm>
          <a:prstGeom prst="roundRect">
            <a:avLst/>
          </a:prstGeom>
          <a:solidFill>
            <a:srgbClr val="F8FAFC"/>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BE123C"/>
                </a:solidFill>
              </a:defRPr>
            </a:pPr>
            <a:r>
              <a:t>CHỦ ĐỀ 2: STORED XSS</a:t>
            </a:r>
          </a:p>
          <a:p>
            <a:pPr>
              <a:spcBef>
                <a:spcPts val="400"/>
              </a:spcBef>
              <a:defRPr sz="1200">
                <a:solidFill>
                  <a:srgbClr val="0F172A"/>
                </a:solidFill>
              </a:defRPr>
            </a:pPr>
            <a:r>
              <a:t>Nguyễn Thanh Bình</a:t>
            </a:r>
            <a:br/>
            <a:r>
              <a:t>MSV: 23A1001D0041</a:t>
            </a:r>
            <a:br/>
            <a:r>
              <a:t>Thành viên • Phụ trách Cookie &amp; DOM</a:t>
            </a:r>
          </a:p>
        </p:txBody>
      </p:sp>
      <p:sp>
        <p:nvSpPr>
          <p:cNvPr id="7" name="Rounded Rectangle 6"/>
          <p:cNvSpPr/>
          <p:nvPr/>
        </p:nvSpPr>
        <p:spPr>
          <a:xfrm>
            <a:off x="7936992" y="4297680"/>
            <a:ext cx="3328416" cy="1828800"/>
          </a:xfrm>
          <a:prstGeom prst="roundRect">
            <a:avLst/>
          </a:prstGeom>
          <a:solidFill>
            <a:srgbClr val="F8FAFC"/>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47857"/>
                </a:solidFill>
              </a:defRPr>
            </a:pPr>
            <a:r>
              <a:t>CHỦ ĐỀ 3: CSRF ATTACK</a:t>
            </a:r>
          </a:p>
          <a:p>
            <a:pPr>
              <a:spcBef>
                <a:spcPts val="400"/>
              </a:spcBef>
              <a:defRPr sz="1200">
                <a:solidFill>
                  <a:srgbClr val="0F172A"/>
                </a:solidFill>
              </a:defRPr>
            </a:pPr>
            <a:r>
              <a:t>Nguyễn Minh Cường</a:t>
            </a:r>
            <a:br/>
            <a:r>
              <a:t>MSV: 23A1001D0058</a:t>
            </a:r>
            <a:br/>
            <a:r>
              <a:t>Thành viên • Phụ trách Giao dịch &amp; Token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OWASP TOP 10 • THỰC NGHIỆM AN TOÀN WEB</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Mục Tiêu &amp; Phương Pháp Thực Nghiệm</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BE123C"/>
                </a:solidFill>
              </a:defRPr>
            </a:pPr>
            <a:r>
              <a:t>Mục Tiêu Nghiên Cứu</a:t>
            </a:r>
          </a:p>
          <a:p>
            <a:pPr>
              <a:spcBef>
                <a:spcPts val="1000"/>
              </a:spcBef>
              <a:defRPr sz="1250">
                <a:solidFill>
                  <a:srgbClr val="334155"/>
                </a:solidFill>
              </a:defRPr>
            </a:pPr>
            <a:r>
              <a:t>• Bám sát yêu cầu thực tiễn: Tập trung vào thực nghiệm và phân tích mã nguồn thay vì lý thuyết thuần túy.</a:t>
            </a:r>
            <a:br/>
            <a:r>
              <a:t>• Nhận thức mức độ rủi ro: Đánh giá tác động an ninh thực tế trên ứng dụng web.</a:t>
            </a:r>
            <a:br/>
            <a:r>
              <a:t>• Phương pháp tiếp cận: Để phòng thủ hiệu quả, cần phân tích chính xác vector và kỹ thuật khai thác của kẻ tấn công.</a:t>
            </a:r>
            <a:br/>
            <a:r>
              <a:t>• Đối chứng rõ ràng: So sánh trực tiếp giữa mã nguồn dính lỗ hổng và mã nguồn đã được chuẩn hóa.</a:t>
            </a:r>
          </a:p>
        </p:txBody>
      </p:sp>
      <p:sp>
        <p:nvSpPr>
          <p:cNvPr id="7" name="Rounded Rectangle 6"/>
          <p:cNvSpPr/>
          <p:nvPr/>
        </p:nvSpPr>
        <p:spPr>
          <a:xfrm>
            <a:off x="6263640" y="1280160"/>
            <a:ext cx="5166360"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D4ED8"/>
                </a:solidFill>
              </a:defRPr>
            </a:pPr>
            <a:r>
              <a:t>Môi Trường &amp; Quy Trình Thực Nghiệm</a:t>
            </a:r>
          </a:p>
          <a:p>
            <a:pPr>
              <a:spcBef>
                <a:spcPts val="1000"/>
              </a:spcBef>
              <a:defRPr sz="1250">
                <a:solidFill>
                  <a:srgbClr val="334155"/>
                </a:solidFill>
              </a:defRPr>
            </a:pPr>
            <a:r>
              <a:t>• Nền tảng ứng dụng: Xây dựng ứng dụng mẫu trên ASP.NET Core MVC (.NET 10).</a:t>
            </a:r>
            <a:br/>
            <a:r>
              <a:t>• Hệ quản trị CSDL: Kết nối trực tiếp máy chủ Microsoft SQL Server 2025 Developer.</a:t>
            </a:r>
            <a:br/>
            <a:r>
              <a:t>• Thiết kế đối chứng: Chia 3 phân hệ tương tác riêng biệt cho 3 thành viên, nạp payload và theo dõi phản hồi thời gian thực.</a:t>
            </a:r>
            <a:br/>
            <a:r>
              <a:t>• Ứng dụng thực tế: Đưa các giải pháp phòng thủ vào thiết kế kiến trúc (Security View) của đề tài BTL.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1.1. SQL Injection: Bản Chất Kỹ Thuật &amp; Lỗi Ghép Chuỗi</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Nguyên Nhân Kỹ Thuật Cốt Lõi</a:t>
            </a:r>
          </a:p>
          <a:p>
            <a:pPr>
              <a:spcBef>
                <a:spcPts val="800"/>
              </a:spcBef>
              <a:defRPr sz="1250">
                <a:solidFill>
                  <a:srgbClr val="334155"/>
                </a:solidFill>
              </a:defRPr>
            </a:pPr>
            <a:r>
              <a:t>• Thiếu sự phân tách giữa Dữ liệu (Data) và Cú pháp lệnh (Code).</a:t>
            </a:r>
            <a:br/>
            <a:r>
              <a:t>• Ghép chuỗi đầu vào trực tiếp (String Concatenation / Interpolation) vào truy vấn SQL.</a:t>
            </a:r>
            <a:br/>
            <a:r>
              <a:t>• Trình thông dịch CSDL không thể phân định ranh giới giữa dữ liệu người dùng và cấu trúc truy vấn của hệ thống.</a:t>
            </a:r>
            <a:br/>
            <a:r>
              <a:t>• Ký tự điều khiển (', --, ;) làm thay đổi luồng thực thi của câu lệnh trên máy chủ SQL Server.</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Minh Họa Đoạn Mã Nguồn Gây Lỗi</a:t>
            </a:r>
          </a:p>
          <a:p>
            <a:pPr>
              <a:spcBef>
                <a:spcPts val="800"/>
              </a:spcBef>
              <a:defRPr sz="1100">
                <a:solidFill>
                  <a:srgbClr val="9F1239"/>
                </a:solidFill>
                <a:latin typeface="Courier New"/>
              </a:defRPr>
            </a:pPr>
            <a:r>
              <a:t>// Nối chuỗi trực tiếp từ tham số người dùng:</a:t>
            </a:r>
            <a:br/>
            <a:r>
              <a:t>string rawSql = $"SELECT * FROM Accounts " +</a:t>
            </a:r>
            <a:br/>
            <a:r>
              <a:t>                $"WHERE Username = '{username}' " +</a:t>
            </a:r>
            <a:br/>
            <a:r>
              <a:t>                $"AND Password = '{password}'";</a:t>
            </a:r>
            <a:br/>
            <a:br/>
            <a:r>
              <a:t>var accounts = _context.Accounts</a:t>
            </a:r>
            <a:br/>
            <a:r>
              <a:t>                       .FromSqlRaw(rawSql)</a:t>
            </a:r>
            <a:br/>
            <a:r>
              <a:t>                       .ToList();</a:t>
            </a:r>
          </a:p>
          <a:p>
            <a:pPr>
              <a:spcBef>
                <a:spcPts val="1400"/>
              </a:spcBef>
              <a:defRPr sz="1200">
                <a:solidFill>
                  <a:srgbClr val="0F172A"/>
                </a:solidFill>
              </a:defRPr>
            </a:pPr>
            <a:r>
              <a:t>Lỗ hổng phát sinh khi lập trình viên giả định đầu vào luôn là văn bản chuẩn. Ký tự nháy đơn (') sẽ đóng sớm chuỗi giá trị và chuyển phần còn lại thành cấu trúc điều khiển.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1.2. SQL Injection: Đánh Giá Tác Động An Ninh (CVSS 9.8)</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3328416"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VƯỢT QUA XÁC THỰC</a:t>
            </a:r>
            <a:br/>
            <a:r>
              <a:t>(Authentication Bypass)</a:t>
            </a:r>
          </a:p>
          <a:p>
            <a:pPr>
              <a:spcBef>
                <a:spcPts val="1000"/>
              </a:spcBef>
              <a:defRPr sz="1200">
                <a:solidFill>
                  <a:srgbClr val="334155"/>
                </a:solidFill>
              </a:defRPr>
            </a:pPr>
            <a:r>
              <a:t>• Không cần thông tin xác thực hợp lệ.</a:t>
            </a:r>
            <a:br/>
            <a:r>
              <a:t>• Bỏ qua bước kiểm tra mật khẩu để đăng nhập tài khoản quản trị.</a:t>
            </a:r>
            <a:br/>
            <a:r>
              <a:t>• Chiếm đoạt phiên làm việc và thay đổi quyền hạn người dùng trên hệ thống.</a:t>
            </a:r>
          </a:p>
        </p:txBody>
      </p:sp>
      <p:sp>
        <p:nvSpPr>
          <p:cNvPr id="7" name="Rounded Rectangle 6"/>
          <p:cNvSpPr/>
          <p:nvPr/>
        </p:nvSpPr>
        <p:spPr>
          <a:xfrm>
            <a:off x="4416552" y="1280160"/>
            <a:ext cx="3328416" cy="484632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45309"/>
                </a:solidFill>
              </a:defRPr>
            </a:pPr>
            <a:r>
              <a:t>TRÍCH XUẤT CƠ SỞ DỮ LIỆU</a:t>
            </a:r>
            <a:br/>
            <a:r>
              <a:t>(Data Exfiltration)</a:t>
            </a:r>
          </a:p>
          <a:p>
            <a:pPr>
              <a:spcBef>
                <a:spcPts val="1000"/>
              </a:spcBef>
              <a:defRPr sz="1200">
                <a:solidFill>
                  <a:srgbClr val="334155"/>
                </a:solidFill>
              </a:defRPr>
            </a:pPr>
            <a:r>
              <a:t>• Trích xuất thông tin người dùng, hồ sơ chuyên gia và số dư ví điện tử.</a:t>
            </a:r>
            <a:br/>
            <a:r>
              <a:t>• Làm lộ mật khẩu và các thông tin cá nhân lưu trong bảng CSDL.</a:t>
            </a:r>
            <a:br/>
            <a:r>
              <a:t>• Vi phạm quy định về bảo mật dữ liệu người dùng.</a:t>
            </a:r>
          </a:p>
        </p:txBody>
      </p:sp>
      <p:sp>
        <p:nvSpPr>
          <p:cNvPr id="8" name="Rounded Rectangle 7"/>
          <p:cNvSpPr/>
          <p:nvPr/>
        </p:nvSpPr>
        <p:spPr>
          <a:xfrm>
            <a:off x="8101584" y="1280160"/>
            <a:ext cx="3328416"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THAY ĐỔI / PHÁ HỦY DỮ LIỆU</a:t>
            </a:r>
            <a:br/>
            <a:r>
              <a:t>(Data Manipulation)</a:t>
            </a:r>
          </a:p>
          <a:p>
            <a:pPr>
              <a:spcBef>
                <a:spcPts val="1000"/>
              </a:spcBef>
              <a:defRPr sz="1200">
                <a:solidFill>
                  <a:srgbClr val="334155"/>
                </a:solidFill>
              </a:defRPr>
            </a:pPr>
            <a:r>
              <a:t>• Can thiệp, sửa đổi số dư tài khoản trái phép.</a:t>
            </a:r>
            <a:br/>
            <a:r>
              <a:t>• Thực thi các câu lệnh DDL nguy hiểm như DROP TABLE hoặc TRUNCATE.</a:t>
            </a:r>
            <a:br/>
            <a:r>
              <a:t>• Nguy cơ thực thi lệnh hệ điều hành nếu máy chủ CSDL cấp quyền quá mức.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1.3. SQL Injection: Phân Tích Cấu Trúc Khai Thác</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Kịch Bản: Khai Thác Vượt Qua Xác Thực Đăng Nhập</a:t>
            </a:r>
          </a:p>
          <a:p>
            <a:pPr>
              <a:spcBef>
                <a:spcPts val="600"/>
              </a:spcBef>
              <a:defRPr sz="1200" b="1">
                <a:solidFill>
                  <a:srgbClr val="1D4ED8"/>
                </a:solidFill>
                <a:latin typeface="Courier New"/>
              </a:defRPr>
            </a:pPr>
            <a:r>
              <a:t>Giá trị Username đưa vào: ' OR '1'='1' --  | Mật khẩu: (tùy ý hoặc để trống)</a:t>
            </a:r>
            <a:br/>
            <a:r>
              <a:t>Truy vấn được máy chủ SQL Server phân tích &amp; thông dịch:</a:t>
            </a:r>
            <a:br/>
            <a:r>
              <a:t>SELECT * FROM Accounts WHERE Username = '' OR '1'='1' --' AND Password = 'xyz'</a:t>
            </a:r>
          </a:p>
          <a:p>
            <a:pPr>
              <a:spcBef>
                <a:spcPts val="1000"/>
              </a:spcBef>
              <a:defRPr sz="1250">
                <a:solidFill>
                  <a:srgbClr val="334155"/>
                </a:solidFill>
              </a:defRPr>
            </a:pPr>
            <a:r>
              <a:t>Phân Tích Thành Phần Chuỗi Khai Thác:</a:t>
            </a:r>
            <a:br/>
            <a:r>
              <a:t>1. Dấu nháy đơn (') : Đóng sớm chuỗi ký tự của trường Username, chuyển ngữ cảnh về cú pháp SQL.</a:t>
            </a:r>
            <a:br/>
            <a:r>
              <a:t>2. Mệnh đề OR '1'='1' : Biểu thức logic chân lý (luôn TRUE với mọi bản ghi trong bảng Accounts).</a:t>
            </a:r>
            <a:br/>
            <a:r>
              <a:t>3. Ký tự chú thích (--) : Vô hiệu hóa mệnh đề kiểm tra mật khẩu phía sau (AND Password = '...').</a:t>
            </a:r>
          </a:p>
          <a:p>
            <a:pPr>
              <a:spcBef>
                <a:spcPts val="1000"/>
              </a:spcBef>
              <a:defRPr sz="1250" b="1">
                <a:solidFill>
                  <a:srgbClr val="B45309"/>
                </a:solidFill>
              </a:defRPr>
            </a:pPr>
            <a:r>
              <a:t>Mở Rộng Kỹ Thuật Union-Based:</a:t>
            </a:r>
            <a:br/>
            <a:r>
              <a:t>Payload: ' UNION SELECT Id, Username, Password, SecretNote FROM Accounts --</a:t>
            </a:r>
            <a:br/>
            <a:r>
              <a:t>Cho phép ghép nối kết quả từ bảng dữ liệu nhạy cảm vào màn hình tra cứu thông thường.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1.4. SQL Injection: Minh Chứng Thực Nghiệm Trực Quan Trên Web UI</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pic>
        <p:nvPicPr>
          <p:cNvPr id="6" name="Picture 5" descr="only_cards.png"/>
          <p:cNvPicPr>
            <a:picLocks noChangeAspect="1"/>
          </p:cNvPicPr>
          <p:nvPr/>
        </p:nvPicPr>
        <p:blipFill>
          <a:blip r:embed="rId2"/>
          <a:stretch>
            <a:fillRect/>
          </a:stretch>
        </p:blipFill>
        <p:spPr>
          <a:xfrm>
            <a:off x="1645920" y="1234440"/>
            <a:ext cx="8869680" cy="4739035"/>
          </a:xfrm>
          <a:prstGeom prst="rect">
            <a:avLst/>
          </a:prstGeom>
        </p:spPr>
      </p:pic>
      <p:sp>
        <p:nvSpPr>
          <p:cNvPr id="7" name="Rounded Rectangle 6"/>
          <p:cNvSpPr/>
          <p:nvPr/>
        </p:nvSpPr>
        <p:spPr>
          <a:xfrm>
            <a:off x="731520" y="5532120"/>
            <a:ext cx="10728655" cy="82296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defRPr>
            </a:pPr>
            <a:r>
              <a:t>Minh chứng đối chứng trực tiếp trên ứng dụng (http://localhost:5076/SqlInjection)</a:t>
            </a:r>
          </a:p>
          <a:p>
            <a:pPr>
              <a:spcBef>
                <a:spcPts val="200"/>
              </a:spcBef>
              <a:defRPr sz="1100">
                <a:solidFill>
                  <a:srgbClr val="334155"/>
                </a:solidFill>
              </a:defRPr>
            </a:pPr>
            <a:r>
              <a:t>• Nhánh dính lỗi (Trái): Chuỗi ' OR '1'='1' -- cho phép đăng nhập thành công và trích xuất danh sách tài khoản.</a:t>
            </a:r>
            <a:br/>
            <a:r>
              <a:t>• Nhánh phòng thủ (Phải): Ứng dụng xử lý an toàn qua EF Core LINQ, từ chối truy cập và bảo vệ dữ liệu.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1.5. SQL Injection: Minh Chứng Tầng API (cURL) &amp; SQL Server 2025</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516636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Minh Chứng Tầng API / Dòng Lệnh (cURL)</a:t>
            </a:r>
          </a:p>
          <a:p>
            <a:pPr>
              <a:spcBef>
                <a:spcPts val="600"/>
              </a:spcBef>
              <a:defRPr sz="1000">
                <a:solidFill>
                  <a:srgbClr val="0F172A"/>
                </a:solidFill>
                <a:latin typeface="Courier New"/>
              </a:defRPr>
            </a:pPr>
            <a:r>
              <a:t>$ curl -X POST http://localhost:5076/SqlInjection/LoginVulnerable \</a:t>
            </a:r>
            <a:br/>
            <a:r>
              <a:t>       -F "username=' OR '1'='1' --" -F "password=any"</a:t>
            </a:r>
            <a:br/>
            <a:br/>
            <a:r>
              <a:t>Phản hồi JSON từ Server:</a:t>
            </a:r>
            <a:br/>
            <a:r>
              <a:t>{</a:t>
            </a:r>
            <a:br/>
            <a:r>
              <a:t>  "success": true,</a:t>
            </a:r>
            <a:br/>
            <a:r>
              <a:t>  "isExploited": true,</a:t>
            </a:r>
            <a:br/>
            <a:r>
              <a:t>  "count": 4,</a:t>
            </a:r>
            <a:br/>
            <a:r>
              <a:t>  "accounts": [ ... danh sách tài khoản trích xuất ... ]</a:t>
            </a:r>
            <a:br/>
            <a:r>
              <a:t>}</a:t>
            </a:r>
          </a:p>
          <a:p>
            <a:pPr>
              <a:spcBef>
                <a:spcPts val="800"/>
              </a:spcBef>
              <a:defRPr sz="1150">
                <a:solidFill>
                  <a:srgbClr val="334155"/>
                </a:solidFill>
              </a:defRPr>
            </a:pPr>
            <a:r>
              <a:t>Xác nhận lỗi xuất phát từ tầng xử lý C# Backend, kẻ tấn công có thể khai thác qua API mà không cần tương tác qua giao diện web.</a:t>
            </a:r>
          </a:p>
        </p:txBody>
      </p:sp>
      <p:sp>
        <p:nvSpPr>
          <p:cNvPr id="7" name="Rounded Rectangle 6"/>
          <p:cNvSpPr/>
          <p:nvPr/>
        </p:nvSpPr>
        <p:spPr>
          <a:xfrm>
            <a:off x="6263640" y="1280160"/>
            <a:ext cx="516636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47857"/>
                </a:solidFill>
              </a:defRPr>
            </a:pPr>
            <a:r>
              <a:t>Minh Chứng Tầng CSDL (SQL Server 2025)</a:t>
            </a:r>
          </a:p>
          <a:p>
            <a:pPr>
              <a:spcBef>
                <a:spcPts val="600"/>
              </a:spcBef>
              <a:defRPr sz="1000">
                <a:solidFill>
                  <a:srgbClr val="0F172A"/>
                </a:solidFill>
                <a:latin typeface="Courier New"/>
              </a:defRPr>
            </a:pPr>
            <a:r>
              <a:t>-- Database: OwaspDemoDB | Bảng: dbo.Accounts</a:t>
            </a:r>
            <a:br/>
            <a:r>
              <a:t>-- 1. Truy vấn dính lỗi:</a:t>
            </a:r>
            <a:br/>
            <a:r>
              <a:t>SELECT * FROM Accounts WHERE Username='' OR '1'='1' --'</a:t>
            </a:r>
            <a:br/>
            <a:r>
              <a:t>&gt;&gt; Kết quả: 4 rows returned (Bypass thành công)</a:t>
            </a:r>
            <a:br/>
            <a:br/>
            <a:r>
              <a:t>-- 2. Truy vấn tham số hóa:</a:t>
            </a:r>
            <a:br/>
            <a:r>
              <a:t>EXEC sp_executesql N'SELECT * FROM Accounts WHERE...',</a:t>
            </a:r>
            <a:br/>
            <a:r>
              <a:t>     N'@p0 nvarchar(50)', @p0 = N''' OR ''1''=''1'' --'</a:t>
            </a:r>
            <a:br/>
            <a:r>
              <a:t>&gt;&gt; Kết quả: 0 rows returned (An toàn)</a:t>
            </a:r>
          </a:p>
          <a:p>
            <a:pPr>
              <a:spcBef>
                <a:spcPts val="800"/>
              </a:spcBef>
              <a:defRPr sz="1150">
                <a:solidFill>
                  <a:srgbClr val="334155"/>
                </a:solidFill>
              </a:defRPr>
            </a:pPr>
            <a:r>
              <a:t>Đối chiếu trực tiếp trên máy chủ CSDL chứng minh cơ chế phân tách rạch ròi giữa cú pháp lệnh và tham số giá trị.</a:t>
            </a:r>
          </a:p>
        </p:txBody>
      </p:sp>
      <p:sp>
        <p:nvSpPr>
          <p:cNvPr id="8" name="Rounded Rectangle 7"/>
          <p:cNvSpPr/>
          <p:nvPr/>
        </p:nvSpPr>
        <p:spPr>
          <a:xfrm>
            <a:off x="731520" y="5303520"/>
            <a:ext cx="10728655" cy="86868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47857"/>
                </a:solidFill>
              </a:defRPr>
            </a:pPr>
            <a:r>
              <a:t>Thao tác trên công cụ: VS Code MSSQL Extension &amp; File verify_sql_server.sql</a:t>
            </a:r>
          </a:p>
          <a:p>
            <a:pPr>
              <a:spcBef>
                <a:spcPts val="200"/>
              </a:spcBef>
              <a:defRPr sz="1100">
                <a:solidFill>
                  <a:srgbClr val="334155"/>
                </a:solidFill>
              </a:defRPr>
            </a:pPr>
            <a:r>
              <a:t>Dữ liệu được truy vấn và kiểm thử trực tiếp trên máy chủ CSDL SQL Server 2025 (Database: OwaspDemoDB).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1.6. SQL Injection: Giải Pháp Phòng Thủ Chuẩn Hóa</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5166360"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Kỹ Thuật Parameterized Query Với EF Core</a:t>
            </a:r>
          </a:p>
          <a:p>
            <a:pPr>
              <a:spcBef>
                <a:spcPts val="800"/>
              </a:spcBef>
              <a:defRPr sz="1000">
                <a:solidFill>
                  <a:srgbClr val="065F46"/>
                </a:solidFill>
                <a:latin typeface="Courier New"/>
              </a:defRPr>
            </a:pPr>
            <a:r>
              <a:t>// SỬ DỤNG LINQ PARAMETERIZED (KHUYÊN DÙNG):</a:t>
            </a:r>
            <a:br/>
            <a:r>
              <a:t>var account = _context.Accounts</a:t>
            </a:r>
            <a:br/>
            <a:r>
              <a:t>    .FirstOrDefault(a =&gt; a.Username == user </a:t>
            </a:r>
            <a:br/>
            <a:r>
              <a:t>                      &amp;&amp; a.Password == pass);</a:t>
            </a:r>
            <a:br/>
            <a:br/>
            <a:r>
              <a:t>// TRUY VẤN THUẦN QUA FROMSQLINTERPOLATED:</a:t>
            </a:r>
            <a:br/>
            <a:r>
              <a:t>var account = _context.Accounts</a:t>
            </a:r>
            <a:br/>
            <a:r>
              <a:t>    .FromSqlInterpolated($"SELECT * FROM Accounts WHERE Username={user} AND Password={pass}")</a:t>
            </a:r>
            <a:br/>
            <a:r>
              <a:t>    .FirstOrDefault();</a:t>
            </a:r>
          </a:p>
          <a:p>
            <a:pPr>
              <a:spcBef>
                <a:spcPts val="1000"/>
              </a:spcBef>
              <a:defRPr sz="1200">
                <a:solidFill>
                  <a:srgbClr val="334155"/>
                </a:solidFill>
              </a:defRPr>
            </a:pPr>
            <a:r>
              <a:t>Cơ chế bảo vệ:</a:t>
            </a:r>
            <a:br/>
            <a:r>
              <a:t>SQL Server biên dịch kế hoạch thực thi (Execution Plan) trước khi nhận tham số. Đầu vào của người dùng được gán vào biến @p0 như một chuỗi văn bản (literal), vô hiệu hóa hoàn toàn khả năng chèn lệnh.</a:t>
            </a:r>
          </a:p>
        </p:txBody>
      </p:sp>
      <p:sp>
        <p:nvSpPr>
          <p:cNvPr id="7" name="Rounded Rectangle 6"/>
          <p:cNvSpPr/>
          <p:nvPr/>
        </p:nvSpPr>
        <p:spPr>
          <a:xfrm>
            <a:off x="626364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4ED8"/>
                </a:solidFill>
              </a:defRPr>
            </a:pPr>
            <a:r>
              <a:t>Bộ Quy Tắc Phòng Thủ Toàn Diện (Defense-in-Depth)</a:t>
            </a:r>
          </a:p>
          <a:p>
            <a:pPr>
              <a:spcBef>
                <a:spcPts val="800"/>
              </a:spcBef>
              <a:defRPr sz="1200">
                <a:solidFill>
                  <a:srgbClr val="334155"/>
                </a:solidFill>
              </a:defRPr>
            </a:pPr>
            <a:r>
              <a:t>1. Tham số hóa truy vấn:</a:t>
            </a:r>
            <a:br/>
            <a:r>
              <a:t>Tuyệt đối không ghép chuỗi SQL thủ công trong mã nguồn.</a:t>
            </a:r>
            <a:br/>
            <a:br/>
            <a:r>
              <a:t>2. Đặc quyền tối thiểu (Least Privilege):</a:t>
            </a:r>
            <a:br/>
            <a:r>
              <a:t>Tài khoản kết nối CSDL chỉ cấp các quyền SELECT, INSERT, UPDATE cần thiết; không dùng tài khoản 'sa' hay quyền DDL trong môi trường chạy ứng dụng.</a:t>
            </a:r>
            <a:br/>
            <a:br/>
            <a:r>
              <a:t>3. Kiểm tra dữ liệu đầu vào (Input Validation):</a:t>
            </a:r>
            <a:br/>
            <a:r>
              <a:t>Sử dụng Data Annotations để giới hạn định dạng và độ dài dữ liệu.</a:t>
            </a:r>
            <a:br/>
            <a:br/>
            <a:r>
              <a:t>4. Băm mật khẩu (Password Hashing):</a:t>
            </a:r>
            <a:br/>
            <a:r>
              <a:t>Sử dụng ASP.NET Core Identity (PBKDF2) để bảo vệ thông tin ngay cả khi CSDL bị lộ.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2.1. Stored XSS: Bản Chất Kỹ Thuật &amp; Ngữ Cảnh Ứng Dụng</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Ngữ Cảnh Nghiệp Vụ Trong Hệ Thống</a:t>
            </a:r>
          </a:p>
          <a:p>
            <a:pPr>
              <a:spcBef>
                <a:spcPts val="800"/>
              </a:spcBef>
              <a:defRPr sz="1250">
                <a:solidFill>
                  <a:srgbClr val="334155"/>
                </a:solidFill>
              </a:defRPr>
            </a:pPr>
            <a:r>
              <a:t>• Hệ thống cho phép người dùng đăng tải nhận xét, đánh giá chất lượng buổi tư vấn.</a:t>
            </a:r>
            <a:br/>
            <a:r>
              <a:t>• Bản chất Stored XSS (Persistent XSS): Mã kịch bản (JavaScript) độc hại được gửi lên và lưu trữ trực tiếp trong CSDL (bảng dbo.Comments).</a:t>
            </a:r>
            <a:br/>
            <a:r>
              <a:t>• Đặc điểm phát tán: Khi người dùng khác truy cập trang web, mã kịch bản lưu trong CSDL được tải về và thực thi tự động trên trình duyệt của nạn nhân mà không cần tương tác thêm.</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Mã Nguồn Minh Họa Lỗi &amp; Sự Lạm Dụng @@Html.Raw</a:t>
            </a:r>
          </a:p>
          <a:p>
            <a:pPr>
              <a:spcBef>
                <a:spcPts val="800"/>
              </a:spcBef>
              <a:defRPr sz="1050">
                <a:solidFill>
                  <a:srgbClr val="9F1239"/>
                </a:solidFill>
                <a:latin typeface="Courier New"/>
              </a:defRPr>
            </a:pPr>
            <a:r>
              <a:t>// 1. CONTROLLER LƯU TRỰC TIẾP KHÔNG QUA XỬ LÝ:</a:t>
            </a:r>
            <a:br/>
            <a:r>
              <a:t>var comment = new Comment {</a:t>
            </a:r>
            <a:br/>
            <a:r>
              <a:t>    Author = author,</a:t>
            </a:r>
            <a:br/>
            <a:r>
              <a:t>    Content = content // Chứa mã &lt;script&gt; độc hại</a:t>
            </a:r>
            <a:br/>
            <a:r>
              <a:t>};</a:t>
            </a:r>
            <a:br/>
            <a:r>
              <a:t>_context.Comments.Add(comment);</a:t>
            </a:r>
            <a:br/>
            <a:br/>
            <a:r>
              <a:t>// 2. RAZOR VIEW HIỂN THỊ DỮ LIỆU THÔ:</a:t>
            </a:r>
            <a:br/>
            <a:r>
              <a:t>&lt;div class="comment-body"&gt;</a:t>
            </a:r>
            <a:br/>
            <a:r>
              <a:t>    @Html.Raw(comment.Content)</a:t>
            </a:r>
            <a:br/>
            <a:r>
              <a:t>&lt;/div&gt;</a:t>
            </a:r>
          </a:p>
          <a:p>
            <a:pPr>
              <a:spcBef>
                <a:spcPts val="1200"/>
              </a:spcBef>
              <a:defRPr sz="1200">
                <a:solidFill>
                  <a:srgbClr val="0F172A"/>
                </a:solidFill>
              </a:defRPr>
            </a:pPr>
            <a:r>
              <a:t>Việc sử dụng @Html.Raw() nhằm mục đích hiển thị định dạng văn bản vô tình làm vô hiệu hóa cơ chế phòng vệ mã hóa HTML tự động của Razor 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2.2. Stored XSS: Đánh Giá Rủi Ro &amp; Tác Động Phía Trình Duyệt</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3328416"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ĐÁNH CẮP COOKIE &amp; PHIÊN</a:t>
            </a:r>
            <a:br/>
            <a:r>
              <a:t>(Session Hijacking)</a:t>
            </a:r>
          </a:p>
          <a:p>
            <a:pPr>
              <a:spcBef>
                <a:spcPts val="1000"/>
              </a:spcBef>
              <a:defRPr sz="1200">
                <a:solidFill>
                  <a:srgbClr val="334155"/>
                </a:solidFill>
              </a:defRPr>
            </a:pPr>
            <a:r>
              <a:t>• Đoạn script đọc thuộc tính document.cookie để trích xuất token phiên làm việc.</a:t>
            </a:r>
            <a:br/>
            <a:r>
              <a:t>• Dữ liệu xác thực được gửi ngầm về máy chủ điều khiển của kẻ tấn công.</a:t>
            </a:r>
            <a:br/>
            <a:r>
              <a:t>• Kẻ tấn công sử dụng token để mạo danh người dùng hợp lệ.</a:t>
            </a:r>
          </a:p>
        </p:txBody>
      </p:sp>
      <p:sp>
        <p:nvSpPr>
          <p:cNvPr id="7" name="Rounded Rectangle 6"/>
          <p:cNvSpPr/>
          <p:nvPr/>
        </p:nvSpPr>
        <p:spPr>
          <a:xfrm>
            <a:off x="4416552" y="1280160"/>
            <a:ext cx="3328416" cy="484632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45309"/>
                </a:solidFill>
              </a:defRPr>
            </a:pPr>
            <a:r>
              <a:t>THAY ĐỔI CẤU TRÚC DOM</a:t>
            </a:r>
            <a:br/>
            <a:r>
              <a:t>(DOM Manipulation / Phishing)</a:t>
            </a:r>
          </a:p>
          <a:p>
            <a:pPr>
              <a:spcBef>
                <a:spcPts val="1000"/>
              </a:spcBef>
              <a:defRPr sz="1200">
                <a:solidFill>
                  <a:srgbClr val="334155"/>
                </a:solidFill>
              </a:defRPr>
            </a:pPr>
            <a:r>
              <a:t>• Thay đổi cấu trúc giao diện trang web, chèn các form đăng nhập giả mạo.</a:t>
            </a:r>
            <a:br/>
            <a:r>
              <a:t>• Lừa người dùng nhập thông tin nhạy cảm trên giao diện đã bị sửa đổi.</a:t>
            </a:r>
            <a:br/>
            <a:r>
              <a:t>• Tự động điều hướng người dùng sang các liên kết độc hại.</a:t>
            </a:r>
          </a:p>
        </p:txBody>
      </p:sp>
      <p:sp>
        <p:nvSpPr>
          <p:cNvPr id="8" name="Rounded Rectangle 7"/>
          <p:cNvSpPr/>
          <p:nvPr/>
        </p:nvSpPr>
        <p:spPr>
          <a:xfrm>
            <a:off x="8101584" y="1280160"/>
            <a:ext cx="3328416"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THỰC THI THAO TÁC TRÁI PHÉP</a:t>
            </a:r>
            <a:br/>
            <a:r>
              <a:t>(Client-Side Exploitation)</a:t>
            </a:r>
          </a:p>
          <a:p>
            <a:pPr>
              <a:spcBef>
                <a:spcPts val="1000"/>
              </a:spcBef>
              <a:defRPr sz="1200">
                <a:solidFill>
                  <a:srgbClr val="334155"/>
                </a:solidFill>
              </a:defRPr>
            </a:pPr>
            <a:r>
              <a:t>• Ghi nhận thao tác bàn phím (Keylogging) khi người dùng nhập liệu.</a:t>
            </a:r>
            <a:br/>
            <a:r>
              <a:t>• Tự động thực hiện các hành động gửi tin nhắn hoặc đánh giá mạo danh người dùng.</a:t>
            </a:r>
            <a:br/>
            <a:r>
              <a:t>• Tận dụng quyền truy cập trình duyệt để mở rộng phạm vi tấn công.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2.3. Stored XSS: Phân Tích Kỹ Thuật Đưa Payload Vào CSDL</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3 Biến Thể Payload XSS Thực Nghiệm Trong Hệ Thống</a:t>
            </a:r>
          </a:p>
          <a:p>
            <a:pPr>
              <a:spcBef>
                <a:spcPts val="800"/>
              </a:spcBef>
              <a:defRPr sz="1250">
                <a:solidFill>
                  <a:srgbClr val="334155"/>
                </a:solidFill>
              </a:defRPr>
            </a:pPr>
            <a:r>
              <a:t>1. Payload 1 (Thẻ Script Cơ Bản):</a:t>
            </a:r>
            <a:br/>
            <a:r>
              <a:t>   &lt;script&gt;alert('Session Cookie: ' + document.cookie);&lt;/script&gt;</a:t>
            </a:r>
            <a:br/>
            <a:r>
              <a:t>   Cơ chế: Trình duyệt phân tích cú pháp HTML, nhận diện khối mã và thực thi câu lệnh JavaScript.</a:t>
            </a:r>
          </a:p>
          <a:p>
            <a:pPr>
              <a:spcBef>
                <a:spcPts val="800"/>
              </a:spcBef>
              <a:defRPr sz="1250">
                <a:solidFill>
                  <a:srgbClr val="334155"/>
                </a:solidFill>
              </a:defRPr>
            </a:pPr>
            <a:r>
              <a:t>2. Payload 2 (Vượt Qua Bộ Lọc Bằng Trình Xử Lý Sự Kiện HTML):</a:t>
            </a:r>
            <a:br/>
            <a:r>
              <a:t>   &lt;img src=x onerror=alert('XSS triggered via image onerror')&gt;</a:t>
            </a:r>
            <a:br/>
            <a:r>
              <a:t>   Cơ chế: Khi ứng dụng chỉ lọc từ khóa '&lt;script&gt;', kẻ tấn công sử dụng thuộc tính 'onerror' của thẻ hình ảnh khi đường dẫn ảnh không tồn tại để kích hoạt JavaScript.</a:t>
            </a:r>
          </a:p>
          <a:p>
            <a:pPr>
              <a:spcBef>
                <a:spcPts val="800"/>
              </a:spcBef>
              <a:defRPr sz="1250">
                <a:solidFill>
                  <a:srgbClr val="334155"/>
                </a:solidFill>
              </a:defRPr>
            </a:pPr>
            <a:r>
              <a:t>3. Payload 3 (Thay Đổi Toàn Bộ Cấu Trúc Trang Web):</a:t>
            </a:r>
            <a:br/>
            <a:r>
              <a:t>   &lt;script&gt;document.body.innerHTML='&lt;h2 style=color:red;text-align:center&gt;Trang Web Đã Bị Thay Đổi&lt;/h2&gt;';&lt;/script&gt;</a:t>
            </a:r>
            <a:br/>
            <a:r>
              <a:t>   Cơ chế: Can thiệp trực tiếp vào thuộc tính body.innerHTML để thay đổi toàn bộ nội dung hiển thị của website.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2.4. Stored XSS: Minh Chứng Thực Nghiệm Trực Quan Trên Web UI</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pic>
        <p:nvPicPr>
          <p:cNvPr id="6" name="Picture 5" descr="crop_xss_ui.png"/>
          <p:cNvPicPr>
            <a:picLocks noChangeAspect="1"/>
          </p:cNvPicPr>
          <p:nvPr/>
        </p:nvPicPr>
        <p:blipFill>
          <a:blip r:embed="rId2"/>
          <a:stretch>
            <a:fillRect/>
          </a:stretch>
        </p:blipFill>
        <p:spPr>
          <a:xfrm>
            <a:off x="1645920" y="1234440"/>
            <a:ext cx="8869680" cy="3752557"/>
          </a:xfrm>
          <a:prstGeom prst="rect">
            <a:avLst/>
          </a:prstGeom>
        </p:spPr>
      </p:pic>
      <p:sp>
        <p:nvSpPr>
          <p:cNvPr id="7" name="Rounded Rectangle 6"/>
          <p:cNvSpPr/>
          <p:nvPr/>
        </p:nvSpPr>
        <p:spPr>
          <a:xfrm>
            <a:off x="731520" y="5440680"/>
            <a:ext cx="10728655" cy="91440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BE123C"/>
                </a:solidFill>
              </a:defRPr>
            </a:pPr>
            <a:r>
              <a:t>Minh chứng đối chứng chức năng Nhận xét đánh giá chuyên gia (/Xss)</a:t>
            </a:r>
          </a:p>
          <a:p>
            <a:pPr>
              <a:spcBef>
                <a:spcPts val="200"/>
              </a:spcBef>
              <a:defRPr sz="1100">
                <a:solidFill>
                  <a:srgbClr val="334155"/>
                </a:solidFill>
              </a:defRPr>
            </a:pPr>
            <a:r>
              <a:t>• Nhánh dính lỗi (Trái): Chuỗi kịch bản được lưu và render thô, kích hoạt thông báo alert hiển thị Cookie.</a:t>
            </a:r>
            <a:br/>
            <a:r>
              <a:t>• Nhánh an toàn (Phải): Razor View tự động mã hóa chuỗi thành văn bản an toàn, triệt tiêu khả năng thực thi mã.</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2.5. Stored XSS: Minh Chứng Dữ Liệu CSDL &amp; Bảo Vệ Cookie</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Dữ Liệu Lưu Trong Bảng dbo.Comments</a:t>
            </a:r>
          </a:p>
          <a:p>
            <a:pPr>
              <a:spcBef>
                <a:spcPts val="600"/>
              </a:spcBef>
              <a:defRPr sz="950">
                <a:solidFill>
                  <a:srgbClr val="0F172A"/>
                </a:solidFill>
                <a:latin typeface="Courier New"/>
              </a:defRPr>
            </a:pPr>
            <a:r>
              <a:t>SELECT Id, Author, Content, IsSecureStored FROM dbo.Comments;</a:t>
            </a:r>
            <a:br/>
            <a:br/>
            <a:r>
              <a:t>Id | Author        | Content                           | IsSecure</a:t>
            </a:r>
            <a:br/>
            <a:r>
              <a:t>---+---------------+-----------------------------------+---------</a:t>
            </a:r>
            <a:br/>
            <a:r>
              <a:t> 1 | Le Thanh Binh | Dich vu tu van rat chuyen nghiep! | 1</a:t>
            </a:r>
            <a:br/>
            <a:r>
              <a:t> 2 | Hacker_XSS    | &lt;script&gt;alert(document.cookie);.. | 0</a:t>
            </a:r>
          </a:p>
          <a:p>
            <a:pPr>
              <a:spcBef>
                <a:spcPts val="800"/>
              </a:spcBef>
              <a:defRPr sz="1150">
                <a:solidFill>
                  <a:srgbClr val="334155"/>
                </a:solidFill>
              </a:defRPr>
            </a:pPr>
            <a:r>
              <a:t>Phân tích đặc tính lưu trữ:</a:t>
            </a:r>
            <a:br/>
            <a:r>
              <a:t>Mã kịch bản độc hại được lưu trữ trực tiếp trong CSDL. Do đó, lỗ hổng Stored XSS có tính chất nguy hại kéo dài và phát tán tới mọi người dùng xem nội dung đó.</a:t>
            </a:r>
          </a:p>
        </p:txBody>
      </p:sp>
      <p:sp>
        <p:nvSpPr>
          <p:cNvPr id="7" name="Rounded Rectangle 6"/>
          <p:cNvSpPr/>
          <p:nvPr/>
        </p:nvSpPr>
        <p:spPr>
          <a:xfrm>
            <a:off x="626364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47857"/>
                </a:solidFill>
              </a:defRPr>
            </a:pPr>
            <a:r>
              <a:t>Cơ Chế Bảo Vệ Với Cờ HttpOnly Cookie</a:t>
            </a:r>
          </a:p>
          <a:p>
            <a:pPr>
              <a:spcBef>
                <a:spcPts val="600"/>
              </a:spcBef>
              <a:defRPr sz="950">
                <a:solidFill>
                  <a:srgbClr val="065F46"/>
                </a:solidFill>
                <a:latin typeface="Courier New"/>
              </a:defRPr>
            </a:pPr>
            <a:r>
              <a:t>// CẤU HÌNH COOKIE AN TOÀN TRONG ASP.NET CORE:</a:t>
            </a:r>
            <a:br/>
            <a:r>
              <a:t>Response.Cookies.Append("AuthSessionToken", token, new CookieOptions</a:t>
            </a:r>
            <a:br/>
            <a:r>
              <a:t>{</a:t>
            </a:r>
            <a:br/>
            <a:r>
              <a:t>    HttpOnly = true, // CẤM JAVASCRIPT ĐỌC TRỘM</a:t>
            </a:r>
            <a:br/>
            <a:r>
              <a:t>    Secure = true,   // BẮT BUỘC TRUYỀN QUA HTTPS</a:t>
            </a:r>
            <a:br/>
            <a:r>
              <a:t>    SameSite = SameSiteMode.Strict</a:t>
            </a:r>
            <a:br/>
            <a:r>
              <a:t>});</a:t>
            </a:r>
          </a:p>
          <a:p>
            <a:pPr>
              <a:spcBef>
                <a:spcPts val="800"/>
              </a:spcBef>
              <a:defRPr sz="1150">
                <a:solidFill>
                  <a:srgbClr val="334155"/>
                </a:solidFill>
              </a:defRPr>
            </a:pPr>
            <a:r>
              <a:t>Vai trò của cờ HttpOnly:</a:t>
            </a:r>
            <a:br/>
            <a:r>
              <a:t>Ngăn chặn mã JavaScript đọc thuộc tính document.cookie. Kể cả khi trang web xuất hiện lỗi XSS, kẻ tấn công cũng không thể trích xuất token phiên làm việc.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2.6. Stored XSS: Bộ Giải Pháp Phòng Thủ Chuẩn Trong ASP.NET Core</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10728655"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CÁC NGUYÊN TẮC PHÒNG THỦ XSS THEO KHUYẾN NGHỊ OWASP:</a:t>
            </a:r>
          </a:p>
          <a:p>
            <a:pPr>
              <a:spcBef>
                <a:spcPts val="800"/>
              </a:spcBef>
              <a:defRPr sz="1300">
                <a:solidFill>
                  <a:srgbClr val="334155"/>
                </a:solidFill>
              </a:defRPr>
            </a:pPr>
            <a:r>
              <a:t>1. Tận dụng cơ chế mã hóa tự động của Razor View:</a:t>
            </a:r>
            <a:br/>
            <a:r>
              <a:t>   Sử dụng cú pháp mặc định @model.Property thay vì @Html.Raw() đối với mọi dữ liệu bắt nguồn từ người dùng. Các ký tự nhạy cảm (&lt;, &gt;, ", ') tự động được chuyển đổi sang thực thể HTML an toàn.</a:t>
            </a:r>
          </a:p>
          <a:p>
            <a:pPr>
              <a:spcBef>
                <a:spcPts val="800"/>
              </a:spcBef>
              <a:defRPr sz="1300">
                <a:solidFill>
                  <a:srgbClr val="334155"/>
                </a:solidFill>
              </a:defRPr>
            </a:pPr>
            <a:r>
              <a:t>2. Mã hóa dữ liệu với System.Text.Encodings.Web:</a:t>
            </a:r>
            <a:br/>
            <a:r>
              <a:t>   Sử dụng HtmlEncoder.Default.Encode() để xử lý dữ liệu trước khi lưu trữ hoặc phản hồi.</a:t>
            </a:r>
          </a:p>
          <a:p>
            <a:pPr>
              <a:spcBef>
                <a:spcPts val="800"/>
              </a:spcBef>
              <a:defRPr sz="1300">
                <a:solidFill>
                  <a:srgbClr val="334155"/>
                </a:solidFill>
              </a:defRPr>
            </a:pPr>
            <a:r>
              <a:t>3. Thiết lập thuộc tính an toàn cho Cookie:</a:t>
            </a:r>
            <a:br/>
            <a:r>
              <a:t>   Kích hoạt HttpOnly = true và Secure = true để bảo vệ token phiên làm việc khỏi sự can thiệp của mã kịch bản phía client.</a:t>
            </a:r>
          </a:p>
          <a:p>
            <a:pPr>
              <a:spcBef>
                <a:spcPts val="800"/>
              </a:spcBef>
              <a:defRPr sz="1300">
                <a:solidFill>
                  <a:srgbClr val="334155"/>
                </a:solidFill>
              </a:defRPr>
            </a:pPr>
            <a:r>
              <a:t>4. Triển khai Content Security Policy (CSP Header):</a:t>
            </a:r>
            <a:br/>
            <a:r>
              <a:t>   Cấu hình chính sách bảo mật nội dung để hạn chế phạm vi thực thi kịch bản và chặn các nguồn tài nguyên không tin cậy.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3.1. CSRF Attack: Bản Chất Kỹ Thuật &amp; Cơ Chế Giả Mạo Request</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Bản Chất Kỹ Thuật Của Tấn Công CSRF</a:t>
            </a:r>
          </a:p>
          <a:p>
            <a:pPr>
              <a:spcBef>
                <a:spcPts val="800"/>
              </a:spcBef>
              <a:defRPr sz="1250">
                <a:solidFill>
                  <a:srgbClr val="334155"/>
                </a:solidFill>
              </a:defRPr>
            </a:pPr>
            <a:r>
              <a:t>• CSRF (A01:2021 - Broken Access Control) là kỹ thuật tấn công mượn quyền người dùng hợp lệ.</a:t>
            </a:r>
            <a:br/>
            <a:r>
              <a:t>• Điều kiện tiên quyết:</a:t>
            </a:r>
            <a:br/>
            <a:r>
              <a:t>  1. Nạn nhân có phiên đăng nhập hợp lệ tại ứng dụng mục tiêu (Cookie xác thực còn hiệu lực).</a:t>
            </a:r>
            <a:br/>
            <a:r>
              <a:t>  2. Trình duyệt tự động đính kèm Cookie xác thực theo mọi HTTP Request gửi tới tên miền của ứng dụng.</a:t>
            </a:r>
            <a:br/>
            <a:r>
              <a:t>  3. Kẻ tấn công lừa nạn nhân truy cập một trang web độc hại do kẻ tấn công kiểm soát.</a:t>
            </a:r>
            <a:br/>
            <a:r>
              <a:t>• Điểm mù kiểm soát: Máy chủ chỉ xác thực Cookie của người dùng mà không kiểm tra nguồn gốc phát sinh Request.</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Action Xử Lý Giao Dịch Thiếu Kiểm Soát</a:t>
            </a:r>
          </a:p>
          <a:p>
            <a:pPr>
              <a:spcBef>
                <a:spcPts val="800"/>
              </a:spcBef>
              <a:defRPr sz="1000">
                <a:solidFill>
                  <a:srgbClr val="9F1239"/>
                </a:solidFill>
                <a:latin typeface="Courier New"/>
              </a:defRPr>
            </a:pPr>
            <a:r>
              <a:t>// ACTION NHẬN YÊU CẦU KHÔNG CÓ BẢO VỆ TOKEN:</a:t>
            </a:r>
            <a:br/>
            <a:r>
              <a:t>[HttpPost]</a:t>
            </a:r>
            <a:br/>
            <a:r>
              <a:t>public IActionResult TransferVulnerable(decimal amount)</a:t>
            </a:r>
            <a:br/>
            <a:r>
              <a:t>{</a:t>
            </a:r>
            <a:br/>
            <a:r>
              <a:t>    var victim = _context.Wallets.Find(1);</a:t>
            </a:r>
            <a:br/>
            <a:r>
              <a:t>    var hacker = _context.Wallets.Find(2);</a:t>
            </a:r>
            <a:br/>
            <a:r>
              <a:t>    </a:t>
            </a:r>
            <a:br/>
            <a:r>
              <a:t>    victim.Balance -= amount;</a:t>
            </a:r>
            <a:br/>
            <a:r>
              <a:t>    hacker.Balance += amount;</a:t>
            </a:r>
            <a:br/>
            <a:r>
              <a:t>    _context.SaveChanges();</a:t>
            </a:r>
            <a:br/>
            <a:r>
              <a:t>    return RedirectToAction("Index");</a:t>
            </a:r>
            <a:br/>
            <a:r>
              <a:t>}</a:t>
            </a:r>
          </a:p>
          <a:p>
            <a:pPr>
              <a:spcBef>
                <a:spcPts val="1000"/>
              </a:spcBef>
              <a:defRPr sz="1200">
                <a:solidFill>
                  <a:srgbClr val="0F172A"/>
                </a:solidFill>
              </a:defRPr>
            </a:pPr>
            <a:r>
              <a:t>Khi Action không yêu cầu mã xác thực chống giả mạo, các yêu cầu POST bắt nguồn từ một website khác vẫn được máy chủ thực thi bình thường do Cookie xác thực được đính kèm tự động.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3.2. CSRF Attack: Kịch Bản Khai Thác Bằng Form Ẩn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10728655"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BE123C"/>
                </a:solidFill>
              </a:defRPr>
            </a:pPr>
            <a:r>
              <a:t>Kịch Bản: Trang Web Giả Mạo Điều Khiển Yêu Cầu Chuyển Tiền</a:t>
            </a:r>
          </a:p>
          <a:p>
            <a:pPr>
              <a:spcBef>
                <a:spcPts val="800"/>
              </a:spcBef>
              <a:defRPr sz="1300">
                <a:solidFill>
                  <a:srgbClr val="334155"/>
                </a:solidFill>
              </a:defRPr>
            </a:pPr>
            <a:r>
              <a:t>1. Nạn nhân có phiên làm việc đang hoạt động trên hệ thống tư vấn trực tuyến.</a:t>
            </a:r>
            <a:br/>
            <a:r>
              <a:t>2. Nạn nhân được dẫn dụ truy cập một trang web độc hại ở một tab khác (AttackerSite.cshtml).</a:t>
            </a:r>
            <a:br/>
            <a:r>
              <a:t>3. Trang web độc hại chứa một biểu mẫu ẩn trỏ trực tiếp tới địa chỉ nhận lệnh của ứng dụng mục tiêu:</a:t>
            </a:r>
          </a:p>
          <a:p>
            <a:pPr>
              <a:spcBef>
                <a:spcPts val="600"/>
              </a:spcBef>
              <a:defRPr sz="1100" b="1">
                <a:solidFill>
                  <a:srgbClr val="9F1239"/>
                </a:solidFill>
                <a:latin typeface="Courier New"/>
              </a:defRPr>
            </a:pPr>
            <a:r>
              <a:t>&lt;!-- BIỂU MẪU ẨN TRÊN TRANG WEB CỦA KẺ TẤN CÔNG --&gt;</a:t>
            </a:r>
            <a:br/>
            <a:r>
              <a:t>&lt;form id="exploit" action="http://localhost:5076/Csrf/TransferVulnerable" method="POST"&gt;</a:t>
            </a:r>
            <a:br/>
            <a:r>
              <a:t>    &lt;input type="hidden" name="amount" value="20000000" /&gt;</a:t>
            </a:r>
            <a:br/>
            <a:r>
              <a:t>&lt;/form&gt;</a:t>
            </a:r>
            <a:br/>
            <a:r>
              <a:t>&lt;script&gt;document.getElementById('exploit').submit();&lt;/script&gt;</a:t>
            </a:r>
          </a:p>
          <a:p>
            <a:pPr>
              <a:spcBef>
                <a:spcPts val="800"/>
              </a:spcBef>
              <a:defRPr sz="1300" b="1">
                <a:solidFill>
                  <a:srgbClr val="BE123C"/>
                </a:solidFill>
              </a:defRPr>
            </a:pPr>
            <a:r>
              <a:t>Hậu quả thực tế: Yêu cầu giao dịch được thực hiện mà không có sự đồng thuận chủ động của người dùng, dẫn đến thay đổi số dư hoặc cấu hình tài khoản.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3.3. CSRF Attack: Minh Chứng Thực Nghiệm Trực Quan Trên Web UI</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pic>
        <p:nvPicPr>
          <p:cNvPr id="6" name="Picture 5" descr="crop_csrf_ui.png"/>
          <p:cNvPicPr>
            <a:picLocks noChangeAspect="1"/>
          </p:cNvPicPr>
          <p:nvPr/>
        </p:nvPicPr>
        <p:blipFill>
          <a:blip r:embed="rId2"/>
          <a:stretch>
            <a:fillRect/>
          </a:stretch>
        </p:blipFill>
        <p:spPr>
          <a:xfrm>
            <a:off x="1645920" y="1234440"/>
            <a:ext cx="8869680" cy="4264269"/>
          </a:xfrm>
          <a:prstGeom prst="rect">
            <a:avLst/>
          </a:prstGeom>
        </p:spPr>
      </p:pic>
      <p:sp>
        <p:nvSpPr>
          <p:cNvPr id="7" name="Rounded Rectangle 6"/>
          <p:cNvSpPr/>
          <p:nvPr/>
        </p:nvSpPr>
        <p:spPr>
          <a:xfrm>
            <a:off x="731520" y="5440680"/>
            <a:ext cx="10728655" cy="91440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47857"/>
                </a:solidFill>
              </a:defRPr>
            </a:pPr>
            <a:r>
              <a:t>Minh chứng đối chứng phân hệ quản lý ví tiền &amp; kịch bản CSRF (/Csrf)</a:t>
            </a:r>
          </a:p>
          <a:p>
            <a:pPr>
              <a:spcBef>
                <a:spcPts val="200"/>
              </a:spcBef>
              <a:defRPr sz="1100">
                <a:solidFill>
                  <a:srgbClr val="334155"/>
                </a:solidFill>
              </a:defRPr>
            </a:pPr>
            <a:r>
              <a:t>• Mở Attacker Site: Biểu mẫu ẩn tự động gửi POST sang Action dính lỗi -&gt; Số dư ví bị trừ 20.000.000 VNĐ.</a:t>
            </a:r>
            <a:br/>
            <a:r>
              <a:t>• Nhánh đã phòng thủ: Biểu mẫu chính chủ được tích hợp Anti-Forgery Token -&gt; Từ chối 100% yêu cầu giả mạo từ bên ngoài.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3.4. CSRF Attack: Minh Chứng Biến Động CSDL dbo.UserWallets</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1. Trạng Thái CSDL Ban Đầu</a:t>
            </a:r>
          </a:p>
          <a:p>
            <a:pPr>
              <a:spcBef>
                <a:spcPts val="600"/>
              </a:spcBef>
              <a:defRPr sz="950">
                <a:solidFill>
                  <a:srgbClr val="0F172A"/>
                </a:solidFill>
                <a:latin typeface="Courier New"/>
              </a:defRPr>
            </a:pPr>
            <a:r>
              <a:t>SELECT Id, OwnerName, Balance FROM dbo.UserWallets;</a:t>
            </a:r>
            <a:br/>
            <a:br/>
            <a:r>
              <a:t>Id | OwnerName                      | Balance (VND)</a:t>
            </a:r>
            <a:br/>
            <a:r>
              <a:t>---+--------------------------------+---------------</a:t>
            </a:r>
            <a:br/>
            <a:r>
              <a:t> 1 | Nạn nhân (Nguyễn Danh Học)     | 50,000,000.00</a:t>
            </a:r>
            <a:br/>
            <a:r>
              <a:t> 2 | Kẻ tấn công (Hacker BlackHat)  |          0.00</a:t>
            </a:r>
            <a:br/>
            <a:r>
              <a:t>(2 rows affected)</a:t>
            </a:r>
          </a:p>
          <a:p>
            <a:pPr>
              <a:spcBef>
                <a:spcPts val="800"/>
              </a:spcBef>
              <a:defRPr sz="1150">
                <a:solidFill>
                  <a:srgbClr val="334155"/>
                </a:solidFill>
              </a:defRPr>
            </a:pPr>
            <a:r>
              <a:t>Số dư ví tài khoản nạn nhân ở trạng thái ban đầu là 50 triệu VNĐ, tài khoản đối tượng tấn công là 0 VNĐ.</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2. Trạng Thái CSDL Sau Khai Thác CSRF</a:t>
            </a:r>
          </a:p>
          <a:p>
            <a:pPr>
              <a:spcBef>
                <a:spcPts val="600"/>
              </a:spcBef>
              <a:defRPr sz="950">
                <a:solidFill>
                  <a:srgbClr val="9F1239"/>
                </a:solidFill>
                <a:latin typeface="Courier New"/>
              </a:defRPr>
            </a:pPr>
            <a:r>
              <a:t>SELECT Id, OwnerName, Balance FROM dbo.UserWallets;</a:t>
            </a:r>
            <a:br/>
            <a:br/>
            <a:r>
              <a:t>Id | OwnerName                      | Balance (VND)</a:t>
            </a:r>
            <a:br/>
            <a:r>
              <a:t>---+--------------------------------+---------------</a:t>
            </a:r>
            <a:br/>
            <a:r>
              <a:t> 1 | Nạn nhân (Nguyễn Danh Học)     | 30,000,000.00</a:t>
            </a:r>
            <a:br/>
            <a:r>
              <a:t> 2 | Kẻ tấn công (Hacker BlackHat)  | 20,000,000.00</a:t>
            </a:r>
            <a:br/>
            <a:r>
              <a:t>(2 rows affected)</a:t>
            </a:r>
          </a:p>
          <a:p>
            <a:pPr>
              <a:spcBef>
                <a:spcPts val="800"/>
              </a:spcBef>
              <a:defRPr sz="1150">
                <a:solidFill>
                  <a:srgbClr val="334155"/>
                </a:solidFill>
              </a:defRPr>
            </a:pPr>
            <a:r>
              <a:t>Số dư thực tế trong CSDL bị thay đổi hoàn toàn tự động khi nạn nhân truy cập liên kết độc hại, chứng minh mức độ rủi ro nghiêm trọng của giao dịch thiếu token.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3.5. CSRF Attack: Cơ Chế Phòng Thủ Bằng Anti-Forgery Token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5166360"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Mô Hình Synchronizer Token Pattern</a:t>
            </a:r>
          </a:p>
          <a:p>
            <a:pPr>
              <a:spcBef>
                <a:spcPts val="800"/>
              </a:spcBef>
              <a:defRPr sz="950">
                <a:solidFill>
                  <a:srgbClr val="065F46"/>
                </a:solidFill>
                <a:latin typeface="Courier New"/>
              </a:defRPr>
            </a:pPr>
            <a:r>
              <a:t>// 1. TRONG RAZOR VIEW: NHÚNG TOKEN VÀO FORM</a:t>
            </a:r>
            <a:br/>
            <a:r>
              <a:t>&lt;form asp-action="TransferSecure" method="post"&gt;</a:t>
            </a:r>
            <a:br/>
            <a:r>
              <a:t>    @Html.AntiForgeryToken()</a:t>
            </a:r>
            <a:br/>
            <a:r>
              <a:t>    &lt;input type="number" name="amount" /&gt;</a:t>
            </a:r>
            <a:br/>
            <a:r>
              <a:t>    &lt;button type="submit"&gt;Chuyển tiền&lt;/button&gt;</a:t>
            </a:r>
            <a:br/>
            <a:r>
              <a:t>&lt;/form&gt;</a:t>
            </a:r>
            <a:br/>
            <a:br/>
            <a:r>
              <a:t>// 2. TRONG CONTROLLER: BẮT BUỘC KIỂM TRA TOKEN</a:t>
            </a:r>
            <a:br/>
            <a:r>
              <a:t>[HttpPost]</a:t>
            </a:r>
            <a:br/>
            <a:r>
              <a:t>[ValidateAntiForgeryToken]</a:t>
            </a:r>
            <a:br/>
            <a:r>
              <a:t>public IActionResult TransferSecure(decimal amount)</a:t>
            </a:r>
            <a:br/>
            <a:r>
              <a:t>{</a:t>
            </a:r>
            <a:br/>
            <a:r>
              <a:t>    // Chỉ thực thi khi Token từ Form khớp với Token trong Cookie</a:t>
            </a:r>
            <a:br/>
            <a:r>
              <a:t>}</a:t>
            </a:r>
          </a:p>
        </p:txBody>
      </p:sp>
      <p:sp>
        <p:nvSpPr>
          <p:cNvPr id="7" name="Rounded Rectangle 6"/>
          <p:cNvSpPr/>
          <p:nvPr/>
        </p:nvSpPr>
        <p:spPr>
          <a:xfrm>
            <a:off x="626364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4ED8"/>
                </a:solidFill>
              </a:defRPr>
            </a:pPr>
            <a:r>
              <a:t>Cơ Chế Ngăn Chặn Yêu Cầu Giả Mạo</a:t>
            </a:r>
          </a:p>
          <a:p>
            <a:pPr>
              <a:spcBef>
                <a:spcPts val="1000"/>
              </a:spcBef>
              <a:defRPr sz="1200">
                <a:solidFill>
                  <a:srgbClr val="334155"/>
                </a:solidFill>
              </a:defRPr>
            </a:pPr>
            <a:r>
              <a:t>1. Nguyên tắc cặp Token:</a:t>
            </a:r>
            <a:br/>
            <a:r>
              <a:t>Máy chủ phát hành một cặp token: một giá trị lưu trong Cookie phiên và một giá trị nhúng vào trường ẩn của biểu mẫu.</a:t>
            </a:r>
            <a:br/>
            <a:br/>
            <a:r>
              <a:t>2. Bảo vệ bằng Chính sách Cùng nguồn gốc (SOP):</a:t>
            </a:r>
            <a:br/>
            <a:r>
              <a:t>Website độc hại ở tên miền khác bị trình duyệt ngăn cấm truy cập dữ liệu DOM của biểu mẫu hợp lệ, do đó không thể sao chép token.</a:t>
            </a:r>
            <a:br/>
            <a:br/>
            <a:r>
              <a:t>3. Thuộc tính SameSite cho Cookie:</a:t>
            </a:r>
            <a:br/>
            <a:r>
              <a:t>Thiết lập SameSite = Strict hoặc Lax giúp kiểm soát việc trình duyệt tự động gửi kèm cookie trong các yêu cầu cross-site.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3.6. CSRF Attack: Tích Hợp Token Trong AJAX &amp; Fetch API (Buổi 9)</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4ED8"/>
                </a:solidFill>
              </a:defRPr>
            </a:pPr>
            <a:r>
              <a:t>Kỹ Thuật Đính Kèm Token Khi Sử Dụng Fetch API Không Tải Lại Trang</a:t>
            </a:r>
          </a:p>
          <a:p>
            <a:pPr>
              <a:spcBef>
                <a:spcPts val="800"/>
              </a:spcBef>
              <a:defRPr sz="1000">
                <a:solidFill>
                  <a:srgbClr val="0F172A"/>
                </a:solidFill>
                <a:latin typeface="Courier New"/>
              </a:defRPr>
            </a:pPr>
            <a:r>
              <a:t>// TRÍCH XUẤT TOKEN TỪ DOM VÀ ĐÍNH KÈM VÀO HTTP HEADER:</a:t>
            </a:r>
            <a:br/>
            <a:r>
              <a:t>const token = document.querySelector('input[name="__RequestVerificationToken"]').value;</a:t>
            </a:r>
            <a:br/>
            <a:br/>
            <a:r>
              <a:t>fetch('/Csrf/TransferAjax', {</a:t>
            </a:r>
            <a:br/>
            <a:r>
              <a:t>    method: 'POST',</a:t>
            </a:r>
            <a:br/>
            <a:r>
              <a:t>    headers: {</a:t>
            </a:r>
            <a:br/>
            <a:r>
              <a:t>        'Content-Type': 'application/json',</a:t>
            </a:r>
            <a:br/>
            <a:r>
              <a:t>        'RequestVerificationToken': token // TRUYỀN TOKEN QUA HEADER</a:t>
            </a:r>
            <a:br/>
            <a:r>
              <a:t>    },</a:t>
            </a:r>
            <a:br/>
            <a:r>
              <a:t>    body: JSON.stringify({ amount: 5000000 })</a:t>
            </a:r>
            <a:br/>
            <a:r>
              <a:t>})</a:t>
            </a:r>
            <a:br/>
            <a:r>
              <a:t>.then(response =&gt; response.json());</a:t>
            </a:r>
          </a:p>
          <a:p>
            <a:pPr>
              <a:spcBef>
                <a:spcPts val="1200"/>
              </a:spcBef>
              <a:defRPr sz="1250">
                <a:solidFill>
                  <a:srgbClr val="334155"/>
                </a:solidFill>
              </a:defRPr>
            </a:pPr>
            <a:r>
              <a:t>Ứng dụng trong đồ án BTL:</a:t>
            </a:r>
            <a:br/>
            <a:r>
              <a:t>Đối với các tác vụ bất đồng bộ (như đặt lịch hẹn, cập nhật ca làm việc) sử dụng Fetch API, hệ thống đính kèm header RequestVerificationToken để đảm bảo an toàn giao dịch mà không làm suy giảm trải nghiệm người dùng.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OWASP TOP 10 • THỰC NGHIỆM AN TOÀN WEB</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Tổng Kết: So Sánh Đối Chứng 3 Lỗ Hổng An Ninh Web</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graphicFrame>
        <p:nvGraphicFramePr>
          <p:cNvPr id="6" name="Table 5"/>
          <p:cNvGraphicFramePr>
            <a:graphicFrameLocks noGrp="1"/>
          </p:cNvGraphicFramePr>
          <p:nvPr/>
        </p:nvGraphicFramePr>
        <p:xfrm>
          <a:off x="731520" y="1371600"/>
          <a:ext cx="10728655" cy="4754880"/>
        </p:xfrm>
        <a:graphic>
          <a:graphicData uri="http://schemas.openxmlformats.org/drawingml/2006/table">
            <a:tbl>
              <a:tblPr firstRow="1" bandRow="1">
                <a:tableStyleId>{5C22544A-7EE6-4342-B048-85BDC9FD1C3A}</a:tableStyleId>
              </a:tblPr>
              <a:tblGrid>
                <a:gridCol w="2682163"/>
                <a:gridCol w="2682163"/>
                <a:gridCol w="2682163"/>
                <a:gridCol w="2682166"/>
              </a:tblGrid>
              <a:tr h="1188720">
                <a:tc>
                  <a:txBody>
                    <a:bodyPr/>
                    <a:lstStyle/>
                    <a:p>
                      <a:pPr>
                        <a:defRPr b="1" sz="1200">
                          <a:solidFill>
                            <a:srgbClr val="FFFFFF"/>
                          </a:solidFill>
                        </a:defRPr>
                      </a:pPr>
                      <a:r>
                        <a:t>Tiêu chí phân tích</a:t>
                      </a:r>
                    </a:p>
                  </a:txBody>
                  <a:tcPr>
                    <a:solidFill>
                      <a:srgbClr val="1D4ED8"/>
                    </a:solidFill>
                  </a:tcPr>
                </a:tc>
                <a:tc>
                  <a:txBody>
                    <a:bodyPr/>
                    <a:lstStyle/>
                    <a:p>
                      <a:pPr>
                        <a:defRPr b="1" sz="1200">
                          <a:solidFill>
                            <a:srgbClr val="FFFFFF"/>
                          </a:solidFill>
                        </a:defRPr>
                      </a:pPr>
                      <a:r>
                        <a:t>SQL Injection (Học)</a:t>
                      </a:r>
                    </a:p>
                  </a:txBody>
                  <a:tcPr>
                    <a:solidFill>
                      <a:srgbClr val="1D4ED8"/>
                    </a:solidFill>
                  </a:tcPr>
                </a:tc>
                <a:tc>
                  <a:txBody>
                    <a:bodyPr/>
                    <a:lstStyle/>
                    <a:p>
                      <a:pPr>
                        <a:defRPr b="1" sz="1200">
                          <a:solidFill>
                            <a:srgbClr val="FFFFFF"/>
                          </a:solidFill>
                        </a:defRPr>
                      </a:pPr>
                      <a:r>
                        <a:t>Stored XSS (Bình)</a:t>
                      </a:r>
                    </a:p>
                  </a:txBody>
                  <a:tcPr>
                    <a:solidFill>
                      <a:srgbClr val="1D4ED8"/>
                    </a:solidFill>
                  </a:tcPr>
                </a:tc>
                <a:tc>
                  <a:txBody>
                    <a:bodyPr/>
                    <a:lstStyle/>
                    <a:p>
                      <a:pPr>
                        <a:defRPr b="1" sz="1200">
                          <a:solidFill>
                            <a:srgbClr val="FFFFFF"/>
                          </a:solidFill>
                        </a:defRPr>
                      </a:pPr>
                      <a:r>
                        <a:t>CSRF Attack (Cường)</a:t>
                      </a:r>
                    </a:p>
                  </a:txBody>
                  <a:tcPr>
                    <a:solidFill>
                      <a:srgbClr val="1D4ED8"/>
                    </a:solidFill>
                  </a:tcPr>
                </a:tc>
              </a:tr>
              <a:tr h="1188720">
                <a:tc>
                  <a:txBody>
                    <a:bodyPr/>
                    <a:lstStyle/>
                    <a:p>
                      <a:pPr>
                        <a:defRPr sz="1100">
                          <a:solidFill>
                            <a:srgbClr val="0F172A"/>
                          </a:solidFill>
                        </a:defRPr>
                      </a:pPr>
                      <a:r>
                        <a:t>Mục tiêu tấn công</a:t>
                      </a:r>
                    </a:p>
                  </a:txBody>
                  <a:tcPr>
                    <a:solidFill>
                      <a:srgbClr val="F8FAFC"/>
                    </a:solidFill>
                  </a:tcPr>
                </a:tc>
                <a:tc>
                  <a:txBody>
                    <a:bodyPr/>
                    <a:lstStyle/>
                    <a:p>
                      <a:pPr>
                        <a:defRPr sz="1100">
                          <a:solidFill>
                            <a:srgbClr val="334155"/>
                          </a:solidFill>
                        </a:defRPr>
                      </a:pPr>
                      <a:r>
                        <a:t>Tầng Cơ sở dữ liệu (Database Engine)</a:t>
                      </a:r>
                    </a:p>
                  </a:txBody>
                  <a:tcPr>
                    <a:solidFill>
                      <a:srgbClr val="F8FAFC"/>
                    </a:solidFill>
                  </a:tcPr>
                </a:tc>
                <a:tc>
                  <a:txBody>
                    <a:bodyPr/>
                    <a:lstStyle/>
                    <a:p>
                      <a:pPr>
                        <a:defRPr sz="1100">
                          <a:solidFill>
                            <a:srgbClr val="334155"/>
                          </a:solidFill>
                        </a:defRPr>
                      </a:pPr>
                      <a:r>
                        <a:t>Tầng Trình duyệt người dùng (Client DOM)</a:t>
                      </a:r>
                    </a:p>
                  </a:txBody>
                  <a:tcPr>
                    <a:solidFill>
                      <a:srgbClr val="F8FAFC"/>
                    </a:solidFill>
                  </a:tcPr>
                </a:tc>
                <a:tc>
                  <a:txBody>
                    <a:bodyPr/>
                    <a:lstStyle/>
                    <a:p>
                      <a:pPr>
                        <a:defRPr sz="1100">
                          <a:solidFill>
                            <a:srgbClr val="334155"/>
                          </a:solidFill>
                        </a:defRPr>
                      </a:pPr>
                      <a:r>
                        <a:t>Quyền hạn phiên làm việc (Session/Cookie)</a:t>
                      </a:r>
                    </a:p>
                  </a:txBody>
                  <a:tcPr>
                    <a:solidFill>
                      <a:srgbClr val="F8FAFC"/>
                    </a:solidFill>
                  </a:tcPr>
                </a:tc>
              </a:tr>
              <a:tr h="1188720">
                <a:tc>
                  <a:txBody>
                    <a:bodyPr/>
                    <a:lstStyle/>
                    <a:p>
                      <a:pPr>
                        <a:defRPr sz="1100">
                          <a:solidFill>
                            <a:srgbClr val="0F172A"/>
                          </a:solidFill>
                        </a:defRPr>
                      </a:pPr>
                      <a:r>
                        <a:t>Mức độ rủi ro</a:t>
                      </a:r>
                    </a:p>
                  </a:txBody>
                  <a:tcPr>
                    <a:solidFill>
                      <a:srgbClr val="FFFFFF"/>
                    </a:solidFill>
                  </a:tcPr>
                </a:tc>
                <a:tc>
                  <a:txBody>
                    <a:bodyPr/>
                    <a:lstStyle/>
                    <a:p>
                      <a:pPr>
                        <a:defRPr sz="1100" b="1">
                          <a:solidFill>
                            <a:srgbClr val="BE123C"/>
                          </a:solidFill>
                        </a:defRPr>
                      </a:pPr>
                      <a:r>
                        <a:t>CRITICAL (9.8 / 10.0)</a:t>
                      </a:r>
                    </a:p>
                  </a:txBody>
                  <a:tcPr>
                    <a:solidFill>
                      <a:srgbClr val="FFFFFF"/>
                    </a:solidFill>
                  </a:tcPr>
                </a:tc>
                <a:tc>
                  <a:txBody>
                    <a:bodyPr/>
                    <a:lstStyle/>
                    <a:p>
                      <a:pPr>
                        <a:defRPr sz="1100">
                          <a:solidFill>
                            <a:srgbClr val="334155"/>
                          </a:solidFill>
                        </a:defRPr>
                      </a:pPr>
                      <a:r>
                        <a:t>HIGH (7.5 - 8.5 / 10.0)</a:t>
                      </a:r>
                    </a:p>
                  </a:txBody>
                  <a:tcPr>
                    <a:solidFill>
                      <a:srgbClr val="FFFFFF"/>
                    </a:solidFill>
                  </a:tcPr>
                </a:tc>
                <a:tc>
                  <a:txBody>
                    <a:bodyPr/>
                    <a:lstStyle/>
                    <a:p>
                      <a:pPr>
                        <a:defRPr sz="1100">
                          <a:solidFill>
                            <a:srgbClr val="334155"/>
                          </a:solidFill>
                        </a:defRPr>
                      </a:pPr>
                      <a:r>
                        <a:t>MEDIUM / HIGH (6.5 - 8.0 / 10.0)</a:t>
                      </a:r>
                    </a:p>
                  </a:txBody>
                  <a:tcPr>
                    <a:solidFill>
                      <a:srgbClr val="FFFFFF"/>
                    </a:solidFill>
                  </a:tcPr>
                </a:tc>
              </a:tr>
              <a:tr h="1188720">
                <a:tc>
                  <a:txBody>
                    <a:bodyPr/>
                    <a:lstStyle/>
                    <a:p>
                      <a:pPr>
                        <a:defRPr sz="1100">
                          <a:solidFill>
                            <a:srgbClr val="0F172A"/>
                          </a:solidFill>
                        </a:defRPr>
                      </a:pPr>
                      <a:r>
                        <a:t>Giải pháp phòng thủ</a:t>
                      </a:r>
                    </a:p>
                  </a:txBody>
                  <a:tcPr>
                    <a:solidFill>
                      <a:srgbClr val="F8FAFC"/>
                    </a:solidFill>
                  </a:tcPr>
                </a:tc>
                <a:tc>
                  <a:txBody>
                    <a:bodyPr/>
                    <a:lstStyle/>
                    <a:p>
                      <a:pPr>
                        <a:defRPr sz="1100">
                          <a:solidFill>
                            <a:srgbClr val="334155"/>
                          </a:solidFill>
                        </a:defRPr>
                      </a:pPr>
                      <a:r>
                        <a:t>Parameterized Query / EF Core LINQ</a:t>
                      </a:r>
                    </a:p>
                  </a:txBody>
                  <a:tcPr>
                    <a:solidFill>
                      <a:srgbClr val="F8FAFC"/>
                    </a:solidFill>
                  </a:tcPr>
                </a:tc>
                <a:tc>
                  <a:txBody>
                    <a:bodyPr/>
                    <a:lstStyle/>
                    <a:p>
                      <a:pPr>
                        <a:defRPr sz="1100">
                          <a:solidFill>
                            <a:srgbClr val="334155"/>
                          </a:solidFill>
                        </a:defRPr>
                      </a:pPr>
                      <a:r>
                        <a:t>Razor HTML Encoding + HttpOnly Cookie</a:t>
                      </a:r>
                    </a:p>
                  </a:txBody>
                  <a:tcPr>
                    <a:solidFill>
                      <a:srgbClr val="F8FAFC"/>
                    </a:solidFill>
                  </a:tcPr>
                </a:tc>
                <a:tc>
                  <a:txBody>
                    <a:bodyPr/>
                    <a:lstStyle/>
                    <a:p>
                      <a:pPr>
                        <a:defRPr sz="1100">
                          <a:solidFill>
                            <a:srgbClr val="334155"/>
                          </a:solidFill>
                        </a:defRPr>
                      </a:pPr>
                      <a:r>
                        <a:t>Anti-Forgery Token + SameSite Cookie</a:t>
                      </a:r>
                    </a:p>
                  </a:txBody>
                  <a:tcPr>
                    <a:solidFill>
                      <a:srgbClr val="F8FAFC"/>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OWASP TOP 10 • THỰC NGHIỆM AN TOÀN WEB</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Áp Dụng Kiến Trúc An Toàn Vào Đồ Án Website Tư Vấn Trực Tuyến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 Trường Đại học Mở Hà Nội (HOU) • Giảng viên: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D4ED8"/>
                </a:solidFill>
              </a:defRPr>
            </a:pPr>
            <a:r>
              <a:t>ÁP DỤNG KIẾN TRÚC BẢO MẬT ĐA TẦNG CHO BTL (WNC.G01):</a:t>
            </a:r>
          </a:p>
          <a:p>
            <a:pPr>
              <a:spcBef>
                <a:spcPts val="1000"/>
              </a:spcBef>
              <a:defRPr sz="1250">
                <a:solidFill>
                  <a:srgbClr val="334155"/>
                </a:solidFill>
              </a:defRPr>
            </a:pPr>
            <a:r>
              <a:t>1. Kiến trúc Security by Design (Buổi 8): Tích hợp đồng bộ các lớp bảo vệ ngay từ giai đoạn thiết kế hệ thống, phân quyền chặt chẽ theo 3 Role (Customer, Specialist, Admin).</a:t>
            </a:r>
            <a:br/>
            <a:br/>
            <a:r>
              <a:t>2. Tầng CSDL (Nguyễn Danh Học): Toàn bộ thao tác nghiệp vụ khai thác CSDL qua Entity Framework Core Code-First với LINQ Parameterized, loại bỏ hoàn toàn việc ghép chuỗi truy vấn.</a:t>
            </a:r>
            <a:br/>
            <a:br/>
            <a:r>
              <a:t>3. Tầng Giao diện (Nguyễn Thanh Bình): Dữ liệu phản hồi và đánh giá chuyên gia được Razor View mã hóa tự động, Cookie thiết lập đầy đủ thuộc tính HttpOnly và Secure.</a:t>
            </a:r>
            <a:br/>
            <a:br/>
            <a:r>
              <a:t>4. Tầng Giao dịch (Nguyễn Minh Cường): Bắt buộc kiểm tra Anti-Forgery Token cho toàn bộ các biểu mẫu POST và yêu cầu Fetch API đặt lịch hẹn, giao dịch ví.</a:t>
            </a:r>
          </a:p>
          <a:p>
            <a:pPr>
              <a:spcBef>
                <a:spcPts val="1800"/>
              </a:spcBef>
              <a:defRPr sz="1400" b="1">
                <a:solidFill>
                  <a:srgbClr val="BE123C"/>
                </a:solidFill>
              </a:defRPr>
            </a:pPr>
            <a:r>
              <a:t>Kính chúc thầy sức khỏe. Nhóm WNC.G01 xin trân trọng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