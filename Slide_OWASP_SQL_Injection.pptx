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TRƯỜNG ĐẠI HỌC MỞ HÀ NỘI — KHOA CÔNG NGHỆ THÔNG TIN</a:t>
            </a:r>
          </a:p>
          <a:p>
            <a:pPr>
              <a:spcBef>
                <a:spcPts val="1400"/>
              </a:spcBef>
              <a:defRPr sz="1800" b="1">
                <a:solidFill>
                  <a:srgbClr val="DC2626"/>
                </a:solidFill>
              </a:defRPr>
            </a:pPr>
            <a:r>
              <a:t>BÁO CÁO THỰC NGHIỆM LỖ HỔNG AN TOÀN WEB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SQL INJECTION (OWASP A03:2021)</a:t>
            </a:r>
            <a:br/>
            <a:r>
              <a:t>Kịch Bản Tấn Công &amp; Cơ Chế Phòng Thủ Trực Quan Trên ASP.NET Core</a:t>
            </a:r>
          </a:p>
          <a:p>
            <a:pPr>
              <a:spcBef>
                <a:spcPts val="2000"/>
              </a:spcBef>
              <a:defRPr sz="1400">
                <a:solidFill>
                  <a:srgbClr val="CBD5E1"/>
                </a:solidFill>
              </a:defRPr>
            </a:pPr>
            <a:r>
              <a:t>Giảng viên hướng dẫn: ThS. Lê Hữu Dũng</a:t>
            </a:r>
            <a:br/>
            <a:r>
              <a:t>Môn học: Lập trình Web nâng cao</a:t>
            </a:r>
          </a:p>
          <a:p>
            <a:pPr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Nhóm thực hiện: WNC.G01</a:t>
            </a:r>
            <a:br/>
            <a:r>
              <a:t>1. Nguyễn Danh Học (MSV: 23A1001D0158) — Báo cáo &amp; Thực nghiệm chính</a:t>
            </a:r>
            <a:br/>
            <a:r>
              <a:t>2. Nguyễn Thanh Bình (MSV: 23A1001D0041)</a:t>
            </a:r>
            <a:br/>
            <a:r>
              <a:t>3. Nguyễn Minh Cường (MSV: 23A1001D0058)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OWASP TOP 10 - A03:2021 (INJECTION)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1. Bản Chất Kỹ Thuật Của Lỗ Hổng SQL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Nhóm WNC.G01 (HOU) • Môn Lập Trình Web Nâng Cao • ThS. Lê Hữu Dũng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Nguyên Nhân Cốt Lõi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Không phân tách giữa DỮ LIỆU (Data) và CÂU LỆNH (Code).</a:t>
            </a:r>
            <a:br/>
            <a:r>
              <a:t>• Lập trình viên ghép chuỗi đầu vào của người dùng trực tiếp vào câu lệnh SQL.</a:t>
            </a:r>
            <a:br/>
            <a:r>
              <a:t>• Kẻ tấn công lợi dụng các ký tự điều khiển (', --, /*, ;) để 'thoát' khỏi ngữ cảnh dữ liệu và ép SQL Server thực thi logic do hacker chỉ định.</a:t>
            </a:r>
          </a:p>
          <a:p>
            <a:pPr>
              <a:spcBef>
                <a:spcPts val="1600"/>
              </a:spcBef>
              <a:defRPr sz="1600" b="1">
                <a:solidFill>
                  <a:srgbClr val="2563EB"/>
                </a:solidFill>
              </a:defRPr>
            </a:pPr>
            <a:r>
              <a:t>Phân Loại Theo Tiêu Chuẩn OWASP WSTG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1. In-band SQLi (Khai thác trực diện):</a:t>
            </a:r>
            <a:br/>
            <a:r>
              <a:t>   - Error-based: Ép CSDL sinh lỗi để đọc dữ liệu.</a:t>
            </a:r>
            <a:br/>
            <a:r>
              <a:t>   - Union-based: Dùng UNION trích xuất các bảng khác.</a:t>
            </a:r>
            <a:br/>
            <a:r>
              <a:t>2. Inferential SQLi (Blind SQLi / Mù):</a:t>
            </a:r>
            <a:br/>
            <a:r>
              <a:t>   - Boolean-based: Đoán dữ liệu qua phản hồi Đúng/Sai.</a:t>
            </a:r>
            <a:br/>
            <a:r>
              <a:t>   - Time-based: Dùng WAITFOR DELAY đo thời gian.</a:t>
            </a:r>
            <a:br/>
            <a:r>
              <a:t>3. Out-of-band SQLi: Kích hoạt DNS/HTTP request từ CSDL.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Đoạn Code Gây Lỗi Cụ Thể (C# / ASP.NET Core)</a:t>
            </a:r>
          </a:p>
          <a:p>
            <a:pPr>
              <a:spcBef>
                <a:spcPts val="800"/>
              </a:spcBef>
              <a:defRPr sz="1100">
                <a:solidFill>
                  <a:srgbClr val="B91C1C"/>
                </a:solidFill>
                <a:latin typeface="Courier New"/>
              </a:defRPr>
            </a:pPr>
            <a:r>
              <a:t>// Nối chuỗi trực tiếp từ Request:</a:t>
            </a:r>
            <a:br/>
            <a:r>
              <a:t>string query = $"SELECT * FROM Accounts " +</a:t>
            </a:r>
            <a:br/>
            <a:r>
              <a:t>               $"WHERE Username = '{user}' " +</a:t>
            </a:r>
            <a:br/>
            <a:r>
              <a:t>               $"AND Password = '{pass}'";</a:t>
            </a:r>
            <a:br/>
            <a:br/>
            <a:r>
              <a:t>var users = _context.Accounts</a:t>
            </a:r>
            <a:br/>
            <a:r>
              <a:t>                    .FromSqlRaw(query)</a:t>
            </a:r>
            <a:br/>
            <a:r>
              <a:t>                    .ToList();</a:t>
            </a:r>
          </a:p>
          <a:p>
            <a:pPr>
              <a:spcBef>
                <a:spcPts val="1400"/>
              </a:spcBef>
              <a:defRPr sz="1300" b="1">
                <a:solidFill>
                  <a:srgbClr val="1E293B"/>
                </a:solidFill>
              </a:defRPr>
            </a:pPr>
            <a:r>
              <a:t>⚠️ Điểm mù nguy hiểm: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Lập trình viên tin tưởng rằng '{user}' chỉ chứa chữ cái thường. Khi hacker truyền vào ký tự nháy đơn ('), cấu trúc cú pháp của cả câu lệnh bị bẻ gãy hoàn toàn.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OWASP TOP 10 - A03:2021 (INJECTION)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2. Độ Nguy Hiểm Thực Tế Của SQL Injection (Tác Động Nghiêm Trọng)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Nhóm WNC.G01 (HOU) • Môn Lập Trình Web Nâng Cao • ThS. Lê Hữu Dũng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🚨 CHIẾM QUYỀN HỆ THỐNG</a:t>
            </a:r>
            <a:br/>
            <a:r>
              <a:t>(Authentication Bypass)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Không cần biết mật khẩu của bất kỳ ai.</a:t>
            </a:r>
            <a:br/>
            <a:r>
              <a:t>• Chỉ với 1 chuỗi payload ngắn gọn, kẻ tấn công đăng nhập thẳng vào tài khoản Quản trị viên (Admin).</a:t>
            </a:r>
            <a:br/>
            <a:r>
              <a:t>• Chiếm đoạt phiên làm việc, thay đổi phân quyền và khóa tài khoản người dùng khác.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</a:defRPr>
            </a:pPr>
            <a:r>
              <a:t>📂 ĐÁNH CẮP TOÀN BỘ CSDL</a:t>
            </a:r>
            <a:br/>
            <a:r>
              <a:t>(Data Exfiltration)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Trích xuất thông tin khách hàng, hồ sơ chuyên gia, số dư tài khoản ngân hàng.</a:t>
            </a:r>
            <a:br/>
            <a:r>
              <a:t>• Rò rỉ mật khẩu và ghi chú bảo mật cá nhân (Secret Notes).</a:t>
            </a:r>
            <a:br/>
            <a:r>
              <a:t>• Vi phạm nghiêm trọng luật bảo vệ dữ liệu cá nhân, làm sụp đổ uy tín của nền tảng tư vấn trực tuyến.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02C"/>
                </a:solidFill>
              </a:defRPr>
            </a:pPr>
            <a:r>
              <a:t>💣 PHÁ HỦY / THỰC THI LỆNH</a:t>
            </a:r>
            <a:br/>
            <a:r>
              <a:t>(System Takeover)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Xóa sổ toàn bộ cơ sở dữ liệu với lệnh DROP TABLE hoặc TRUNCATE.</a:t>
            </a:r>
            <a:br/>
            <a:r>
              <a:t>• Thay đổi số dư tiền trong tài khoản trái phép.</a:t>
            </a:r>
            <a:br/>
            <a:r>
              <a:t>• Trong các CSDL cấu hình lỏng lẻo, hacker có thể bật xp_cmdshell để chiếm quyền điều khiển toàn bộ máy chủ hệ điều hành.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OWASP TOP 10 - A03:2021 (INJECTION)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3. Kịch Bản Tấn Công: Phân Tích Cơ Chế Bẻ Gãy Cú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Nhóm WNC.G01 (HOU) • Môn Lập Trình Web Nâng Cao • ThS. Lê Hữu Dũng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Kịch bản: Bypass xác thực đăng nhập Quản Trị Viên</a:t>
            </a:r>
          </a:p>
          <a:p>
            <a:pPr>
              <a:spcBef>
                <a:spcPts val="800"/>
              </a:spcBef>
              <a:defRPr sz="1400" b="1">
                <a:solidFill>
                  <a:srgbClr val="2563EB"/>
                </a:solidFill>
                <a:latin typeface="Courier New"/>
              </a:defRPr>
            </a:pPr>
            <a:r>
              <a:t>Input đưa vào ô Username:   ' OR '1'='1' --</a:t>
            </a:r>
            <a:br/>
            <a:r>
              <a:t>Input đưa vào ô Password:   (Nhập chuỗi bất kỳ hoặc bỏ trống)</a:t>
            </a:r>
          </a:p>
          <a:p>
            <a:pPr>
              <a:spcBef>
                <a:spcPts val="1600"/>
              </a:spcBef>
              <a:defRPr sz="1500" b="1">
                <a:solidFill>
                  <a:srgbClr val="1E293B"/>
                </a:solidFill>
              </a:defRPr>
            </a:pPr>
            <a:r>
              <a:t>Cấu trúc câu truy vấn được SQL Server thông dịch:</a:t>
            </a:r>
          </a:p>
          <a:p>
            <a:pPr>
              <a:spcBef>
                <a:spcPts val="600"/>
              </a:spcBef>
              <a:defRPr sz="1400" b="1">
                <a:solidFill>
                  <a:srgbClr val="DC2626"/>
                </a:solidFill>
                <a:latin typeface="Courier New"/>
              </a:defRPr>
            </a:pPr>
            <a:r>
              <a:t>SELECT * FROM Accounts WHERE Username = '' OR '1'='1' --' AND Password = 'xyz'</a:t>
            </a:r>
          </a:p>
          <a:p>
            <a:pPr>
              <a:spcBef>
                <a:spcPts val="1600"/>
              </a:spcBef>
              <a:defRPr sz="1500" b="1">
                <a:solidFill>
                  <a:srgbClr val="1E293B"/>
                </a:solidFill>
              </a:defRPr>
            </a:pPr>
            <a:r>
              <a:t>3 Thành Phần Của Payload Khai Thác: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1. Dấu nháy đơn (') : Đóng sớm chuỗi ký tự hợp lệ của trường Username, đưa ngữ cảnh về câu lệnh SQL.</a:t>
            </a:r>
            <a:br/>
            <a:r>
              <a:t>2. Mệnh đề OR '1'='1' : Mệnh đề luận lý chân lý. Vì '1'='1' luôn đúng, toàn bộ mệnh đề WHERE trả về TRUE cho TẤT CẢ các dòng trong bảng.</a:t>
            </a:r>
            <a:br/>
            <a:r>
              <a:t>3. Ký tự chú thích (--) : Trong SQL Server/SQLite, '--' biến toàn bộ đoạn mã phía sau thành ghi chú vô hiệu, triệt tiêu hoàn toàn bước kiểm tra mật khẩu (AND Password = '...').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OWASP TOP 10 - A03:2021 (INJECTION)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4. Minh Chứng Thực Nghiệm Demo Đối Chứng Trực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Nhóm WNC.G01 (HOU) • Môn Lập Trình Web Nâng Cao • ThS. Lê Hữu Dũng</a:t>
            </a:r>
          </a:p>
        </p:txBody>
      </p:sp>
      <p:pic>
        <p:nvPicPr>
          <p:cNvPr id="5" name="Picture 4" descr="02_Tan_Cong_Bypass_Thanh_C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5778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❌ BỊ LỖI: Nhập payload → Vượt mặt đăng nhập thành công, lộ toàn bộ CSDL và mật khẩu.</a:t>
            </a:r>
          </a:p>
        </p:txBody>
      </p:sp>
      <p:pic>
        <p:nvPicPr>
          <p:cNvPr id="7" name="Picture 6" descr="03_So_Sanh_Phong_Thu_Thanh_C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5778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✅ ĐÃ VÁ: Cùng payload sang nhánh EF Core → Bị chặn đứng, bảo vệ dữ liệu an toàn 100%.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OWASP TOP 10 - A03:2021 (INJECTION)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5. Biện Pháp Phòng Thủ Chuẩn Trong ASP.NET Core MVC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Nhóm WNC.G01 (HOU) • Môn Lập Trình Web Nâng Cao • ThS. Lê Hữu Dũng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Cách Viết Code Chuẩn Hóa Với EF Core</a:t>
            </a:r>
          </a:p>
          <a:p>
            <a:pPr>
              <a:spcBef>
                <a:spcPts val="800"/>
              </a:spcBef>
              <a:defRPr sz="1050">
                <a:solidFill>
                  <a:srgbClr val="166534"/>
                </a:solidFill>
                <a:latin typeface="Courier New"/>
              </a:defRPr>
            </a:pPr>
            <a:r>
              <a:t>// Dùng LINQ Parameterized (KHUYÊN DÙNG):</a:t>
            </a:r>
            <a:br/>
            <a:r>
              <a:t>var account = _context.Accounts</a:t>
            </a:r>
            <a:br/>
            <a:r>
              <a:t>    .FirstOrDefault(a =&gt; a.Username == user </a:t>
            </a:r>
            <a:br/>
            <a:r>
              <a:t>                      &amp;&amp; a.Password == pass);</a:t>
            </a:r>
            <a:br/>
            <a:br/>
            <a:r>
              <a:t>// Hoặc dùng FromSqlInterpolated nếu viết SQL thuần:</a:t>
            </a:r>
            <a:br/>
            <a:r>
              <a:t>var account = _context.Accounts</a:t>
            </a:r>
            <a:br/>
            <a:r>
              <a:t>    .FromSqlInterpolated($"SELECT * FROM Accounts WHERE Username={user} AND Password={pass}")</a:t>
            </a:r>
            <a:br/>
            <a:r>
              <a:t>    .FirstOrDefault();</a:t>
            </a:r>
          </a:p>
          <a:p>
            <a:pPr>
              <a:spcBef>
                <a:spcPts val="1200"/>
              </a:spcBef>
              <a:defRPr sz="1200" b="1">
                <a:solidFill>
                  <a:srgbClr val="1E293B"/>
                </a:solidFill>
              </a:defRPr>
            </a:pPr>
            <a:r>
              <a:t>Tại sao cách này an toàn tuyệt đối?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SQL Server biên dịch cấu trúc lệnh TRƯỚC khi gán dữ liệu. Biến @p0 nhận toàn bộ payload như một chuỗi chữ bình thường, vô hiệu hóa hoàn toàn ý đồ chèn lệnh.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Bộ Quy Tắc Phòng Thủ Toàn Diện (Defense in Depth)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1. Luôn sử dụng Parameterized Query / ORM:</a:t>
            </a:r>
            <a:br/>
            <a:r>
              <a:t>Tuyệt đối không ghép chuỗi SQL thủ công dưới bất kỳ hình thức nào.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2. Nguyên tắc đặc quyền tối thiểu (Least Privilege):</a:t>
            </a:r>
            <a:br/>
            <a:r>
              <a:t>Tài khoản kết nối CSDL của ứng dụng chỉ có quyền SELECT/INSERT/UPDATE trên các bảng cần thiết, không bao giờ dùng tài khoản 'sa' hay quyền DDL (DROP, ALTER).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3. Xác thực dữ liệu đầu vào (Input Validation):</a:t>
            </a:r>
            <a:br/>
            <a:r>
              <a:t>Sử dụng Data Annotations ([RegularExpression], [StringLength]) kiểm tra chặt chẽ khuôn dạng dữ liệu.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4. Mã hóa mật khẩu một chiều (Password Hashing):</a:t>
            </a:r>
            <a:br/>
            <a:r>
              <a:t>Sử dụng ASP.NET Core Identity (PBKDF2/BCrypt) để nếu CSDL có bị lộ, mật khẩu vẫn được bảo vệ an toàn.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