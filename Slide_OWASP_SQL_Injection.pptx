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731520"/>
            <a:ext cx="5303520" cy="384048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1D4ED8"/>
                </a:solidFill>
              </a:defRPr>
            </a:pPr>
            <a:r>
              <a:t>TRƯỜNG ĐẠI HỌC MỞ HÀ NỘI — KHOA CÔNG NGHỆ THÔNG 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34440"/>
            <a:ext cx="1036289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BE123C"/>
                </a:solidFill>
              </a:defRPr>
            </a:pPr>
            <a:r>
              <a:t>BÁO CÁO THỰC NGHIỆM AN TOÀN WEB (OWASP TOP 10)</a:t>
            </a:r>
          </a:p>
          <a:p>
            <a:pPr>
              <a:spcBef>
                <a:spcPts val="800"/>
              </a:spcBef>
              <a:defRPr sz="3200" b="1">
                <a:solidFill>
                  <a:srgbClr val="0F172A"/>
                </a:solidFill>
              </a:defRPr>
            </a:pPr>
            <a:r>
              <a:t>Lỗ Hổng SQL Injection (A03:2021)</a:t>
            </a:r>
            <a:br/>
            <a:r>
              <a:t>Kịch Bản Tấn Công &amp; Phòng Thủ Đa Tầng</a:t>
            </a:r>
          </a:p>
          <a:p>
            <a:pPr>
              <a:spcBef>
                <a:spcPts val="1000"/>
              </a:spcBef>
              <a:defRPr sz="1400">
                <a:solidFill>
                  <a:srgbClr val="334155"/>
                </a:solidFill>
              </a:defRPr>
            </a:pPr>
            <a:r>
              <a:t>Môn học: Lập trình Web nâng cao  •  Giảng viên hướng dẫn: ThS. Lê Hữu Dũng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4389120"/>
            <a:ext cx="10362895" cy="1737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4526280"/>
            <a:ext cx="9784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D4ED8"/>
                </a:solidFill>
              </a:defRPr>
            </a:pPr>
            <a:r>
              <a:t>NHÓM THỰC HIỆN: WNC.G01</a:t>
            </a:r>
          </a:p>
          <a:p>
            <a:pPr>
              <a:spcBef>
                <a:spcPts val="600"/>
              </a:spcBef>
              <a:defRPr sz="1250">
                <a:solidFill>
                  <a:srgbClr val="0F172A"/>
                </a:solidFill>
              </a:defRPr>
            </a:pPr>
            <a:r>
              <a:t>1. Nguyễn Danh Học  — MSV: 23A1001D0158 (Phụ trách báo cáo &amp; demo thực nghiệm chính)</a:t>
            </a:r>
            <a:br/>
            <a:r>
              <a:t>2. Nguyễn Thanh Bình — MSV: 23A1001D0041</a:t>
            </a:r>
            <a:br/>
            <a:r>
              <a:t>3. Nguyễn Minh Cường — MSV: 23A1001D0058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3474720" cy="347472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1D4ED8"/>
                </a:solidFill>
              </a:defRPr>
            </a:pPr>
            <a:r>
              <a:t>OWASP TOP 10 • A03:2021 (INJECTION)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1. Bản Chất Kỹ Thuật Của Lỗ Hổng SQL Injection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Nhóm WNC.G01 • Trường Đại học Mở Hà Nội (HOU) • GVHD: ThS. Lê Hữu Dũng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5120640" cy="48463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6304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BE123C"/>
                </a:solidFill>
              </a:defRPr>
            </a:pPr>
            <a:r>
              <a:t>Nguyên Nhân Cốt Lõi</a:t>
            </a:r>
          </a:p>
          <a:p>
            <a:pPr>
              <a:spcBef>
                <a:spcPts val="800"/>
              </a:spcBef>
              <a:defRPr sz="1250">
                <a:solidFill>
                  <a:srgbClr val="334155"/>
                </a:solidFill>
              </a:defRPr>
            </a:pPr>
            <a:r>
              <a:t>• Không phân tách giữa DỮ LIỆU (Data) và CÂU LỆNH (Code).</a:t>
            </a:r>
            <a:br/>
            <a:r>
              <a:t>• Ứng dụng nối chuỗi trực tiếp từ người dùng vào câu SQL khiến CSDL không phân biệt được đâu là dữ liệu, đâu là lệnh điều khiển.</a:t>
            </a:r>
            <a:br/>
            <a:r>
              <a:t>• Hacker dùng các ký tự đặc biệt (', --, ;) để bẻ gãy cấu trúc logic của câu lệnh.</a:t>
            </a:r>
          </a:p>
          <a:p>
            <a:pPr>
              <a:spcBef>
                <a:spcPts val="1600"/>
              </a:spcBef>
              <a:defRPr sz="1500" b="1">
                <a:solidFill>
                  <a:srgbClr val="1D4ED8"/>
                </a:solidFill>
              </a:defRPr>
            </a:pPr>
            <a:r>
              <a:t>Phân Loại Theo Chuẩn OWASP WSTG</a:t>
            </a:r>
          </a:p>
          <a:p>
            <a:pPr>
              <a:spcBef>
                <a:spcPts val="600"/>
              </a:spcBef>
              <a:defRPr sz="1200">
                <a:solidFill>
                  <a:srgbClr val="334155"/>
                </a:solidFill>
              </a:defRPr>
            </a:pPr>
            <a:r>
              <a:t>1. In-band SQLi: Khai thác trực diện qua Error hoặc UNION.</a:t>
            </a:r>
            <a:br/>
            <a:r>
              <a:t>2. Inferential SQLi (Blind): Suy luận mù qua Boolean hoặc Time delay.</a:t>
            </a:r>
            <a:br/>
            <a:r>
              <a:t>3. Out-of-band SQLi: Kích hoạt DNS/HTTP request từ CSDL.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25880"/>
            <a:ext cx="5212080" cy="4846320"/>
          </a:xfrm>
          <a:prstGeom prst="roundRect">
            <a:avLst/>
          </a:prstGeom>
          <a:solidFill>
            <a:srgbClr val="FFF1F2"/>
          </a:solidFill>
          <a:ln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46304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BE123C"/>
                </a:solidFill>
              </a:defRPr>
            </a:pPr>
            <a:r>
              <a:t>Mã Nguồn C# Gây Lỗi (Cố Tình Ghép Chuỗi)</a:t>
            </a:r>
          </a:p>
          <a:p>
            <a:pPr>
              <a:spcBef>
                <a:spcPts val="1000"/>
              </a:spcBef>
              <a:defRPr sz="1100">
                <a:solidFill>
                  <a:srgbClr val="9F1239"/>
                </a:solidFill>
                <a:latin typeface="Courier New"/>
              </a:defRPr>
            </a:pPr>
            <a:r>
              <a:t>// Nối chuỗi trực tiếp từ Request:</a:t>
            </a:r>
            <a:br/>
            <a:r>
              <a:t>string query = $"SELECT * FROM Accounts " +</a:t>
            </a:r>
            <a:br/>
            <a:r>
              <a:t>               $"WHERE Username = '{user}' " +</a:t>
            </a:r>
            <a:br/>
            <a:r>
              <a:t>               $"AND Password = '{pass}'";</a:t>
            </a:r>
            <a:br/>
            <a:br/>
            <a:r>
              <a:t>var users = _context.Accounts</a:t>
            </a:r>
            <a:br/>
            <a:r>
              <a:t>                    .FromSqlRaw(query)</a:t>
            </a:r>
            <a:br/>
            <a:r>
              <a:t>                    .ToList();</a:t>
            </a:r>
          </a:p>
          <a:p>
            <a:pPr>
              <a:spcBef>
                <a:spcPts val="1600"/>
              </a:spcBef>
              <a:defRPr sz="1300" b="1">
                <a:solidFill>
                  <a:srgbClr val="0F172A"/>
                </a:solidFill>
              </a:defRPr>
            </a:pPr>
            <a:r>
              <a:t>⚠️ Điểm mù chết người:</a:t>
            </a:r>
          </a:p>
          <a:p>
            <a:pPr>
              <a:spcBef>
                <a:spcPts val="400"/>
              </a:spcBef>
              <a:defRPr sz="1200">
                <a:solidFill>
                  <a:srgbClr val="334155"/>
                </a:solidFill>
              </a:defRPr>
            </a:pPr>
            <a:r>
              <a:t>Lập trình viên tin tưởng input '{user}' là vô hại. Dấu nháy đơn (') của hacker lập tức đóng sớm chuỗi dữ liệu, biến phần còn lại thành câu lệnh SQL có chủ đích.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3474720" cy="347472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1D4ED8"/>
                </a:solidFill>
              </a:defRPr>
            </a:pPr>
            <a:r>
              <a:t>OWASP TOP 10 • A03:2021 (INJECTION)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2. Độ Nguy Hiểm Thực Tế Của SQL Injection (Tác Động Nghiêm Trọng)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Nhóm WNC.G01 • Trường Đại học Mở Hà Nội (HOU) • GVHD: ThS. Lê Hữu Dũng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3328416" cy="4846320"/>
          </a:xfrm>
          <a:prstGeom prst="roundRect">
            <a:avLst/>
          </a:prstGeom>
          <a:solidFill>
            <a:srgbClr val="FFF1F2"/>
          </a:solidFill>
          <a:ln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508760"/>
            <a:ext cx="3054096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BE123C"/>
                </a:solidFill>
              </a:defRPr>
            </a:pPr>
            <a:r>
              <a:t>🚨 CHIẾM QUYỀN HỆ THỐNG</a:t>
            </a:r>
            <a:br/>
            <a:r>
              <a:t>(Authentication Bypass)</a:t>
            </a:r>
          </a:p>
          <a:p>
            <a:pPr>
              <a:spcBef>
                <a:spcPts val="1000"/>
              </a:spcBef>
              <a:defRPr sz="1200">
                <a:solidFill>
                  <a:srgbClr val="334155"/>
                </a:solidFill>
              </a:defRPr>
            </a:pPr>
            <a:r>
              <a:t>• Không cần biết mật khẩu của bất kỳ ai.</a:t>
            </a:r>
            <a:br/>
            <a:r>
              <a:t>• Chỉ với 1 chuỗi payload ngắn, kẻ tấn công đăng nhập thẳng vào tài khoản Quản trị viên (Admin).</a:t>
            </a:r>
            <a:br/>
            <a:r>
              <a:t>• Chiếm đoạt phiên làm việc, đổi quyền hạn và kiểm soát toàn bộ hệ thống.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6552" y="1325880"/>
            <a:ext cx="3328416" cy="4846320"/>
          </a:xfrm>
          <a:prstGeom prst="roundRect">
            <a:avLst/>
          </a:prstGeom>
          <a:solidFill>
            <a:srgbClr val="FFFBEB"/>
          </a:solidFill>
          <a:ln>
            <a:solidFill>
              <a:srgbClr val="FEF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53712" y="1508760"/>
            <a:ext cx="3054096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B45309"/>
                </a:solidFill>
              </a:defRPr>
            </a:pPr>
            <a:r>
              <a:t>📂 ĐÁNH CẮP TOÀN BỘ CSDL</a:t>
            </a:r>
            <a:br/>
            <a:r>
              <a:t>(Data Exfiltration)</a:t>
            </a:r>
          </a:p>
          <a:p>
            <a:pPr>
              <a:spcBef>
                <a:spcPts val="1000"/>
              </a:spcBef>
              <a:defRPr sz="1200">
                <a:solidFill>
                  <a:srgbClr val="334155"/>
                </a:solidFill>
              </a:defRPr>
            </a:pPr>
            <a:r>
              <a:t>• Trích xuất thông tin khách hàng, hồ sơ chuyên gia, số dư tài khoản ngân hàng.</a:t>
            </a:r>
            <a:br/>
            <a:r>
              <a:t>• Rò rỉ mật khẩu và bệnh án cá nhân (Secret Notes).</a:t>
            </a:r>
            <a:br/>
            <a:r>
              <a:t>• Vi phạm nghiêm trọng an ninh dữ liệu, phá vỡ uy tín của nền tảng tư vấn trực tuyến.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01584" y="1325880"/>
            <a:ext cx="3328416" cy="4846320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38744" y="1508760"/>
            <a:ext cx="3054096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D4ED8"/>
                </a:solidFill>
              </a:defRPr>
            </a:pPr>
            <a:r>
              <a:t>💣 PHÁ HỦY / THỰC THI LỆNH</a:t>
            </a:r>
            <a:br/>
            <a:r>
              <a:t>(System Takeover)</a:t>
            </a:r>
          </a:p>
          <a:p>
            <a:pPr>
              <a:spcBef>
                <a:spcPts val="1000"/>
              </a:spcBef>
              <a:defRPr sz="1200">
                <a:solidFill>
                  <a:srgbClr val="334155"/>
                </a:solidFill>
              </a:defRPr>
            </a:pPr>
            <a:r>
              <a:t>• Xóa sạch CSDL với lệnh DROP TABLE hoặc TRUNCATE.</a:t>
            </a:r>
            <a:br/>
            <a:r>
              <a:t>• Giả mạo số dư tiền trong tài khoản.</a:t>
            </a:r>
            <a:br/>
            <a:r>
              <a:t>• Trong các CSDL cấu hình lỏng lẻo, hacker có thể bật xp_cmdshell để chiếm quyền điều khiển cả máy chủ hệ điều hành.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3474720" cy="347472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1D4ED8"/>
                </a:solidFill>
              </a:defRPr>
            </a:pPr>
            <a:r>
              <a:t>OWASP TOP 10 • A03:2021 (INJECTION)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3. Kịch Bản Tấn Công: Phân Tích Cơ Chế Bẻ Gãy Cú Pháp 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Nhóm WNC.G01 • Trường Đại học Mở Hà Nội (HOU) • GVHD: ThS. Lê Hữu Dũng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10728655" cy="48463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463040"/>
            <a:ext cx="10149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BE123C"/>
                </a:solidFill>
              </a:defRPr>
            </a:pPr>
            <a:r>
              <a:t>Mục tiêu khai thác: Vượt qua xác thực đăng nhập (Authentication Bypass)</a:t>
            </a:r>
          </a:p>
          <a:p>
            <a:pPr>
              <a:spcBef>
                <a:spcPts val="800"/>
              </a:spcBef>
              <a:defRPr sz="1300" b="1">
                <a:solidFill>
                  <a:srgbClr val="1D4ED8"/>
                </a:solidFill>
                <a:latin typeface="Courier New"/>
              </a:defRPr>
            </a:pPr>
            <a:r>
              <a:t>Payload đưa vào Username:   ' OR '1'='1' --</a:t>
            </a:r>
            <a:br/>
            <a:r>
              <a:t>Mật khẩu đưa vào Password: (Nhập bất kỳ hoặc bỏ trống)</a:t>
            </a:r>
          </a:p>
          <a:p>
            <a:pPr>
              <a:spcBef>
                <a:spcPts val="1200"/>
              </a:spcBef>
              <a:defRPr sz="1400" b="1">
                <a:solidFill>
                  <a:srgbClr val="0F172A"/>
                </a:solidFill>
              </a:defRPr>
            </a:pPr>
            <a:r>
              <a:t>Câu truy vấn thực tế được SQL Server phân tích &amp; thông dịch:</a:t>
            </a:r>
          </a:p>
          <a:p>
            <a:pPr>
              <a:spcBef>
                <a:spcPts val="400"/>
              </a:spcBef>
              <a:defRPr sz="1350" b="1">
                <a:solidFill>
                  <a:srgbClr val="BE123C"/>
                </a:solidFill>
                <a:latin typeface="Courier New"/>
              </a:defRPr>
            </a:pPr>
            <a:r>
              <a:t>SELECT * FROM Accounts WHERE Username = '' OR '1'='1' --' AND Password = 'xyz'</a:t>
            </a:r>
          </a:p>
          <a:p>
            <a:pPr>
              <a:spcBef>
                <a:spcPts val="1400"/>
              </a:spcBef>
              <a:defRPr sz="1400" b="1">
                <a:solidFill>
                  <a:srgbClr val="0F172A"/>
                </a:solidFill>
              </a:defRPr>
            </a:pPr>
            <a:r>
              <a:t>Giải Phẫu 3 Thành Phần Của Payload:</a:t>
            </a:r>
          </a:p>
          <a:p>
            <a:pPr>
              <a:spcBef>
                <a:spcPts val="600"/>
              </a:spcBef>
              <a:defRPr sz="1250">
                <a:solidFill>
                  <a:srgbClr val="334155"/>
                </a:solidFill>
              </a:defRPr>
            </a:pPr>
            <a:r>
              <a:t>1. Dấu nháy đơn (') : Đóng sớm chuỗi ký tự hợp lệ của Username, đưa ngữ cảnh trở lại câu lệnh SQL.</a:t>
            </a:r>
            <a:br/>
            <a:r>
              <a:t>2. Mệnh đề OR '1'='1' : Biểu thức logic chân lý (luôn luôn TRUE cho mọi dòng trong bảng Accounts).</a:t>
            </a:r>
            <a:br/>
            <a:r>
              <a:t>3. Ký tự chú thích (--) : Vô hiệu hóa hoàn toàn phần kiểm tra mật khẩu phía sau (AND Password = '...').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3474720" cy="347472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1D4ED8"/>
                </a:solidFill>
              </a:defRPr>
            </a:pPr>
            <a:r>
              <a:t>OWASP TOP 10 • A03:2021 (INJECTION)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4. Đối Chứng Thực Nghiệm: Nhánh Dính Lỗi vs Nhánh Đã Phòng Thủ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Nhóm WNC.G01 • Trường Đại học Mở Hà Nội (HOU) • GVHD: ThS. Lê Hữu Dũng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5166360" cy="3840480"/>
          </a:xfrm>
          <a:prstGeom prst="roundRect">
            <a:avLst/>
          </a:prstGeom>
          <a:solidFill>
            <a:srgbClr val="FFF1F2"/>
          </a:solidFill>
          <a:ln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63040"/>
            <a:ext cx="48006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BE123C"/>
                </a:solidFill>
              </a:defRPr>
            </a:pPr>
            <a:r>
              <a:t>❌ 1. NHÁNH BỊ LỖI (Nối Chuỗi SQL Thuần)</a:t>
            </a:r>
          </a:p>
          <a:p>
            <a:pPr>
              <a:spcBef>
                <a:spcPts val="800"/>
              </a:spcBef>
              <a:defRPr sz="1200">
                <a:solidFill>
                  <a:srgbClr val="334155"/>
                </a:solidFill>
              </a:defRPr>
            </a:pPr>
            <a:r>
              <a:t>• Input khai thác: ' OR '1'='1' --</a:t>
            </a:r>
            <a:br/>
            <a:r>
              <a:t>• Câu lệnh thực thi:</a:t>
            </a:r>
            <a:br/>
            <a:r>
              <a:t>  SELECT * FROM Accounts WHERE Username = '' OR '1'='1' --'</a:t>
            </a:r>
            <a:br/>
            <a:r>
              <a:t>• Cơ chế thông dịch: Mệnh đề WHERE luôn TRUE.</a:t>
            </a:r>
            <a:br/>
            <a:r>
              <a:t>• Hậu quả thực tế:</a:t>
            </a:r>
            <a:br/>
            <a:r>
              <a:t>  - Đăng nhập thành công mà KHÔNG CẦN mật khẩu.</a:t>
            </a:r>
            <a:br/>
            <a:r>
              <a:t>  - Rò rỉ toàn bộ 4 tài khoản CSDL (Admin, Chuyên gia, Khách hàng).</a:t>
            </a:r>
            <a:br/>
            <a:r>
              <a:t>  - Lộ mật khẩu gốc và số dư tài khoản ngân hàng.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25880"/>
            <a:ext cx="5166360" cy="3840480"/>
          </a:xfrm>
          <a:prstGeom prst="roundRect">
            <a:avLst/>
          </a:prstGeom>
          <a:solidFill>
            <a:srgbClr val="ECFDF5"/>
          </a:solidFill>
          <a:ln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463040"/>
            <a:ext cx="48006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47857"/>
                </a:solidFill>
              </a:defRPr>
            </a:pPr>
            <a:r>
              <a:t>✅ 2. NHÁNH AN TOÀN (EF Core Parameterized)</a:t>
            </a:r>
          </a:p>
          <a:p>
            <a:pPr>
              <a:spcBef>
                <a:spcPts val="800"/>
              </a:spcBef>
              <a:defRPr sz="1200">
                <a:solidFill>
                  <a:srgbClr val="334155"/>
                </a:solidFill>
              </a:defRPr>
            </a:pPr>
            <a:r>
              <a:t>• Cùng Input khai thác: ' OR '1'='1' --</a:t>
            </a:r>
            <a:br/>
            <a:r>
              <a:t>• Câu lệnh thực thi:</a:t>
            </a:r>
            <a:br/>
            <a:r>
              <a:t>  SELECT * FROM Accounts WHERE Username = @p0 AND Pass = @p1</a:t>
            </a:r>
            <a:br/>
            <a:r>
              <a:t>• Cơ chế thông dịch:</a:t>
            </a:r>
            <a:br/>
            <a:r>
              <a:t>  - CSDL biên dịch cây truy vấn (Execution Plan) TRƯỚC.</a:t>
            </a:r>
            <a:br/>
            <a:r>
              <a:t>  - Toàn bộ chuỗi payload được xem là văn bản (String Literal) thuần túy.</a:t>
            </a:r>
            <a:br/>
            <a:r>
              <a:t>• Kết quả phòng thủ:</a:t>
            </a:r>
            <a:br/>
            <a:r>
              <a:t>  - Hệ thống chặn đứng, trả về 0 bản ghi.</a:t>
            </a:r>
            <a:br/>
            <a:r>
              <a:t>  - Báo 'Sai tài khoản/mật khẩu', bảo vệ an toàn 100%.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303520"/>
            <a:ext cx="10728655" cy="868680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349240"/>
            <a:ext cx="10332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1D4ED8"/>
                </a:solidFill>
              </a:defRPr>
            </a:pPr>
            <a:r>
              <a:t>💻 [LIVE DEMO TRÊN MÁY]: Chuyển sang Trình duyệt Web (http://localhost:5076)</a:t>
            </a:r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</a:defRPr>
            </a:pPr>
            <a:r>
              <a:t>Thao tác trực tiếp: Bấm nạp payload → Nhấn submit bên Đỏ (ra toàn bộ CSDL) → Nhấn submit bên Xanh (bị chặn an toàn).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3474720" cy="347472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1D4ED8"/>
                </a:solidFill>
              </a:defRPr>
            </a:pPr>
            <a:r>
              <a:t>OWASP TOP 10 • A03:2021 (INJECTION)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5. Đối Chứng Tầng Sâu: Tầng API (cURL) &amp; Microsoft SQL Server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Nhóm WNC.G01 • Trường Đại học Mở Hà Nội (HOU) • GVHD: ThS. Lê Hữu Dũng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5166360" cy="38404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63040"/>
            <a:ext cx="48006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D4ED8"/>
                </a:solidFill>
              </a:defRPr>
            </a:pPr>
            <a:r>
              <a:t>Minh Chứng Tầng API / Dòng Lệnh (cURL)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  <a:latin typeface="Courier New"/>
              </a:defRPr>
            </a:pPr>
            <a:r>
              <a:t>$ curl -X POST http://localhost:5076/SqlInjection/LoginVulnerable \</a:t>
            </a:r>
            <a:br/>
            <a:r>
              <a:t>       -F "username=' OR '1'='1' --" -F "password=any"</a:t>
            </a:r>
            <a:br/>
            <a:br/>
            <a:r>
              <a:t>Phản hồi JSON từ Server:</a:t>
            </a:r>
            <a:br/>
            <a:r>
              <a:t>{</a:t>
            </a:r>
            <a:br/>
            <a:r>
              <a:t>  "success": true,</a:t>
            </a:r>
            <a:br/>
            <a:r>
              <a:t>  "isExploited": true,</a:t>
            </a:r>
            <a:br/>
            <a:r>
              <a:t>  "count": 4,</a:t>
            </a:r>
            <a:br/>
            <a:r>
              <a:t>  "accounts": [ ... 4 tài khoản bị rò rỉ ... ]</a:t>
            </a:r>
            <a:br/>
            <a:r>
              <a:t>}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📌 Ý nghĩa: Chứng minh lỗ hổng nằm ở logic C# Backend, kẻ tấn công dùng script tự động quét và khai thác mà không cần mở web.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25880"/>
            <a:ext cx="5166360" cy="38404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463040"/>
            <a:ext cx="48006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47857"/>
                </a:solidFill>
              </a:defRPr>
            </a:pPr>
            <a:r>
              <a:t>Minh Chứng Tầng CSDL (SQL Server 2025 Thật)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  <a:latin typeface="Courier New"/>
              </a:defRPr>
            </a:pPr>
            <a:r>
              <a:t>-- Database: OwaspDemoDB | Bảng: dbo.Accounts</a:t>
            </a:r>
            <a:br/>
            <a:r>
              <a:t>-- 1. Câu lệnh dính lỗi:</a:t>
            </a:r>
            <a:br/>
            <a:r>
              <a:t>SELECT * FROM Accounts WHERE Username='' OR '1'='1' --'</a:t>
            </a:r>
            <a:br/>
            <a:r>
              <a:t>&gt;&gt; Kết quả: 4 rows returned (Bypass thành công)</a:t>
            </a:r>
            <a:br/>
            <a:br/>
            <a:r>
              <a:t>-- 2. Câu lệnh tham số hóa chuẩn:</a:t>
            </a:r>
            <a:br/>
            <a:r>
              <a:t>EXEC sp_executesql N'SELECT * FROM Accounts WHERE...',</a:t>
            </a:r>
            <a:br/>
            <a:r>
              <a:t>     N'@p0 nvarchar(50)', @p0 = N''' OR ''1''=''1'' --'</a:t>
            </a:r>
            <a:br/>
            <a:r>
              <a:t>&gt;&gt; Kết quả: 0 rows returned (An toàn 100%)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📌 Ý nghĩa: Đối chiếu trực tiếp trên máy chủ SQL Server 2025 chứng minh cơ chế phân tách rạch ròi giữa cú pháp lệnh và tham số giá trị.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303520"/>
            <a:ext cx="10728655" cy="868680"/>
          </a:xfrm>
          <a:prstGeom prst="roundRect">
            <a:avLst/>
          </a:prstGeom>
          <a:solidFill>
            <a:srgbClr val="ECFDF5"/>
          </a:solidFill>
          <a:ln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349240"/>
            <a:ext cx="10332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047857"/>
                </a:solidFill>
              </a:defRPr>
            </a:pPr>
            <a:r>
              <a:t>🗄️ [LIVE DEMO TRÊN MÁY]: Chuyển sang VS Code mở bảng dbo.Accounts &amp; file verify_sql_server.sql</a:t>
            </a:r>
          </a:p>
          <a:p>
            <a:pPr>
              <a:spcBef>
                <a:spcPts val="200"/>
              </a:spcBef>
              <a:defRPr sz="1100">
                <a:solidFill>
                  <a:srgbClr val="334155"/>
                </a:solidFill>
              </a:defRPr>
            </a:pPr>
            <a:r>
              <a:t>Thao tác trực tiếp: Mở extension MSSQL trên VS Code, đối chiếu bảng dữ liệu gốc và chạy câu query đối chứng.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3474720" cy="347472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1D4ED8"/>
                </a:solidFill>
              </a:defRPr>
            </a:pPr>
            <a:r>
              <a:t>OWASP TOP 10 • A03:2021 (INJECTION)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6. Biện Pháp Phòng Thủ Chuẩn Trong ASP.NET Core MVC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Nhóm WNC.G01 • Trường Đại học Mở Hà Nội (HOU) • GVHD: ThS. Lê Hữu Dũng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5120640" cy="4846320"/>
          </a:xfrm>
          <a:prstGeom prst="roundRect">
            <a:avLst/>
          </a:prstGeom>
          <a:solidFill>
            <a:srgbClr val="ECFDF5"/>
          </a:solidFill>
          <a:ln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6304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47857"/>
                </a:solidFill>
              </a:defRPr>
            </a:pPr>
            <a:r>
              <a:t>Cách Viết Code Chuẩn Hóa Với EF Core</a:t>
            </a:r>
          </a:p>
          <a:p>
            <a:pPr>
              <a:spcBef>
                <a:spcPts val="800"/>
              </a:spcBef>
              <a:defRPr sz="1000">
                <a:solidFill>
                  <a:srgbClr val="065F46"/>
                </a:solidFill>
                <a:latin typeface="Courier New"/>
              </a:defRPr>
            </a:pPr>
            <a:r>
              <a:t>// Dùng LINQ Parameterized (KHUYÊN DÙNG):</a:t>
            </a:r>
            <a:br/>
            <a:r>
              <a:t>var account = _context.Accounts</a:t>
            </a:r>
            <a:br/>
            <a:r>
              <a:t>    .FirstOrDefault(a =&gt; a.Username == user </a:t>
            </a:r>
            <a:br/>
            <a:r>
              <a:t>                      &amp;&amp; a.Password == pass);</a:t>
            </a:r>
            <a:br/>
            <a:br/>
            <a:r>
              <a:t>// Hoặc dùng FromSqlInterpolated nếu viết SQL thuần:</a:t>
            </a:r>
            <a:br/>
            <a:r>
              <a:t>var account = _context.Accounts</a:t>
            </a:r>
            <a:br/>
            <a:r>
              <a:t>    .FromSqlInterpolated($"SELECT * FROM Accounts WHERE Username={user} AND Password={pass}")</a:t>
            </a:r>
            <a:br/>
            <a:r>
              <a:t>    .FirstOrDefault();</a:t>
            </a:r>
          </a:p>
          <a:p>
            <a:pPr>
              <a:spcBef>
                <a:spcPts val="1200"/>
              </a:spcBef>
              <a:defRPr sz="1300" b="1">
                <a:solidFill>
                  <a:srgbClr val="0F172A"/>
                </a:solidFill>
              </a:defRPr>
            </a:pPr>
            <a:r>
              <a:t>Tại sao cách này an toàn tuyệt đối?</a:t>
            </a:r>
          </a:p>
          <a:p>
            <a:pPr>
              <a:spcBef>
                <a:spcPts val="400"/>
              </a:spcBef>
              <a:defRPr sz="1200">
                <a:solidFill>
                  <a:srgbClr val="334155"/>
                </a:solidFill>
              </a:defRPr>
            </a:pPr>
            <a:r>
              <a:t>SQL Server biên dịch cấu trúc lệnh TRƯỚC khi gán dữ liệu. Biến @p0 nhận toàn bộ payload như một chuỗi chữ bình thường, vô hiệu hóa hoàn toàn ý đồ chèn lệnh.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25880"/>
            <a:ext cx="5212080" cy="48463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46304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D4ED8"/>
                </a:solidFill>
              </a:defRPr>
            </a:pPr>
            <a:r>
              <a:t>Bộ Quy Tắc Phòng Thủ Toàn Diện (Defense in Depth)</a:t>
            </a:r>
          </a:p>
          <a:p>
            <a:pPr>
              <a:spcBef>
                <a:spcPts val="1000"/>
              </a:spcBef>
              <a:defRPr sz="1200">
                <a:solidFill>
                  <a:srgbClr val="334155"/>
                </a:solidFill>
              </a:defRPr>
            </a:pPr>
            <a:r>
              <a:t>1. Luôn sử dụng Parameterized Query / ORM:</a:t>
            </a:r>
            <a:br/>
            <a:r>
              <a:t>Tuyệt đối không ghép chuỗi SQL thủ công dưới bất kỳ hình thức nào.</a:t>
            </a:r>
          </a:p>
          <a:p>
            <a:pPr>
              <a:spcBef>
                <a:spcPts val="800"/>
              </a:spcBef>
              <a:defRPr sz="1200">
                <a:solidFill>
                  <a:srgbClr val="334155"/>
                </a:solidFill>
              </a:defRPr>
            </a:pPr>
            <a:r>
              <a:t>2. Nguyên tắc đặc quyền tối thiểu (Least Privilege):</a:t>
            </a:r>
            <a:br/>
            <a:r>
              <a:t>Tài khoản kết nối CSDL của ứng dụng chỉ có quyền SELECT/INSERT/UPDATE trên các bảng cần thiết, không bao giờ dùng tài khoản 'sa' hay quyền DDL (DROP, ALTER).</a:t>
            </a:r>
          </a:p>
          <a:p>
            <a:pPr>
              <a:spcBef>
                <a:spcPts val="800"/>
              </a:spcBef>
              <a:defRPr sz="1200">
                <a:solidFill>
                  <a:srgbClr val="334155"/>
                </a:solidFill>
              </a:defRPr>
            </a:pPr>
            <a:r>
              <a:t>3. Xác thực dữ liệu đầu vào (Input Validation):</a:t>
            </a:r>
            <a:br/>
            <a:r>
              <a:t>Sử dụng Data Annotations ([RegularExpression], [StringLength]) kiểm tra chặt chẽ khuôn dạng dữ liệu.</a:t>
            </a:r>
          </a:p>
          <a:p>
            <a:pPr>
              <a:spcBef>
                <a:spcPts val="800"/>
              </a:spcBef>
              <a:defRPr sz="1200">
                <a:solidFill>
                  <a:srgbClr val="334155"/>
                </a:solidFill>
              </a:defRPr>
            </a:pPr>
            <a:r>
              <a:t>4. Mã hóa mật khẩu một chiều (Password Hashing):</a:t>
            </a:r>
            <a:br/>
            <a:r>
              <a:t>Sử dụng ASP.NET Core Identity (PBKDF2/BCrypt) để nếu CSDL có bị lộ, mật khẩu vẫn được bảo vệ an toàn.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3474720" cy="347472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1D4ED8"/>
                </a:solidFill>
              </a:defRPr>
            </a:pPr>
            <a:r>
              <a:t>OWASP TOP 10 • A03:2021 (INJECTION)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7. Tổng Kết &amp; Bài Học Rút Ra Cho Dự Án Website Tư Vấn Trực Tuyến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Nhóm WNC.G01 • Trường Đại học Mở Hà Nội (HOU) • GVHD: ThS. Lê Hữu Dũng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10728655" cy="48463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508760"/>
            <a:ext cx="10149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BE123C"/>
                </a:solidFill>
              </a:defRPr>
            </a:pPr>
            <a:r>
              <a:t>CAM KẾT CHUẨN AN TOÀN CHO ĐỀ TÀI BTL (WNC.G01):</a:t>
            </a:r>
          </a:p>
          <a:p>
            <a:pPr>
              <a:spcBef>
                <a:spcPts val="1200"/>
              </a:spcBef>
              <a:defRPr sz="1300">
                <a:solidFill>
                  <a:srgbClr val="334155"/>
                </a:solidFill>
              </a:defRPr>
            </a:pPr>
            <a:r>
              <a:t>1. Nhận thức an toàn: SQL Injection là lỗ hổng nghiêm trọng ở mức độ CRITICAL (9.8/10 theo CVSS v3.1). Lập trình viên phải luôn coi mọi dữ liệu đầu vào từ người dùng là 'không an toàn'.</a:t>
            </a:r>
          </a:p>
          <a:p>
            <a:pPr>
              <a:spcBef>
                <a:spcPts val="1000"/>
              </a:spcBef>
              <a:defRPr sz="1300">
                <a:solidFill>
                  <a:srgbClr val="334155"/>
                </a:solidFill>
              </a:defRPr>
            </a:pPr>
            <a:r>
              <a:t>2. Phòng thủ triệt để: Trong đồ án Website cung cấp dịch vụ tư vấn trực tuyến, nhóm cam kết áp dụng 100% Entity Framework Core Code-First với Parameterized LINQ cho toàn bộ các thao tác đặt lịch, quản lý chuyên gia và đánh giá chất lượng.</a:t>
            </a:r>
          </a:p>
          <a:p>
            <a:pPr>
              <a:spcBef>
                <a:spcPts val="1000"/>
              </a:spcBef>
              <a:defRPr sz="1300">
                <a:solidFill>
                  <a:srgbClr val="334155"/>
                </a:solidFill>
              </a:defRPr>
            </a:pPr>
            <a:r>
              <a:t>3. Bảo mật đa tầng (Security View - Buổi 8): Tích hợp chặt chẽ ASP.NET Core Identity để băm mật khẩu, AntiForgeryToken chống CSRF trên toàn bộ form và kiểm soát phân quyền 3 Role (Customer, Specialist, Admin).</a:t>
            </a:r>
          </a:p>
          <a:p>
            <a:pPr>
              <a:spcBef>
                <a:spcPts val="2200"/>
              </a:spcBef>
              <a:defRPr sz="1500" b="1">
                <a:solidFill>
                  <a:srgbClr val="1D4ED8"/>
                </a:solidFill>
              </a:defRPr>
            </a:pPr>
            <a:r>
              <a:t>XIN TRÂN TRỌNG CẢM ƠN THẦY VÀ CÁC BẠN ĐÃ THEO DÕI!</a:t>
            </a:r>
            <a:br/>
            <a:r>
              <a:t>Nhóm WNC.G01 sẵn sàng lắng nghe câu hỏi và nhận xét từ giảng viên.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