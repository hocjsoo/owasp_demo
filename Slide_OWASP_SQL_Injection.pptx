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4572000"/>
          </a:xfrm>
          <a:prstGeom prst="rect">
            <a:avLst/>
          </a:prstGeom>
          <a:noFill/>
        </p:spPr>
        <p:txBody>
          <a:bodyPr wrap="square">
            <a:spAutoFit/>
          </a:bodyPr>
          <a:lstStyle/>
          <a:p>
            <a:pPr>
              <a:defRPr sz="1400" b="1">
                <a:solidFill>
                  <a:srgbClr val="94A3B8"/>
                </a:solidFill>
              </a:defRPr>
            </a:pPr>
            <a:r>
              <a:t>TRƯỜNG ĐẠI HỌC MỞ HÀ NỘI — KHOA CÔNG NGHỆ THÔNG TIN</a:t>
            </a:r>
          </a:p>
          <a:p>
            <a:pPr>
              <a:spcBef>
                <a:spcPts val="1400"/>
              </a:spcBef>
              <a:defRPr sz="1800" b="1">
                <a:solidFill>
                  <a:srgbClr val="DC2626"/>
                </a:solidFill>
              </a:defRPr>
            </a:pPr>
            <a:r>
              <a:t>BÁO CÁO THỰC NGHIỆM LỖ HỔNG AN TOÀN WEB</a:t>
            </a:r>
          </a:p>
          <a:p>
            <a:pPr>
              <a:spcBef>
                <a:spcPts val="800"/>
              </a:spcBef>
              <a:defRPr sz="2600" b="1">
                <a:solidFill>
                  <a:srgbClr val="FFFFFF"/>
                </a:solidFill>
              </a:defRPr>
            </a:pPr>
            <a:r>
              <a:t>SQL INJECTION (OWASP A03:2021)</a:t>
            </a:r>
            <a:br/>
            <a:r>
              <a:t>Kịch Bản Tấn Công &amp; Phòng Thủ Đa Tầng (Web UI, API CLI &amp; CSDL SQL Server 2025)</a:t>
            </a:r>
          </a:p>
          <a:p>
            <a:pPr>
              <a:spcBef>
                <a:spcPts val="2000"/>
              </a:spcBef>
              <a:defRPr sz="1400">
                <a:solidFill>
                  <a:srgbClr val="CBD5E1"/>
                </a:solidFill>
              </a:defRPr>
            </a:pPr>
            <a:r>
              <a:t>Giảng viên hướng dẫn: ThS. Lê Hữu Dũng</a:t>
            </a:r>
            <a:br/>
            <a:r>
              <a:t>Môn học: Lập trình Web nâng cao</a:t>
            </a:r>
          </a:p>
          <a:p>
            <a:pPr>
              <a:spcBef>
                <a:spcPts val="1600"/>
              </a:spcBef>
              <a:defRPr sz="1300">
                <a:solidFill>
                  <a:srgbClr val="94A3B8"/>
                </a:solidFill>
              </a:defRPr>
            </a:pPr>
            <a:r>
              <a:t>Nhóm thực hiện: WNC.G01</a:t>
            </a:r>
            <a:br/>
            <a:r>
              <a:t>1. Nguyễn Danh Học (MSV: 23A1001D0158) — Báo cáo &amp; Thực nghiệm chính</a:t>
            </a:r>
            <a:br/>
            <a:r>
              <a:t>2. Nguyễn Thanh Bình (MSV: 23A1001D0041)</a:t>
            </a:r>
            <a:br/>
            <a:r>
              <a:t>3. Nguyễn Minh Cường (MSV: 23A1001D0058)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1. Bản Chất Kỹ Thuật Của Lỗ Hổng SQL Injection</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188720"/>
            <a:ext cx="5120640" cy="4937760"/>
          </a:xfrm>
          <a:prstGeom prst="rect">
            <a:avLst/>
          </a:prstGeom>
          <a:noFill/>
        </p:spPr>
        <p:txBody>
          <a:bodyPr wrap="square">
            <a:spAutoFit/>
          </a:bodyPr>
          <a:lstStyle/>
          <a:p>
            <a:pPr>
              <a:defRPr sz="1600" b="1">
                <a:solidFill>
                  <a:srgbClr val="DC2626"/>
                </a:solidFill>
              </a:defRPr>
            </a:pPr>
            <a:r>
              <a:t>Nguyên Nhân Cốt Lõi</a:t>
            </a:r>
          </a:p>
          <a:p>
            <a:pPr>
              <a:spcBef>
                <a:spcPts val="800"/>
              </a:spcBef>
              <a:defRPr sz="1300">
                <a:solidFill>
                  <a:srgbClr val="1E293B"/>
                </a:solidFill>
              </a:defRPr>
            </a:pPr>
            <a:r>
              <a:t>• Không phân tách giữa DỮ LIỆU (Data) và CÂU LỆNH (Code).</a:t>
            </a:r>
            <a:br/>
            <a:r>
              <a:t>• Ghép chuỗi trực tiếp từ Request vào câu lệnh SQL khiến hệ CSDL không phân biệt được đâu là dữ liệu của user và đâu là cấu trúc lệnh của lập trình viên.</a:t>
            </a:r>
            <a:br/>
            <a:r>
              <a:t>• Kẻ tấn công lợi dụng các ký tự điều khiển (', --, /*, ;) để 'thoát' khỏi ngữ cảnh dữ liệu và ép SQL Server thực thi logic của hacker.</a:t>
            </a:r>
          </a:p>
          <a:p>
            <a:pPr>
              <a:spcBef>
                <a:spcPts val="1400"/>
              </a:spcBef>
              <a:defRPr sz="1600" b="1">
                <a:solidFill>
                  <a:srgbClr val="2563EB"/>
                </a:solidFill>
              </a:defRPr>
            </a:pPr>
            <a:r>
              <a:t>Phân Loại Theo Chuẩn OWASP WSTG</a:t>
            </a:r>
          </a:p>
          <a:p>
            <a:pPr>
              <a:spcBef>
                <a:spcPts val="600"/>
              </a:spcBef>
              <a:defRPr sz="1200">
                <a:solidFill>
                  <a:srgbClr val="1E293B"/>
                </a:solidFill>
              </a:defRPr>
            </a:pPr>
            <a:r>
              <a:t>1. In-band SQLi (Khai thác trực diện): Error-based, Union-based.</a:t>
            </a:r>
            <a:br/>
            <a:r>
              <a:t>2. Inferential SQLi (Blind SQLi / Mù): Boolean-based, Time-based.</a:t>
            </a:r>
            <a:br/>
            <a:r>
              <a:t>3. Out-of-band SQLi: Kích hoạt DNS/HTTP request từ CSDL.</a:t>
            </a:r>
          </a:p>
        </p:txBody>
      </p:sp>
      <p:sp>
        <p:nvSpPr>
          <p:cNvPr id="6" name="Rounded Rectangle 5"/>
          <p:cNvSpPr/>
          <p:nvPr/>
        </p:nvSpPr>
        <p:spPr>
          <a:xfrm>
            <a:off x="6217920" y="1188720"/>
            <a:ext cx="521208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280160"/>
            <a:ext cx="4846320" cy="4663440"/>
          </a:xfrm>
          <a:prstGeom prst="rect">
            <a:avLst/>
          </a:prstGeom>
          <a:noFill/>
        </p:spPr>
        <p:txBody>
          <a:bodyPr wrap="square">
            <a:spAutoFit/>
          </a:bodyPr>
          <a:lstStyle/>
          <a:p>
            <a:pPr>
              <a:defRPr sz="1400" b="1">
                <a:solidFill>
                  <a:srgbClr val="DC2626"/>
                </a:solidFill>
              </a:defRPr>
            </a:pPr>
            <a:r>
              <a:t>Đoạn Code Gây Lỗi Cụ Thể (C# / ASP.NET Core)</a:t>
            </a:r>
          </a:p>
          <a:p>
            <a:pPr>
              <a:spcBef>
                <a:spcPts val="800"/>
              </a:spcBef>
              <a:defRPr sz="1100">
                <a:solidFill>
                  <a:srgbClr val="B91C1C"/>
                </a:solidFill>
                <a:latin typeface="Courier New"/>
              </a:defRPr>
            </a:pPr>
            <a:r>
              <a:t>// Nối chuỗi trực tiếp từ Request:</a:t>
            </a:r>
            <a:br/>
            <a:r>
              <a:t>string query = $"SELECT * FROM Accounts " +</a:t>
            </a:r>
            <a:br/>
            <a:r>
              <a:t>               $"WHERE Username = '{user}' " +</a:t>
            </a:r>
            <a:br/>
            <a:r>
              <a:t>               $"AND Password = '{pass}'";</a:t>
            </a:r>
            <a:br/>
            <a:br/>
            <a:r>
              <a:t>var users = _context.Accounts</a:t>
            </a:r>
            <a:br/>
            <a:r>
              <a:t>                    .FromSqlRaw(query)</a:t>
            </a:r>
            <a:br/>
            <a:r>
              <a:t>                    .ToList();</a:t>
            </a:r>
          </a:p>
          <a:p>
            <a:pPr>
              <a:spcBef>
                <a:spcPts val="1400"/>
              </a:spcBef>
              <a:defRPr sz="1300" b="1">
                <a:solidFill>
                  <a:srgbClr val="1E293B"/>
                </a:solidFill>
              </a:defRPr>
            </a:pPr>
            <a:r>
              <a:t>⚠️ Điểm mù nguy hiểm:</a:t>
            </a:r>
          </a:p>
          <a:p>
            <a:pPr>
              <a:spcBef>
                <a:spcPts val="400"/>
              </a:spcBef>
              <a:defRPr sz="1200">
                <a:solidFill>
                  <a:srgbClr val="64748B"/>
                </a:solidFill>
              </a:defRPr>
            </a:pPr>
            <a:r>
              <a:t>Lập trình viên mặc định tin rằng '{user}' chỉ là chuỗi thông thường. Khi hacker truyền vào ký tự nháy đơn ('), toàn bộ cấu trúc cú pháp của câu lệnh bị bẻ gãy.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2. Độ Nguy Hiểm Thực Tế Của SQL Injection (Tác Động Nghiêm Trọng)</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280160"/>
            <a:ext cx="3291840" cy="493776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3017520" cy="4572000"/>
          </a:xfrm>
          <a:prstGeom prst="rect">
            <a:avLst/>
          </a:prstGeom>
          <a:noFill/>
        </p:spPr>
        <p:txBody>
          <a:bodyPr wrap="square">
            <a:spAutoFit/>
          </a:bodyPr>
          <a:lstStyle/>
          <a:p>
            <a:pPr>
              <a:defRPr sz="1400" b="1">
                <a:solidFill>
                  <a:srgbClr val="DC2626"/>
                </a:solidFill>
              </a:defRPr>
            </a:pPr>
            <a:r>
              <a:t>🚨 CHIẾM QUYỀN HỆ THỐNG</a:t>
            </a:r>
            <a:br/>
            <a:r>
              <a:t>(Authentication Bypass)</a:t>
            </a:r>
          </a:p>
          <a:p>
            <a:pPr>
              <a:spcBef>
                <a:spcPts val="1000"/>
              </a:spcBef>
              <a:defRPr sz="1200">
                <a:solidFill>
                  <a:srgbClr val="1E293B"/>
                </a:solidFill>
              </a:defRPr>
            </a:pPr>
            <a:r>
              <a:t>• Không cần biết mật khẩu của bất kỳ ai.</a:t>
            </a:r>
            <a:br/>
            <a:r>
              <a:t>• Chỉ với 1 chuỗi payload ngắn, kẻ tấn công đăng nhập thẳng vào tài khoản Quản trị viên (Admin).</a:t>
            </a:r>
            <a:br/>
            <a:r>
              <a:t>• Chiếm đoạt phiên làm việc, thay đổi phân quyền và khóa tài khoản người dùng khác.</a:t>
            </a:r>
          </a:p>
        </p:txBody>
      </p:sp>
      <p:sp>
        <p:nvSpPr>
          <p:cNvPr id="7" name="Rounded Rectangle 6"/>
          <p:cNvSpPr/>
          <p:nvPr/>
        </p:nvSpPr>
        <p:spPr>
          <a:xfrm>
            <a:off x="4389120" y="1280160"/>
            <a:ext cx="3291840" cy="4937760"/>
          </a:xfrm>
          <a:prstGeom prst="roundRect">
            <a:avLst/>
          </a:prstGeom>
          <a:solidFill>
            <a:srgbClr val="FFFBEB"/>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463040"/>
            <a:ext cx="3017520" cy="4572000"/>
          </a:xfrm>
          <a:prstGeom prst="rect">
            <a:avLst/>
          </a:prstGeom>
          <a:noFill/>
        </p:spPr>
        <p:txBody>
          <a:bodyPr wrap="square">
            <a:spAutoFit/>
          </a:bodyPr>
          <a:lstStyle/>
          <a:p>
            <a:pPr>
              <a:defRPr sz="1400" b="1">
                <a:solidFill>
                  <a:srgbClr val="B45309"/>
                </a:solidFill>
              </a:defRPr>
            </a:pPr>
            <a:r>
              <a:t>📂 ĐÁNH CẮP TOÀN BỘ CSDL</a:t>
            </a:r>
            <a:br/>
            <a:r>
              <a:t>(Data Exfiltration)</a:t>
            </a:r>
          </a:p>
          <a:p>
            <a:pPr>
              <a:spcBef>
                <a:spcPts val="1000"/>
              </a:spcBef>
              <a:defRPr sz="1200">
                <a:solidFill>
                  <a:srgbClr val="1E293B"/>
                </a:solidFill>
              </a:defRPr>
            </a:pPr>
            <a:r>
              <a:t>• Trích xuất thông tin khách hàng, hồ sơ chuyên gia, số dư tài khoản ngân hàng.</a:t>
            </a:r>
            <a:br/>
            <a:r>
              <a:t>• Rò rỉ mật khẩu và ghi chú bảo mật cá nhân (Secret Notes).</a:t>
            </a:r>
            <a:br/>
            <a:r>
              <a:t>• Vi phạm nghiêm trọng luật bảo vệ dữ liệu cá nhân, làm sụp đổ uy tín của hệ thống tư vấn trực tuyến.</a:t>
            </a:r>
          </a:p>
        </p:txBody>
      </p:sp>
      <p:sp>
        <p:nvSpPr>
          <p:cNvPr id="9" name="Rounded Rectangle 8"/>
          <p:cNvSpPr/>
          <p:nvPr/>
        </p:nvSpPr>
        <p:spPr>
          <a:xfrm>
            <a:off x="8046720" y="1280160"/>
            <a:ext cx="3291840" cy="4937760"/>
          </a:xfrm>
          <a:prstGeom prst="roundRect">
            <a:avLst/>
          </a:prstGeom>
          <a:solidFill>
            <a:srgbClr val="F1F5F9"/>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463040"/>
            <a:ext cx="3017520" cy="4572000"/>
          </a:xfrm>
          <a:prstGeom prst="rect">
            <a:avLst/>
          </a:prstGeom>
          <a:noFill/>
        </p:spPr>
        <p:txBody>
          <a:bodyPr wrap="square">
            <a:spAutoFit/>
          </a:bodyPr>
          <a:lstStyle/>
          <a:p>
            <a:pPr>
              <a:defRPr sz="1400" b="1">
                <a:solidFill>
                  <a:srgbClr val="0F172A"/>
                </a:solidFill>
              </a:defRPr>
            </a:pPr>
            <a:r>
              <a:t>💣 PHÁ HỦY / THỰC THI LỆNH</a:t>
            </a:r>
            <a:br/>
            <a:r>
              <a:t>(System Takeover)</a:t>
            </a:r>
          </a:p>
          <a:p>
            <a:pPr>
              <a:spcBef>
                <a:spcPts val="1000"/>
              </a:spcBef>
              <a:defRPr sz="1200">
                <a:solidFill>
                  <a:srgbClr val="1E293B"/>
                </a:solidFill>
              </a:defRPr>
            </a:pPr>
            <a:r>
              <a:t>• Xóa sổ toàn bộ cơ sở dữ liệu với lệnh DROP TABLE hoặc TRUNCATE.</a:t>
            </a:r>
            <a:br/>
            <a:r>
              <a:t>• Thay đổi số dư tiền trong tài khoản trái phép.</a:t>
            </a:r>
            <a:br/>
            <a:r>
              <a:t>• Trong các CSDL cấu hình lỏng lẻo, hacker có thể bật xp_cmdshell để chiếm quyền điều khiển toàn bộ máy chủ hệ điều hành.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3. Kịch Bản Tấn Công: Phân Tích Cơ Chế Bẻ Gãy Cú Pháp</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731520" y="1188720"/>
            <a:ext cx="10698480" cy="4937760"/>
          </a:xfrm>
          <a:prstGeom prst="rect">
            <a:avLst/>
          </a:prstGeom>
          <a:noFill/>
        </p:spPr>
        <p:txBody>
          <a:bodyPr wrap="square">
            <a:spAutoFit/>
          </a:bodyPr>
          <a:lstStyle/>
          <a:p>
            <a:pPr>
              <a:defRPr sz="1600" b="1">
                <a:solidFill>
                  <a:srgbClr val="DC2626"/>
                </a:solidFill>
              </a:defRPr>
            </a:pPr>
            <a:r>
              <a:t>Kịch bản: Bypass xác thực đăng nhập Quản Trị Viên</a:t>
            </a:r>
          </a:p>
          <a:p>
            <a:pPr>
              <a:spcBef>
                <a:spcPts val="800"/>
              </a:spcBef>
              <a:defRPr sz="1350" b="1">
                <a:solidFill>
                  <a:srgbClr val="2563EB"/>
                </a:solidFill>
                <a:latin typeface="Courier New"/>
              </a:defRPr>
            </a:pPr>
            <a:r>
              <a:t>Input đưa vào ô Username:   ' OR '1'='1' --</a:t>
            </a:r>
            <a:br/>
            <a:r>
              <a:t>Input đưa vào ô Password:   (Nhập chuỗi bất kỳ hoặc bỏ trống)</a:t>
            </a:r>
          </a:p>
          <a:p>
            <a:pPr>
              <a:spcBef>
                <a:spcPts val="1400"/>
              </a:spcBef>
              <a:defRPr sz="1500" b="1">
                <a:solidFill>
                  <a:srgbClr val="1E293B"/>
                </a:solidFill>
              </a:defRPr>
            </a:pPr>
            <a:r>
              <a:t>Cấu trúc câu truy vấn được SQL Server thông dịch:</a:t>
            </a:r>
          </a:p>
          <a:p>
            <a:pPr>
              <a:spcBef>
                <a:spcPts val="600"/>
              </a:spcBef>
              <a:defRPr sz="1400" b="1">
                <a:solidFill>
                  <a:srgbClr val="DC2626"/>
                </a:solidFill>
                <a:latin typeface="Courier New"/>
              </a:defRPr>
            </a:pPr>
            <a:r>
              <a:t>SELECT * FROM Accounts WHERE Username = '' OR '1'='1' --' AND Password = 'xyz'</a:t>
            </a:r>
          </a:p>
          <a:p>
            <a:pPr>
              <a:spcBef>
                <a:spcPts val="1400"/>
              </a:spcBef>
              <a:defRPr sz="1500" b="1">
                <a:solidFill>
                  <a:srgbClr val="1E293B"/>
                </a:solidFill>
              </a:defRPr>
            </a:pPr>
            <a:r>
              <a:t>3 Thành Phần Của Payload Khai Thác:</a:t>
            </a:r>
          </a:p>
          <a:p>
            <a:pPr>
              <a:spcBef>
                <a:spcPts val="600"/>
              </a:spcBef>
              <a:defRPr sz="1250">
                <a:solidFill>
                  <a:srgbClr val="1E293B"/>
                </a:solidFill>
              </a:defRPr>
            </a:pPr>
            <a:r>
              <a:t>1. Dấu nháy đơn (') : Đóng sớm chuỗi ký tự hợp lệ của trường Username, đưa ngữ cảnh về câu lệnh SQL.</a:t>
            </a:r>
            <a:br/>
            <a:r>
              <a:t>2. Mệnh đề OR '1'='1' : Mệnh đề luận lý chân lý. Vì '1'='1' luôn đúng, toàn bộ mệnh đề WHERE trả về TRUE cho TẤT CẢ các dòng trong bảng.</a:t>
            </a:r>
            <a:br/>
            <a:r>
              <a:t>3. Ký tự chú thích (--) : Trong SQL Server, '--' biến toàn bộ đoạn mã phía sau thành ghi chú vô hiệu, triệt tiêu hoàn toàn bước kiểm tra mật khẩu (AND Password =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4. Minh Chứng Thực Nghiệm 1: Giao Diện Trình Duyệt Web (Đối Chứng Song Song)</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pic>
        <p:nvPicPr>
          <p:cNvPr id="5" name="Picture 4" descr="only_cards.png"/>
          <p:cNvPicPr>
            <a:picLocks noChangeAspect="1"/>
          </p:cNvPicPr>
          <p:nvPr/>
        </p:nvPicPr>
        <p:blipFill>
          <a:blip r:embed="rId2"/>
          <a:stretch>
            <a:fillRect/>
          </a:stretch>
        </p:blipFill>
        <p:spPr>
          <a:xfrm>
            <a:off x="1517904" y="1280160"/>
            <a:ext cx="9144000" cy="488560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5. Minh Chứng Thực Nghiệm 2: Tầng API (cURL) &amp; CSDL SQL Server 2025 (Không Dùng Web UI)</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pic>
        <p:nvPicPr>
          <p:cNvPr id="5" name="Picture 4" descr="04_Terminal_cURL_Exploit.png"/>
          <p:cNvPicPr>
            <a:picLocks noChangeAspect="1"/>
          </p:cNvPicPr>
          <p:nvPr/>
        </p:nvPicPr>
        <p:blipFill>
          <a:blip r:embed="rId2"/>
          <a:stretch>
            <a:fillRect/>
          </a:stretch>
        </p:blipFill>
        <p:spPr>
          <a:xfrm>
            <a:off x="731520" y="1188720"/>
            <a:ext cx="5212080" cy="3950208"/>
          </a:xfrm>
          <a:prstGeom prst="rect">
            <a:avLst/>
          </a:prstGeom>
        </p:spPr>
      </p:pic>
      <p:pic>
        <p:nvPicPr>
          <p:cNvPr id="6" name="Picture 5" descr="05_SQLServer_Direct_Query.png"/>
          <p:cNvPicPr>
            <a:picLocks noChangeAspect="1"/>
          </p:cNvPicPr>
          <p:nvPr/>
        </p:nvPicPr>
        <p:blipFill>
          <a:blip r:embed="rId3"/>
          <a:stretch>
            <a:fillRect/>
          </a:stretch>
        </p:blipFill>
        <p:spPr>
          <a:xfrm>
            <a:off x="6217920" y="1188720"/>
            <a:ext cx="5212080" cy="3950208"/>
          </a:xfrm>
          <a:prstGeom prst="rect">
            <a:avLst/>
          </a:prstGeom>
        </p:spPr>
      </p:pic>
      <p:sp>
        <p:nvSpPr>
          <p:cNvPr id="7" name="TextBox 6"/>
          <p:cNvSpPr txBox="1"/>
          <p:nvPr/>
        </p:nvSpPr>
        <p:spPr>
          <a:xfrm>
            <a:off x="731520" y="5303520"/>
            <a:ext cx="10698480" cy="1005840"/>
          </a:xfrm>
          <a:prstGeom prst="rect">
            <a:avLst/>
          </a:prstGeom>
          <a:noFill/>
        </p:spPr>
        <p:txBody>
          <a:bodyPr wrap="square">
            <a:spAutoFit/>
          </a:bodyPr>
          <a:lstStyle/>
          <a:p>
            <a:pPr>
              <a:defRPr sz="1200" b="1">
                <a:solidFill>
                  <a:srgbClr val="1E293B"/>
                </a:solidFill>
              </a:defRPr>
            </a:pPr>
            <a:r>
              <a:t>• Bên trái: Gọi HTTP POST bằng cURL từ dòng lệnh Terminal → Nhận JSON rò rỉ CSDL, chứng minh lỗi ở tầng Backend C#.</a:t>
            </a:r>
            <a:br/>
            <a:r>
              <a:t>• Bên phải: Thực thi câu lệnh trực tiếp trong CSDL SQL Server 2025 (OwaspDemoDB) chứng minh cơ chế bẻ gãy cú pháp.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6. Minh Chứng Thực Nghiệm 3: Thao Tác Trực Tiếp Trên VS Code &amp; Extension SQL Server</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pic>
        <p:nvPicPr>
          <p:cNvPr id="5" name="Picture 4" descr="my_vscode_sql_real.png"/>
          <p:cNvPicPr>
            <a:picLocks noChangeAspect="1"/>
          </p:cNvPicPr>
          <p:nvPr/>
        </p:nvPicPr>
        <p:blipFill>
          <a:blip r:embed="rId2"/>
          <a:stretch>
            <a:fillRect/>
          </a:stretch>
        </p:blipFill>
        <p:spPr>
          <a:xfrm>
            <a:off x="731520" y="1371600"/>
            <a:ext cx="10698480" cy="2402867"/>
          </a:xfrm>
          <a:prstGeom prst="rect">
            <a:avLst/>
          </a:prstGeom>
        </p:spPr>
      </p:pic>
      <p:sp>
        <p:nvSpPr>
          <p:cNvPr id="6" name="TextBox 5"/>
          <p:cNvSpPr txBox="1"/>
          <p:nvPr/>
        </p:nvSpPr>
        <p:spPr>
          <a:xfrm>
            <a:off x="731520" y="4114800"/>
            <a:ext cx="10698480" cy="2194560"/>
          </a:xfrm>
          <a:prstGeom prst="rect">
            <a:avLst/>
          </a:prstGeom>
          <a:noFill/>
        </p:spPr>
        <p:txBody>
          <a:bodyPr wrap="square">
            <a:spAutoFit/>
          </a:bodyPr>
          <a:lstStyle/>
          <a:p>
            <a:pPr>
              <a:defRPr sz="1500" b="1">
                <a:solidFill>
                  <a:srgbClr val="2563EB"/>
                </a:solidFill>
              </a:defRPr>
            </a:pPr>
            <a:r>
              <a:t>Xác nhận môi trường thực nghiệm thực tế của sinh viên:</a:t>
            </a:r>
          </a:p>
          <a:p>
            <a:pPr>
              <a:spcBef>
                <a:spcPts val="800"/>
              </a:spcBef>
              <a:defRPr sz="1300">
                <a:solidFill>
                  <a:srgbClr val="1E293B"/>
                </a:solidFill>
              </a:defRPr>
            </a:pPr>
            <a:r>
              <a:t>• Công cụ: Visual Studio Code kết hợp Extension Microsoft MSSQL.</a:t>
            </a:r>
            <a:br/>
            <a:r>
              <a:t>• Máy chủ CSDL: Microsoft SQL Server 2025 Developer chạy trực tiếp trên Localhost (Port 1433).</a:t>
            </a:r>
            <a:br/>
            <a:r>
              <a:t>• Cơ sở dữ liệu: OwaspDemoDB, bảng Accounts chứa dữ liệu thực nghiệm (Admin, Chuyên gia, Khách hàng).</a:t>
            </a:r>
            <a:br/>
            <a:r>
              <a:t>• Kết quả: Bảng dữ liệu được truy vấn và hiển thị trực tiếp trong trình soạn thảo, hoàn toàn đồng bộ với kết quả trích xuất trên ứng dụng web.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7. Biện Pháp Phòng Thủ Chuẩn Trong ASP.NET Core MVC</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Rounded Rectangle 4"/>
          <p:cNvSpPr/>
          <p:nvPr/>
        </p:nvSpPr>
        <p:spPr>
          <a:xfrm>
            <a:off x="731520" y="1188720"/>
            <a:ext cx="5212080" cy="4937760"/>
          </a:xfrm>
          <a:prstGeom prst="roundRect">
            <a:avLst/>
          </a:prstGeom>
          <a:solidFill>
            <a:srgbClr val="F8FAFC"/>
          </a:solidFill>
          <a:ln>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280160"/>
            <a:ext cx="4846320" cy="4663440"/>
          </a:xfrm>
          <a:prstGeom prst="rect">
            <a:avLst/>
          </a:prstGeom>
          <a:noFill/>
        </p:spPr>
        <p:txBody>
          <a:bodyPr wrap="square">
            <a:spAutoFit/>
          </a:bodyPr>
          <a:lstStyle/>
          <a:p>
            <a:pPr>
              <a:defRPr sz="1400" b="1">
                <a:solidFill>
                  <a:srgbClr val="16A34A"/>
                </a:solidFill>
              </a:defRPr>
            </a:pPr>
            <a:r>
              <a:t>Cách Viết Code Chuẩn Hóa Với EF Core</a:t>
            </a:r>
          </a:p>
          <a:p>
            <a:pPr>
              <a:spcBef>
                <a:spcPts val="800"/>
              </a:spcBef>
              <a:defRPr sz="1000">
                <a:solidFill>
                  <a:srgbClr val="166534"/>
                </a:solidFill>
                <a:latin typeface="Courier New"/>
              </a:defRPr>
            </a:pPr>
            <a:r>
              <a:t>// Dùng LINQ Parameterized (KHUYÊN DÙNG):</a:t>
            </a:r>
            <a:br/>
            <a:r>
              <a:t>var account = _context.Accounts</a:t>
            </a:r>
            <a:br/>
            <a:r>
              <a:t>    .FirstOrDefault(a =&gt; a.Username == user </a:t>
            </a:r>
            <a:br/>
            <a:r>
              <a:t>                      &amp;&amp; a.Password == pass);</a:t>
            </a:r>
            <a:br/>
            <a:br/>
            <a:r>
              <a:t>// Hoặc dùng FromSqlInterpolated nếu viết SQL thuần:</a:t>
            </a:r>
            <a:br/>
            <a:r>
              <a:t>var account = _context.Accounts</a:t>
            </a:r>
            <a:br/>
            <a:r>
              <a:t>    .FromSqlInterpolated($"SELECT * FROM Accounts WHERE Username={user} AND Password={pass}")</a:t>
            </a:r>
            <a:br/>
            <a:r>
              <a:t>    .FirstOrDefault();</a:t>
            </a:r>
          </a:p>
          <a:p>
            <a:pPr>
              <a:spcBef>
                <a:spcPts val="1200"/>
              </a:spcBef>
              <a:defRPr sz="1200" b="1">
                <a:solidFill>
                  <a:srgbClr val="1E293B"/>
                </a:solidFill>
              </a:defRPr>
            </a:pPr>
            <a:r>
              <a:t>Tại sao cách này an toàn tuyệt đối?</a:t>
            </a:r>
          </a:p>
          <a:p>
            <a:pPr>
              <a:spcBef>
                <a:spcPts val="400"/>
              </a:spcBef>
              <a:defRPr sz="1100">
                <a:solidFill>
                  <a:srgbClr val="64748B"/>
                </a:solidFill>
              </a:defRPr>
            </a:pPr>
            <a:r>
              <a:t>SQL Server biên dịch cấu trúc lệnh TRƯỚC khi gán dữ liệu. Biến @p0 nhận toàn bộ payload như một chuỗi chữ bình thường, vô hiệu hóa hoàn toàn ý đồ chèn lệnh.</a:t>
            </a:r>
          </a:p>
        </p:txBody>
      </p:sp>
      <p:sp>
        <p:nvSpPr>
          <p:cNvPr id="7" name="TextBox 6"/>
          <p:cNvSpPr txBox="1"/>
          <p:nvPr/>
        </p:nvSpPr>
        <p:spPr>
          <a:xfrm>
            <a:off x="6309360" y="1188720"/>
            <a:ext cx="5120640" cy="4937760"/>
          </a:xfrm>
          <a:prstGeom prst="rect">
            <a:avLst/>
          </a:prstGeom>
          <a:noFill/>
        </p:spPr>
        <p:txBody>
          <a:bodyPr wrap="square">
            <a:spAutoFit/>
          </a:bodyPr>
          <a:lstStyle/>
          <a:p>
            <a:pPr>
              <a:defRPr sz="1500" b="1">
                <a:solidFill>
                  <a:srgbClr val="2563EB"/>
                </a:solidFill>
              </a:defRPr>
            </a:pPr>
            <a:r>
              <a:t>Bộ Quy Tắc Phòng Thủ Toàn Diện (Defense in Depth)</a:t>
            </a:r>
          </a:p>
          <a:p>
            <a:pPr>
              <a:spcBef>
                <a:spcPts val="1000"/>
              </a:spcBef>
              <a:defRPr sz="1200">
                <a:solidFill>
                  <a:srgbClr val="1E293B"/>
                </a:solidFill>
              </a:defRPr>
            </a:pPr>
            <a:r>
              <a:t>1. Luôn sử dụng Parameterized Query / ORM:</a:t>
            </a:r>
            <a:br/>
            <a:r>
              <a:t>Tuyệt đối không ghép chuỗi SQL thủ công dưới bất kỳ hình thức nào.</a:t>
            </a:r>
          </a:p>
          <a:p>
            <a:pPr>
              <a:spcBef>
                <a:spcPts val="800"/>
              </a:spcBef>
              <a:defRPr sz="1200">
                <a:solidFill>
                  <a:srgbClr val="1E293B"/>
                </a:solidFill>
              </a:defRPr>
            </a:pPr>
            <a:r>
              <a:t>2. Nguyên tắc đặc quyền tối thiểu (Least Privilege):</a:t>
            </a:r>
            <a:br/>
            <a:r>
              <a:t>Tài khoản kết nối CSDL của ứng dụng chỉ có quyền SELECT/INSERT/UPDATE trên các bảng cần thiết, không bao giờ dùng tài khoản 'sa' hay quyền DDL (DROP, ALTER).</a:t>
            </a:r>
          </a:p>
          <a:p>
            <a:pPr>
              <a:spcBef>
                <a:spcPts val="800"/>
              </a:spcBef>
              <a:defRPr sz="1200">
                <a:solidFill>
                  <a:srgbClr val="1E293B"/>
                </a:solidFill>
              </a:defRPr>
            </a:pPr>
            <a:r>
              <a:t>3. Xác thực dữ liệu đầu vào (Input Validation):</a:t>
            </a:r>
            <a:br/>
            <a:r>
              <a:t>Sử dụng Data Annotations ([RegularExpression], [StringLength]) kiểm tra chặt chẽ khuôn dạng dữ liệu.</a:t>
            </a:r>
          </a:p>
          <a:p>
            <a:pPr>
              <a:spcBef>
                <a:spcPts val="800"/>
              </a:spcBef>
              <a:defRPr sz="1200">
                <a:solidFill>
                  <a:srgbClr val="1E293B"/>
                </a:solidFill>
              </a:defRPr>
            </a:pPr>
            <a:r>
              <a:t>4. Mã hóa mật khẩu một chiều (Password Hashing):</a:t>
            </a:r>
            <a:br/>
            <a:r>
              <a:t>Sử dụng ASP.NET Core Identity (PBKDF2/BCrypt) để nếu CSDL có bị lộ, mật khẩu vẫn được bảo vệ an toàn.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698480" cy="320040"/>
          </a:xfrm>
          <a:prstGeom prst="rect">
            <a:avLst/>
          </a:prstGeom>
          <a:noFill/>
        </p:spPr>
        <p:txBody>
          <a:bodyPr wrap="square">
            <a:spAutoFit/>
          </a:bodyPr>
          <a:lstStyle/>
          <a:p>
            <a:pPr>
              <a:defRPr sz="1100" b="1">
                <a:solidFill>
                  <a:srgbClr val="DC2626"/>
                </a:solidFill>
              </a:defRPr>
            </a:pPr>
            <a:r>
              <a:t>OWASP TOP 10 - A03:2021 (INJECTION)</a:t>
            </a:r>
          </a:p>
          <a:p>
            <a:pPr>
              <a:defRPr sz="1900" b="1">
                <a:solidFill>
                  <a:srgbClr val="FFFFFF"/>
                </a:solidFill>
              </a:defRPr>
            </a:pPr>
            <a:r>
              <a:t>8. Tổng Kết &amp; Bài Học Rút Ra Cho Dự Án Website Tư Vấn Trực Tuyến</a:t>
            </a:r>
          </a:p>
        </p:txBody>
      </p:sp>
      <p:sp>
        <p:nvSpPr>
          <p:cNvPr id="4" name="TextBox 3"/>
          <p:cNvSpPr txBox="1"/>
          <p:nvPr/>
        </p:nvSpPr>
        <p:spPr>
          <a:xfrm>
            <a:off x="731520" y="6537960"/>
            <a:ext cx="10698480" cy="228600"/>
          </a:xfrm>
          <a:prstGeom prst="rect">
            <a:avLst/>
          </a:prstGeom>
          <a:noFill/>
        </p:spPr>
        <p:txBody>
          <a:bodyPr wrap="none">
            <a:spAutoFit/>
          </a:bodyPr>
          <a:lstStyle/>
          <a:p>
            <a:pPr>
              <a:defRPr sz="950">
                <a:solidFill>
                  <a:srgbClr val="64748B"/>
                </a:solidFill>
              </a:defRPr>
            </a:pPr>
            <a:r>
              <a:t>Nhóm WNC.G01 (HOU) • Môn Lập Trình Web Nâng Cao • ThS. Lê Hữu Dũng</a:t>
            </a:r>
          </a:p>
        </p:txBody>
      </p:sp>
      <p:sp>
        <p:nvSpPr>
          <p:cNvPr id="5" name="TextBox 4"/>
          <p:cNvSpPr txBox="1"/>
          <p:nvPr/>
        </p:nvSpPr>
        <p:spPr>
          <a:xfrm>
            <a:off x="914400" y="1463040"/>
            <a:ext cx="10362895" cy="4389120"/>
          </a:xfrm>
          <a:prstGeom prst="rect">
            <a:avLst/>
          </a:prstGeom>
          <a:noFill/>
        </p:spPr>
        <p:txBody>
          <a:bodyPr wrap="square">
            <a:spAutoFit/>
          </a:bodyPr>
          <a:lstStyle/>
          <a:p>
            <a:pPr>
              <a:defRPr sz="1800" b="1">
                <a:solidFill>
                  <a:srgbClr val="DC2626"/>
                </a:solidFill>
              </a:defRPr>
            </a:pPr>
            <a:r>
              <a:t>KẾT LUẬN THỰC NGHIỆM:</a:t>
            </a:r>
          </a:p>
          <a:p>
            <a:pPr>
              <a:spcBef>
                <a:spcPts val="1000"/>
              </a:spcBef>
              <a:defRPr sz="1400">
                <a:solidFill>
                  <a:srgbClr val="1E293B"/>
                </a:solidFill>
              </a:defRPr>
            </a:pPr>
            <a:r>
              <a:t>1. Minh chứng thực nghiệm đã chứng minh rõ ràng: SQL Injection có thể bị khai thác qua cả Giao diện Web (Form) lẫn qua Lệnh gọi API trực tiếp (cURL/Postman). Độ nguy hiểm là mức CRITICAL (9.8/10 theo CVSS v3.1).</a:t>
            </a:r>
            <a:br/>
            <a:br/>
            <a:r>
              <a:t>2. Lỗ hổng hoàn toàn có thể được loại trừ 100% bằng cách tuân thủ đúng chuẩn công nghệ của môn học: Sử dụng Entity Framework Core với Parameterized Query thay vì ghép chuỗi thủ công.</a:t>
            </a:r>
            <a:br/>
            <a:br/>
            <a:r>
              <a:t>3. Trong dự án BTL (Website Tư vấn trực tuyến WNC.G01), nhóm cam kết áp dụng triệt để: EF Core DbContext, Data Annotations Validation và ASP.NET Core Identity để bảo vệ an toàn tuyệt đối cho người dùng.</a:t>
            </a:r>
          </a:p>
          <a:p>
            <a:pPr>
              <a:spcBef>
                <a:spcPts val="2400"/>
              </a:spcBef>
              <a:defRPr sz="1600" b="1">
                <a:solidFill>
                  <a:srgbClr val="2563EB"/>
                </a:solidFill>
              </a:defRPr>
            </a:pPr>
            <a:r>
              <a:t>XIN TRÂN TRỌNG CẢM ƠN THẦY VÀ CÁC BẠN ĐÃ THEO DÕI!</a:t>
            </a:r>
            <a:br/>
            <a:r>
              <a:t>Nhóm WNC.G01 sẵn sàng lắng nghe câu hỏi và nhận xét từ giảng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