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05840"/>
            <a:ext cx="10362895" cy="4754880"/>
          </a:xfrm>
          <a:prstGeom prst="rect">
            <a:avLst/>
          </a:prstGeom>
          <a:noFill/>
        </p:spPr>
        <p:txBody>
          <a:bodyPr wrap="square">
            <a:spAutoFit/>
          </a:bodyPr>
          <a:lstStyle/>
          <a:p>
            <a:pPr>
              <a:defRPr sz="1400" b="1">
                <a:solidFill>
                  <a:srgbClr val="94A3B8"/>
                </a:solidFill>
              </a:defRPr>
            </a:pPr>
            <a:r>
              <a:t>TRƯỜNG ĐẠI HỌC MỞ HÀ NỘI — KHOA CÔNG NGHỆ THÔNG TIN</a:t>
            </a:r>
          </a:p>
          <a:p>
            <a:pPr>
              <a:spcBef>
                <a:spcPts val="1400"/>
              </a:spcBef>
              <a:defRPr sz="1700" b="1">
                <a:solidFill>
                  <a:srgbClr val="E11D48"/>
                </a:solidFill>
              </a:defRPr>
            </a:pPr>
            <a:r>
              <a:t>BÁO CÁO THỰC NGHIỆM AN TOÀN WEB &amp; BẢO MẬT HỆ THỐNG</a:t>
            </a:r>
          </a:p>
          <a:p>
            <a:pPr>
              <a:spcBef>
                <a:spcPts val="800"/>
              </a:spcBef>
              <a:defRPr sz="2600" b="1">
                <a:solidFill>
                  <a:srgbClr val="FFFFFF"/>
                </a:solidFill>
              </a:defRPr>
            </a:pPr>
            <a:r>
              <a:t>LỖ HỔNG SQL INJECTION (OWASP A03:2021)</a:t>
            </a:r>
            <a:br/>
            <a:r>
              <a:t>Kịch Bản Khai Thác Thực Tế &amp; Cơ Chế Phòng Thủ Trong ASP.NET Core</a:t>
            </a:r>
          </a:p>
          <a:p>
            <a:pPr>
              <a:spcBef>
                <a:spcPts val="1800"/>
              </a:spcBef>
              <a:defRPr sz="1400">
                <a:solidFill>
                  <a:srgbClr val="CBD5E1"/>
                </a:solidFill>
              </a:defRPr>
            </a:pPr>
            <a:r>
              <a:t>Giảng viên hướng dẫn: ThS. Lê Hữu Dũng | Học phần: Lập trình Web nâng cao</a:t>
            </a:r>
          </a:p>
          <a:p>
            <a:pPr>
              <a:spcBef>
                <a:spcPts val="1400"/>
              </a:spcBef>
              <a:defRPr sz="1300">
                <a:solidFill>
                  <a:srgbClr val="94A3B8"/>
                </a:solidFill>
              </a:defRPr>
            </a:pPr>
            <a:r>
              <a:t>Nhóm sinh viên thực hiện (WNC.G01):</a:t>
            </a:r>
            <a:br/>
            <a:r>
              <a:t>1. Nguyễn Danh Học  — MSV: 23A1001D0158 (Báo cáo &amp; Phụ trách demo chính)</a:t>
            </a:r>
            <a:br/>
            <a:r>
              <a:t>2. Nguyễn Thanh Bình — MSV: 23A1001D0041</a:t>
            </a:r>
            <a:br/>
            <a:r>
              <a:t>3. Nguyễn Minh Cường — MSV: 23A1001D0058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1. Bản Chất Kỹ Thuật Của Lỗ Hổng SQL Injection</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234440"/>
            <a:ext cx="5120640" cy="4937760"/>
          </a:xfrm>
          <a:prstGeom prst="rect">
            <a:avLst/>
          </a:prstGeom>
          <a:noFill/>
        </p:spPr>
        <p:txBody>
          <a:bodyPr wrap="square">
            <a:spAutoFit/>
          </a:bodyPr>
          <a:lstStyle/>
          <a:p>
            <a:pPr>
              <a:defRPr sz="1600" b="1">
                <a:solidFill>
                  <a:srgbClr val="E11D48"/>
                </a:solidFill>
              </a:defRPr>
            </a:pPr>
            <a:r>
              <a:t>Nguyên Nhân Cốt Lõi</a:t>
            </a:r>
          </a:p>
          <a:p>
            <a:pPr>
              <a:spcBef>
                <a:spcPts val="800"/>
              </a:spcBef>
              <a:defRPr sz="1300">
                <a:solidFill>
                  <a:srgbClr val="1E293B"/>
                </a:solidFill>
              </a:defRPr>
            </a:pPr>
            <a:r>
              <a:t>• Không phân tách giữa DỮ LIỆU (Data) và CÂU LỆNH (Code).</a:t>
            </a:r>
            <a:br/>
            <a:r>
              <a:t>• Ghép chuỗi trực tiếp từ Request vào câu lệnh SQL khiến hệ CSDL không phân biệt được đâu là dữ liệu của user và đâu là cấu trúc lệnh của lập trình viên.</a:t>
            </a:r>
            <a:br/>
            <a:r>
              <a:t>• Kẻ tấn công lợi dụng các ký tự điều khiển (', --, /*, ;) để 'thoát' khỏi ngữ cảnh dữ liệu và ép SQL Server thực thi logic của hacker.</a:t>
            </a:r>
          </a:p>
          <a:p>
            <a:pPr>
              <a:spcBef>
                <a:spcPts val="1600"/>
              </a:spcBef>
              <a:defRPr sz="1600" b="1">
                <a:solidFill>
                  <a:srgbClr val="2563EB"/>
                </a:solidFill>
              </a:defRPr>
            </a:pPr>
            <a:r>
              <a:t>Phân Loại Theo Chuẩn OWASP WSTG</a:t>
            </a:r>
          </a:p>
          <a:p>
            <a:pPr>
              <a:spcBef>
                <a:spcPts val="600"/>
              </a:spcBef>
              <a:defRPr sz="1250">
                <a:solidFill>
                  <a:srgbClr val="1E293B"/>
                </a:solidFill>
              </a:defRPr>
            </a:pPr>
            <a:r>
              <a:t>1. In-band SQLi (Khai thác trực diện): Error-based, Union-based.</a:t>
            </a:r>
            <a:br/>
            <a:r>
              <a:t>2. Inferential SQLi (Blind SQLi / Mù): Boolean-based, Time-based.</a:t>
            </a:r>
            <a:br/>
            <a:r>
              <a:t>3. Out-of-band SQLi: Kích hoạt DNS/HTTP request từ CSDL.</a:t>
            </a:r>
          </a:p>
        </p:txBody>
      </p:sp>
      <p:sp>
        <p:nvSpPr>
          <p:cNvPr id="6" name="Rounded Rectangle 5"/>
          <p:cNvSpPr/>
          <p:nvPr/>
        </p:nvSpPr>
        <p:spPr>
          <a:xfrm>
            <a:off x="6217920" y="1234440"/>
            <a:ext cx="521208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371600"/>
            <a:ext cx="4846320" cy="4572000"/>
          </a:xfrm>
          <a:prstGeom prst="rect">
            <a:avLst/>
          </a:prstGeom>
          <a:noFill/>
        </p:spPr>
        <p:txBody>
          <a:bodyPr wrap="square">
            <a:spAutoFit/>
          </a:bodyPr>
          <a:lstStyle/>
          <a:p>
            <a:pPr>
              <a:defRPr sz="1400" b="1">
                <a:solidFill>
                  <a:srgbClr val="E11D48"/>
                </a:solidFill>
              </a:defRPr>
            </a:pPr>
            <a:r>
              <a:t>Đoạn Code Gây Lỗi Cụ Thể (C# / ASP.NET Core)</a:t>
            </a:r>
          </a:p>
          <a:p>
            <a:pPr>
              <a:spcBef>
                <a:spcPts val="800"/>
              </a:spcBef>
              <a:defRPr sz="1100">
                <a:solidFill>
                  <a:srgbClr val="B91C1C"/>
                </a:solidFill>
                <a:latin typeface="Courier New"/>
              </a:defRPr>
            </a:pPr>
            <a:r>
              <a:t>// Nối chuỗi trực tiếp từ Request:</a:t>
            </a:r>
            <a:br/>
            <a:r>
              <a:t>string query = $"SELECT * FROM Accounts " +</a:t>
            </a:r>
            <a:br/>
            <a:r>
              <a:t>               $"WHERE Username = '{user}' " +</a:t>
            </a:r>
            <a:br/>
            <a:r>
              <a:t>               $"AND Password = '{pass}'";</a:t>
            </a:r>
            <a:br/>
            <a:br/>
            <a:r>
              <a:t>var users = _context.Accounts</a:t>
            </a:r>
            <a:br/>
            <a:r>
              <a:t>                    .FromSqlRaw(query)</a:t>
            </a:r>
            <a:br/>
            <a:r>
              <a:t>                    .ToList();</a:t>
            </a:r>
          </a:p>
          <a:p>
            <a:pPr>
              <a:spcBef>
                <a:spcPts val="1400"/>
              </a:spcBef>
              <a:defRPr sz="1300" b="1">
                <a:solidFill>
                  <a:srgbClr val="1E293B"/>
                </a:solidFill>
              </a:defRPr>
            </a:pPr>
            <a:r>
              <a:t>⚠️ Điểm mù nguy hiểm:</a:t>
            </a:r>
          </a:p>
          <a:p>
            <a:pPr>
              <a:spcBef>
                <a:spcPts val="400"/>
              </a:spcBef>
              <a:defRPr sz="1200">
                <a:solidFill>
                  <a:srgbClr val="64748B"/>
                </a:solidFill>
              </a:defRPr>
            </a:pPr>
            <a:r>
              <a:t>Lập trình viên mặc định tin rằng '{user}' chỉ là chuỗi thông thường. Khi hacker truyền vào ký tự nháy đơn ('), toàn bộ cấu trúc cú pháp của câu lệnh bị bẻ gãy.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2. Độ Nguy Hiểm Thực Tế Của SQL Injection (Tác Động Nghiêm Trọng)</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80160"/>
            <a:ext cx="3291840" cy="4846320"/>
          </a:xfrm>
          <a:prstGeom prst="roundRect">
            <a:avLst/>
          </a:prstGeom>
          <a:solidFill>
            <a:srgbClr val="FFF1F2"/>
          </a:solidFill>
          <a:ln>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3017520" cy="4480560"/>
          </a:xfrm>
          <a:prstGeom prst="rect">
            <a:avLst/>
          </a:prstGeom>
          <a:noFill/>
        </p:spPr>
        <p:txBody>
          <a:bodyPr wrap="square">
            <a:spAutoFit/>
          </a:bodyPr>
          <a:lstStyle/>
          <a:p>
            <a:pPr>
              <a:defRPr sz="1400" b="1">
                <a:solidFill>
                  <a:srgbClr val="E11D48"/>
                </a:solidFill>
              </a:defRPr>
            </a:pPr>
            <a:r>
              <a:t>🚨 CHIẾM QUYỀN HỆ THỐNG</a:t>
            </a:r>
            <a:br/>
            <a:r>
              <a:t>(Authentication Bypass)</a:t>
            </a:r>
          </a:p>
          <a:p>
            <a:pPr>
              <a:spcBef>
                <a:spcPts val="1000"/>
              </a:spcBef>
              <a:defRPr sz="1200">
                <a:solidFill>
                  <a:srgbClr val="1E293B"/>
                </a:solidFill>
              </a:defRPr>
            </a:pPr>
            <a:r>
              <a:t>• Không cần biết mật khẩu của bất kỳ ai.</a:t>
            </a:r>
            <a:br/>
            <a:r>
              <a:t>• Chỉ với 1 chuỗi payload ngắn, kẻ tấn công đăng nhập thẳng vào tài khoản Quản trị viên (Admin).</a:t>
            </a:r>
            <a:br/>
            <a:r>
              <a:t>• Chiếm đoạt phiên làm việc, thay đổi phân quyền và khóa tài khoản người dùng khác.</a:t>
            </a:r>
          </a:p>
        </p:txBody>
      </p:sp>
      <p:sp>
        <p:nvSpPr>
          <p:cNvPr id="7" name="Rounded Rectangle 6"/>
          <p:cNvSpPr/>
          <p:nvPr/>
        </p:nvSpPr>
        <p:spPr>
          <a:xfrm>
            <a:off x="4389120" y="1280160"/>
            <a:ext cx="3291840" cy="4846320"/>
          </a:xfrm>
          <a:prstGeom prst="roundRect">
            <a:avLst/>
          </a:prstGeom>
          <a:solidFill>
            <a:srgbClr val="FFFBEB"/>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463040"/>
            <a:ext cx="3017520" cy="4480560"/>
          </a:xfrm>
          <a:prstGeom prst="rect">
            <a:avLst/>
          </a:prstGeom>
          <a:noFill/>
        </p:spPr>
        <p:txBody>
          <a:bodyPr wrap="square">
            <a:spAutoFit/>
          </a:bodyPr>
          <a:lstStyle/>
          <a:p>
            <a:pPr>
              <a:defRPr sz="1400" b="1">
                <a:solidFill>
                  <a:srgbClr val="D97706"/>
                </a:solidFill>
              </a:defRPr>
            </a:pPr>
            <a:r>
              <a:t>📂 ĐÁNH CẮP TOÀN BỘ CSDL</a:t>
            </a:r>
            <a:br/>
            <a:r>
              <a:t>(Data Exfiltration)</a:t>
            </a:r>
          </a:p>
          <a:p>
            <a:pPr>
              <a:spcBef>
                <a:spcPts val="1000"/>
              </a:spcBef>
              <a:defRPr sz="1200">
                <a:solidFill>
                  <a:srgbClr val="1E293B"/>
                </a:solidFill>
              </a:defRPr>
            </a:pPr>
            <a:r>
              <a:t>• Trích xuất thông tin khách hàng, hồ sơ chuyên gia, số dư tài khoản ngân hàng.</a:t>
            </a:r>
            <a:br/>
            <a:r>
              <a:t>• Rò rỉ mật khẩu và ghi chú bảo mật cá nhân (Secret Notes).</a:t>
            </a:r>
            <a:br/>
            <a:r>
              <a:t>• Vi phạm nghiêm trọng luật an ninh mạng, làm sụp đổ hoàn toàn uy tín nền tảng.</a:t>
            </a:r>
          </a:p>
        </p:txBody>
      </p:sp>
      <p:sp>
        <p:nvSpPr>
          <p:cNvPr id="9" name="Rounded Rectangle 8"/>
          <p:cNvSpPr/>
          <p:nvPr/>
        </p:nvSpPr>
        <p:spPr>
          <a:xfrm>
            <a:off x="8046720" y="1280160"/>
            <a:ext cx="3291840" cy="4846320"/>
          </a:xfrm>
          <a:prstGeom prst="roundRect">
            <a:avLst/>
          </a:prstGeom>
          <a:solidFill>
            <a:srgbClr val="EFF6FF"/>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463040"/>
            <a:ext cx="3017520" cy="4480560"/>
          </a:xfrm>
          <a:prstGeom prst="rect">
            <a:avLst/>
          </a:prstGeom>
          <a:noFill/>
        </p:spPr>
        <p:txBody>
          <a:bodyPr wrap="square">
            <a:spAutoFit/>
          </a:bodyPr>
          <a:lstStyle/>
          <a:p>
            <a:pPr>
              <a:defRPr sz="1400" b="1">
                <a:solidFill>
                  <a:srgbClr val="0F172A"/>
                </a:solidFill>
              </a:defRPr>
            </a:pPr>
            <a:r>
              <a:t>💣 PHÁ HỦY / THỰC THI LỆNH</a:t>
            </a:r>
            <a:br/>
            <a:r>
              <a:t>(System Takeover)</a:t>
            </a:r>
          </a:p>
          <a:p>
            <a:pPr>
              <a:spcBef>
                <a:spcPts val="1000"/>
              </a:spcBef>
              <a:defRPr sz="1200">
                <a:solidFill>
                  <a:srgbClr val="1E293B"/>
                </a:solidFill>
              </a:defRPr>
            </a:pPr>
            <a:r>
              <a:t>• Xóa sổ dữ liệu với lệnh DROP TABLE hoặc TRUNCATE.</a:t>
            </a:r>
            <a:br/>
            <a:r>
              <a:t>• Sửa đổi dữ liệu, giả mạo giao dịch tài chính.</a:t>
            </a:r>
            <a:br/>
            <a:r>
              <a:t>• Có thể kích hoạt quyền thực thi lệnh hệ điều hành (xp_cmdshell) nếu CSDL cấu hình lỏng lẻo.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3. Kịch Bản Tấn Công: Phân Tích Cơ Chế Bẻ Gãy Cú Pháp SQL</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234440"/>
            <a:ext cx="10698480" cy="4937760"/>
          </a:xfrm>
          <a:prstGeom prst="rect">
            <a:avLst/>
          </a:prstGeom>
          <a:noFill/>
        </p:spPr>
        <p:txBody>
          <a:bodyPr wrap="square">
            <a:spAutoFit/>
          </a:bodyPr>
          <a:lstStyle/>
          <a:p>
            <a:pPr>
              <a:defRPr sz="1600" b="1">
                <a:solidFill>
                  <a:srgbClr val="E11D48"/>
                </a:solidFill>
              </a:defRPr>
            </a:pPr>
            <a:r>
              <a:t>Kịch bản: Vượt qua xác thực đăng nhập (Authentication Bypass)</a:t>
            </a:r>
          </a:p>
          <a:p>
            <a:pPr>
              <a:spcBef>
                <a:spcPts val="800"/>
              </a:spcBef>
              <a:defRPr sz="1300" b="1">
                <a:solidFill>
                  <a:srgbClr val="2563EB"/>
                </a:solidFill>
                <a:latin typeface="Courier New"/>
              </a:defRPr>
            </a:pPr>
            <a:r>
              <a:t>Payload đưa vào Username:   ' OR '1'='1' --</a:t>
            </a:r>
            <a:br/>
            <a:r>
              <a:t>Mật khẩu đưa vào Password: (Nhập bất kỳ hoặc để trống)</a:t>
            </a:r>
          </a:p>
          <a:p>
            <a:pPr>
              <a:spcBef>
                <a:spcPts val="1400"/>
              </a:spcBef>
              <a:defRPr sz="1500" b="1">
                <a:solidFill>
                  <a:srgbClr val="1E293B"/>
                </a:solidFill>
              </a:defRPr>
            </a:pPr>
            <a:r>
              <a:t>Cấu trúc câu truy vấn được SQL Server phân tích cú pháp:</a:t>
            </a:r>
          </a:p>
          <a:p>
            <a:pPr>
              <a:spcBef>
                <a:spcPts val="600"/>
              </a:spcBef>
              <a:defRPr sz="1350" b="1">
                <a:solidFill>
                  <a:srgbClr val="E11D48"/>
                </a:solidFill>
                <a:latin typeface="Courier New"/>
              </a:defRPr>
            </a:pPr>
            <a:r>
              <a:t>SELECT * FROM Accounts WHERE Username = '' OR '1'='1' --' AND Password = 'xyz'</a:t>
            </a:r>
          </a:p>
          <a:p>
            <a:pPr>
              <a:spcBef>
                <a:spcPts val="1400"/>
              </a:spcBef>
              <a:defRPr sz="1500" b="1">
                <a:solidFill>
                  <a:srgbClr val="1E293B"/>
                </a:solidFill>
              </a:defRPr>
            </a:pPr>
            <a:r>
              <a:t>3 Thành Phần Cốt Lõi Của Chuỗi Khai Thác:</a:t>
            </a:r>
          </a:p>
          <a:p>
            <a:pPr>
              <a:spcBef>
                <a:spcPts val="600"/>
              </a:spcBef>
              <a:defRPr sz="1250">
                <a:solidFill>
                  <a:srgbClr val="1E293B"/>
                </a:solidFill>
              </a:defRPr>
            </a:pPr>
            <a:r>
              <a:t>1. Dấu nháy đơn (') : Đóng sớm chuỗi ký tự hợp lệ của trường Username, đưa ngữ cảnh về câu lệnh SQL.</a:t>
            </a:r>
            <a:br/>
            <a:r>
              <a:t>2. Mệnh đề OR '1'='1' : Mệnh đề chân lý logic. Vì '1'='1' luôn đúng, mệnh đề WHERE trả về TRUE cho toàn bộ bản ghi trong bảng.</a:t>
            </a:r>
            <a:br/>
            <a:r>
              <a:t>3. Ký tự chú thích (--) : Biến toàn bộ đoạn kiểm tra mật khẩu phía sau thành chú thích vô hiệu lực.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4. Đối Chứng Thực Nghiệm: Nhánh Dính Lỗi vs Nhánh Đã Phòng Thủ</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34440"/>
            <a:ext cx="5166360" cy="3931920"/>
          </a:xfrm>
          <a:prstGeom prst="roundRect">
            <a:avLst/>
          </a:prstGeom>
          <a:solidFill>
            <a:srgbClr val="FFF1F2"/>
          </a:solidFill>
          <a:ln>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25880"/>
            <a:ext cx="4892040" cy="3657600"/>
          </a:xfrm>
          <a:prstGeom prst="rect">
            <a:avLst/>
          </a:prstGeom>
          <a:noFill/>
        </p:spPr>
        <p:txBody>
          <a:bodyPr wrap="square">
            <a:spAutoFit/>
          </a:bodyPr>
          <a:lstStyle/>
          <a:p>
            <a:pPr>
              <a:defRPr sz="1400" b="1">
                <a:solidFill>
                  <a:srgbClr val="E11D48"/>
                </a:solidFill>
              </a:defRPr>
            </a:pPr>
            <a:r>
              <a:t>❌ 1. NHÁNH BỊ LỖI (Nối Chuỗi SQL Thuần)</a:t>
            </a:r>
          </a:p>
          <a:p>
            <a:pPr>
              <a:spcBef>
                <a:spcPts val="800"/>
              </a:spcBef>
              <a:defRPr sz="1200">
                <a:solidFill>
                  <a:srgbClr val="1E293B"/>
                </a:solidFill>
              </a:defRPr>
            </a:pPr>
            <a:r>
              <a:t>• Payload thử nghiệm: ' OR '1'='1' --</a:t>
            </a:r>
            <a:br/>
            <a:r>
              <a:t>• Câu lệnh thực thi:</a:t>
            </a:r>
            <a:br/>
            <a:r>
              <a:t>  SELECT * FROM Accounts WHERE Username = '' OR '1'='1' --'</a:t>
            </a:r>
            <a:br/>
            <a:r>
              <a:t>• Cơ chế thông dịch: Điều kiện WHERE luôn TRUE.</a:t>
            </a:r>
            <a:br/>
            <a:r>
              <a:t>• Hậu quả thực tế:</a:t>
            </a:r>
            <a:br/>
            <a:r>
              <a:t>  - Đăng nhập thành công mà KHÔNG CẦN mật khẩu.</a:t>
            </a:r>
            <a:br/>
            <a:r>
              <a:t>  - Rò rỉ toàn bộ 4 tài khoản trong CSDL (Admin, Specialist, Customer).</a:t>
            </a:r>
            <a:br/>
            <a:r>
              <a:t>  - Lộ mật khẩu gốc và số dư tài khoản ngân hàng.</a:t>
            </a:r>
          </a:p>
        </p:txBody>
      </p:sp>
      <p:sp>
        <p:nvSpPr>
          <p:cNvPr id="7" name="Rounded Rectangle 6"/>
          <p:cNvSpPr/>
          <p:nvPr/>
        </p:nvSpPr>
        <p:spPr>
          <a:xfrm>
            <a:off x="6263640" y="1234440"/>
            <a:ext cx="5166360" cy="3931920"/>
          </a:xfrm>
          <a:prstGeom prst="roundRect">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25880"/>
            <a:ext cx="4892040" cy="3657600"/>
          </a:xfrm>
          <a:prstGeom prst="rect">
            <a:avLst/>
          </a:prstGeom>
          <a:noFill/>
        </p:spPr>
        <p:txBody>
          <a:bodyPr wrap="square">
            <a:spAutoFit/>
          </a:bodyPr>
          <a:lstStyle/>
          <a:p>
            <a:pPr>
              <a:defRPr sz="1400" b="1">
                <a:solidFill>
                  <a:srgbClr val="10B981"/>
                </a:solidFill>
              </a:defRPr>
            </a:pPr>
            <a:r>
              <a:t>✅ 2. NHÁNH AN TOÀN (EF Core Parameterized)</a:t>
            </a:r>
          </a:p>
          <a:p>
            <a:pPr>
              <a:spcBef>
                <a:spcPts val="800"/>
              </a:spcBef>
              <a:defRPr sz="1200">
                <a:solidFill>
                  <a:srgbClr val="1E293B"/>
                </a:solidFill>
              </a:defRPr>
            </a:pPr>
            <a:r>
              <a:t>• Cùng Payload thử nghiệm: ' OR '1'='1' --</a:t>
            </a:r>
            <a:br/>
            <a:r>
              <a:t>• Câu lệnh thực thi:</a:t>
            </a:r>
            <a:br/>
            <a:r>
              <a:t>  SELECT * FROM Accounts WHERE Username = @p0 AND Pass = @p1</a:t>
            </a:r>
            <a:br/>
            <a:r>
              <a:t>• Cơ chế thông dịch:</a:t>
            </a:r>
            <a:br/>
            <a:r>
              <a:t>  - CSDL biên dịch cây truy vấn (Execution Plan) TRƯỚC.</a:t>
            </a:r>
            <a:br/>
            <a:r>
              <a:t>  - Toàn bộ chuỗi payload được coi là String Literal thuần túy.</a:t>
            </a:r>
            <a:br/>
            <a:r>
              <a:t>• Kết quả phòng thủ:</a:t>
            </a:r>
            <a:br/>
            <a:r>
              <a:t>  - Hệ thống chặn đứng, trả về 0 bản ghi.</a:t>
            </a:r>
            <a:br/>
            <a:r>
              <a:t>  - Báo lỗi 'Sai tài khoản/mật khẩu', bảo vệ an toàn 100%.</a:t>
            </a:r>
          </a:p>
        </p:txBody>
      </p:sp>
      <p:sp>
        <p:nvSpPr>
          <p:cNvPr id="9" name="Rounded Rectangle 8"/>
          <p:cNvSpPr/>
          <p:nvPr/>
        </p:nvSpPr>
        <p:spPr>
          <a:xfrm>
            <a:off x="731520" y="5303520"/>
            <a:ext cx="10698480" cy="914400"/>
          </a:xfrm>
          <a:prstGeom prst="roundRect">
            <a:avLst/>
          </a:prstGeom>
          <a:solidFill>
            <a:srgbClr val="1E293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49240"/>
            <a:ext cx="10332720" cy="822960"/>
          </a:xfrm>
          <a:prstGeom prst="rect">
            <a:avLst/>
          </a:prstGeom>
          <a:noFill/>
        </p:spPr>
        <p:txBody>
          <a:bodyPr wrap="square">
            <a:spAutoFit/>
          </a:bodyPr>
          <a:lstStyle/>
          <a:p>
            <a:pPr>
              <a:defRPr sz="1300" b="1">
                <a:solidFill>
                  <a:srgbClr val="38BDF8"/>
                </a:solidFill>
              </a:defRPr>
            </a:pPr>
            <a:r>
              <a:t>💻 [LIVE DEMO TRÊN MÁY]: Chuyển sang Trình duyệt Web (http://localhost:5076) &amp; VS Code</a:t>
            </a:r>
          </a:p>
          <a:p>
            <a:pPr>
              <a:spcBef>
                <a:spcPts val="200"/>
              </a:spcBef>
              <a:defRPr sz="1150">
                <a:solidFill>
                  <a:srgbClr val="FFFFFF"/>
                </a:solidFill>
              </a:defRPr>
            </a:pPr>
            <a:r>
              <a:t>Trình diễn trực tiếp 3 bước: Bấm nạp payload → Kiểm tra kết quả trả về → Đối chiếu Log SQL Server.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5. Đối Chứng Tầng Sâu: Tầng API (cURL) &amp; Microsoft SQL Server 2025</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34440"/>
            <a:ext cx="5166360" cy="39319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4800600" cy="3657600"/>
          </a:xfrm>
          <a:prstGeom prst="rect">
            <a:avLst/>
          </a:prstGeom>
          <a:noFill/>
        </p:spPr>
        <p:txBody>
          <a:bodyPr wrap="square">
            <a:spAutoFit/>
          </a:bodyPr>
          <a:lstStyle/>
          <a:p>
            <a:pPr>
              <a:defRPr sz="1400" b="1">
                <a:solidFill>
                  <a:srgbClr val="2563EB"/>
                </a:solidFill>
              </a:defRPr>
            </a:pPr>
            <a:r>
              <a:t>Minh Chứng Tầng API / Dòng Lệnh (cURL)</a:t>
            </a:r>
          </a:p>
          <a:p>
            <a:pPr>
              <a:spcBef>
                <a:spcPts val="600"/>
              </a:spcBef>
              <a:defRPr sz="1000">
                <a:solidFill>
                  <a:srgbClr val="1E293B"/>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4 tài khoản bị rò rỉ ... ]</a:t>
            </a:r>
            <a:br/>
            <a:r>
              <a:t>}</a:t>
            </a:r>
          </a:p>
          <a:p>
            <a:pPr>
              <a:spcBef>
                <a:spcPts val="800"/>
              </a:spcBef>
              <a:defRPr sz="1150">
                <a:solidFill>
                  <a:srgbClr val="64748B"/>
                </a:solidFill>
              </a:defRPr>
            </a:pPr>
            <a:r>
              <a:t>📌 Ý nghĩa: Chứng minh lỗ hổng nằm hoàn toàn ở logic C# Backend, kẻ tấn công có thể dùng script tự động quét và khai thác mà không cần mở trình duyệt.</a:t>
            </a:r>
          </a:p>
        </p:txBody>
      </p:sp>
      <p:sp>
        <p:nvSpPr>
          <p:cNvPr id="7" name="Rounded Rectangle 6"/>
          <p:cNvSpPr/>
          <p:nvPr/>
        </p:nvSpPr>
        <p:spPr>
          <a:xfrm>
            <a:off x="6263640" y="1234440"/>
            <a:ext cx="5166360" cy="39319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4800600" cy="3657600"/>
          </a:xfrm>
          <a:prstGeom prst="rect">
            <a:avLst/>
          </a:prstGeom>
          <a:noFill/>
        </p:spPr>
        <p:txBody>
          <a:bodyPr wrap="square">
            <a:spAutoFit/>
          </a:bodyPr>
          <a:lstStyle/>
          <a:p>
            <a:pPr>
              <a:defRPr sz="1400" b="1">
                <a:solidFill>
                  <a:srgbClr val="10B981"/>
                </a:solidFill>
              </a:defRPr>
            </a:pPr>
            <a:r>
              <a:t>Minh Chứng Tầng CSDL (SQL Server 2025)</a:t>
            </a:r>
          </a:p>
          <a:p>
            <a:pPr>
              <a:spcBef>
                <a:spcPts val="600"/>
              </a:spcBef>
              <a:defRPr sz="1000">
                <a:solidFill>
                  <a:srgbClr val="1E293B"/>
                </a:solidFill>
                <a:latin typeface="Courier New"/>
              </a:defRPr>
            </a:pPr>
            <a:r>
              <a:t>-- Database: OwaspDemoDB | Bảng: dbo.Accounts</a:t>
            </a:r>
            <a:br/>
            <a:r>
              <a:t>-- 1. Câu lệnh dính lỗi:</a:t>
            </a:r>
            <a:br/>
            <a:r>
              <a:t>SELECT * FROM Accounts WHERE Username='' OR '1'='1' --'</a:t>
            </a:r>
            <a:br/>
            <a:r>
              <a:t>&gt;&gt; Kết quả: 4 rows returned (Bypass thành công)</a:t>
            </a:r>
            <a:br/>
            <a:br/>
            <a:r>
              <a:t>-- 2. Câu lệnh tham số hóa chuẩn:</a:t>
            </a:r>
            <a:br/>
            <a:r>
              <a:t>EXEC sp_executesql N'SELECT * FROM Accounts WHERE...',</a:t>
            </a:r>
            <a:br/>
            <a:r>
              <a:t>     N'@p0 nvarchar(50)', @p0 = N''' OR ''1''=''1'' --'</a:t>
            </a:r>
            <a:br/>
            <a:r>
              <a:t>&gt;&gt; Kết quả: 0 rows returned (An toàn 100%)</a:t>
            </a:r>
          </a:p>
          <a:p>
            <a:pPr>
              <a:spcBef>
                <a:spcPts val="800"/>
              </a:spcBef>
              <a:defRPr sz="1150">
                <a:solidFill>
                  <a:srgbClr val="64748B"/>
                </a:solidFill>
              </a:defRPr>
            </a:pPr>
            <a:r>
              <a:t>📌 Ý nghĩa: Đối chiếu trực tiếp trên máy chủ SQL Server 2025 chứng minh cơ chế phân tách rạch ròi giữa cú pháp lệnh và tham số giá trị.</a:t>
            </a:r>
          </a:p>
        </p:txBody>
      </p:sp>
      <p:sp>
        <p:nvSpPr>
          <p:cNvPr id="9" name="Rounded Rectangle 8"/>
          <p:cNvSpPr/>
          <p:nvPr/>
        </p:nvSpPr>
        <p:spPr>
          <a:xfrm>
            <a:off x="731520" y="5303520"/>
            <a:ext cx="10698480" cy="9144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49240"/>
            <a:ext cx="10332720" cy="822960"/>
          </a:xfrm>
          <a:prstGeom prst="rect">
            <a:avLst/>
          </a:prstGeom>
          <a:noFill/>
        </p:spPr>
        <p:txBody>
          <a:bodyPr wrap="square">
            <a:spAutoFit/>
          </a:bodyPr>
          <a:lstStyle/>
          <a:p>
            <a:pPr>
              <a:defRPr sz="1300" b="1">
                <a:solidFill>
                  <a:srgbClr val="4ADE80"/>
                </a:solidFill>
              </a:defRPr>
            </a:pPr>
            <a:r>
              <a:t>🗄️ [LIVE DEMO TRÊN MÁY]: Chuyển sang VS Code mở bảng dbo.Accounts &amp; file verify_sql_server.sql</a:t>
            </a:r>
          </a:p>
          <a:p>
            <a:pPr>
              <a:spcBef>
                <a:spcPts val="200"/>
              </a:spcBef>
              <a:defRPr sz="1150">
                <a:solidFill>
                  <a:srgbClr val="FFFFFF"/>
                </a:solidFill>
              </a:defRPr>
            </a:pPr>
            <a:r>
              <a:t>Thao tác trực tiếp: Mở extension MSSQL trên VS Code, đối chiếu bảng dữ liệu gốc và chạy câu query đối chứng.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6. Biện Pháp Phòng Thủ Chuẩn Trong ASP.NET Core MVC</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34440"/>
            <a:ext cx="5212080" cy="4937760"/>
          </a:xfrm>
          <a:prstGeom prst="roundRect">
            <a:avLst/>
          </a:prstGeom>
          <a:solidFill>
            <a:srgbClr val="F8FAFC"/>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4846320" cy="4572000"/>
          </a:xfrm>
          <a:prstGeom prst="rect">
            <a:avLst/>
          </a:prstGeom>
          <a:noFill/>
        </p:spPr>
        <p:txBody>
          <a:bodyPr wrap="square">
            <a:spAutoFit/>
          </a:bodyPr>
          <a:lstStyle/>
          <a:p>
            <a:pPr>
              <a:defRPr sz="1400" b="1">
                <a:solidFill>
                  <a:srgbClr val="10B981"/>
                </a:solidFill>
              </a:defRPr>
            </a:pPr>
            <a:r>
              <a:t>Cách Viết Code Chuẩn Hóa Với EF Core</a:t>
            </a:r>
          </a:p>
          <a:p>
            <a:pPr>
              <a:spcBef>
                <a:spcPts val="800"/>
              </a:spcBef>
              <a:defRPr sz="1000">
                <a:solidFill>
                  <a:srgbClr val="166534"/>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200"/>
              </a:spcBef>
              <a:defRPr sz="1200" b="1">
                <a:solidFill>
                  <a:srgbClr val="1E293B"/>
                </a:solidFill>
              </a:defRPr>
            </a:pPr>
            <a:r>
              <a:t>Tại sao cách này an toàn tuyệt đối?</a:t>
            </a:r>
          </a:p>
          <a:p>
            <a:pPr>
              <a:spcBef>
                <a:spcPts val="400"/>
              </a:spcBef>
              <a:defRPr sz="1150">
                <a:solidFill>
                  <a:srgbClr val="64748B"/>
                </a:solidFill>
              </a:defRPr>
            </a:pPr>
            <a:r>
              <a:t>SQL Server biên dịch cấu trúc lệnh TRƯỚC khi gán dữ liệu. Biến @p0 nhận toàn bộ payload như một chuỗi chữ bình thường, vô hiệu hóa hoàn toàn ý đồ chèn lệnh.</a:t>
            </a:r>
          </a:p>
        </p:txBody>
      </p:sp>
      <p:sp>
        <p:nvSpPr>
          <p:cNvPr id="7" name="TextBox 6"/>
          <p:cNvSpPr txBox="1"/>
          <p:nvPr/>
        </p:nvSpPr>
        <p:spPr>
          <a:xfrm>
            <a:off x="6309360" y="1234440"/>
            <a:ext cx="5120640" cy="4937760"/>
          </a:xfrm>
          <a:prstGeom prst="rect">
            <a:avLst/>
          </a:prstGeom>
          <a:noFill/>
        </p:spPr>
        <p:txBody>
          <a:bodyPr wrap="square">
            <a:spAutoFit/>
          </a:bodyPr>
          <a:lstStyle/>
          <a:p>
            <a:pPr>
              <a:defRPr sz="1500" b="1">
                <a:solidFill>
                  <a:srgbClr val="2563EB"/>
                </a:solidFill>
              </a:defRPr>
            </a:pPr>
            <a:r>
              <a:t>Bộ Quy Tắc Phòng Thủ Toàn Diện (Defense in Depth)</a:t>
            </a:r>
          </a:p>
          <a:p>
            <a:pPr>
              <a:spcBef>
                <a:spcPts val="1000"/>
              </a:spcBef>
              <a:defRPr sz="1200">
                <a:solidFill>
                  <a:srgbClr val="1E293B"/>
                </a:solidFill>
              </a:defRPr>
            </a:pPr>
            <a:r>
              <a:t>1. Luôn sử dụng Parameterized Query / ORM:</a:t>
            </a:r>
            <a:br/>
            <a:r>
              <a:t>Tuyệt đối không ghép chuỗi SQL thủ công dưới bất kỳ hình thức nào.</a:t>
            </a:r>
          </a:p>
          <a:p>
            <a:pPr>
              <a:spcBef>
                <a:spcPts val="800"/>
              </a:spcBef>
              <a:defRPr sz="1200">
                <a:solidFill>
                  <a:srgbClr val="1E293B"/>
                </a:solidFill>
              </a:defRPr>
            </a:pPr>
            <a:r>
              <a:t>2. Nguyên tắc đặc quyền tối thiểu (Least Privilege):</a:t>
            </a:r>
            <a:br/>
            <a:r>
              <a:t>Tài khoản kết nối CSDL của ứng dụng chỉ có quyền SELECT/INSERT/UPDATE trên các bảng cần thiết, không bao giờ dùng tài khoản 'sa' hay quyền DDL (DROP, ALTER).</a:t>
            </a:r>
          </a:p>
          <a:p>
            <a:pPr>
              <a:spcBef>
                <a:spcPts val="800"/>
              </a:spcBef>
              <a:defRPr sz="1200">
                <a:solidFill>
                  <a:srgbClr val="1E293B"/>
                </a:solidFill>
              </a:defRPr>
            </a:pPr>
            <a:r>
              <a:t>3. Xác thực dữ liệu đầu vào (Input Validation):</a:t>
            </a:r>
            <a:br/>
            <a:r>
              <a:t>Sử dụng Data Annotations ([RegularExpression], [StringLength]) kiểm tra chặt chẽ khuôn dạng dữ liệu.</a:t>
            </a:r>
          </a:p>
          <a:p>
            <a:pPr>
              <a:spcBef>
                <a:spcPts val="800"/>
              </a:spcBef>
              <a:defRPr sz="1200">
                <a:solidFill>
                  <a:srgbClr val="1E293B"/>
                </a:solidFill>
              </a:defRPr>
            </a:pP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square">
            <a:spAutoFit/>
          </a:bodyPr>
          <a:lstStyle/>
          <a:p>
            <a:pPr>
              <a:defRPr sz="1100" b="1">
                <a:solidFill>
                  <a:srgbClr val="E11D48"/>
                </a:solidFill>
              </a:defRPr>
            </a:pPr>
            <a:r>
              <a:t>OWASP TOP 10 - A03:2021 (INJECTION)</a:t>
            </a:r>
          </a:p>
          <a:p>
            <a:pPr>
              <a:defRPr sz="1900" b="1">
                <a:solidFill>
                  <a:srgbClr val="FFFFFF"/>
                </a:solidFill>
              </a:defRPr>
            </a:pPr>
            <a:r>
              <a:t>7. Tổng Kết &amp; Bài Học Rút Ra Cho Dự Án Website Tư Vấn Trực Tuyến</a:t>
            </a:r>
          </a:p>
        </p:txBody>
      </p:sp>
      <p:sp>
        <p:nvSpPr>
          <p:cNvPr id="4" name="TextBox 3"/>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914400" y="1371600"/>
            <a:ext cx="10362895" cy="4572000"/>
          </a:xfrm>
          <a:prstGeom prst="rect">
            <a:avLst/>
          </a:prstGeom>
          <a:noFill/>
        </p:spPr>
        <p:txBody>
          <a:bodyPr wrap="square">
            <a:spAutoFit/>
          </a:bodyPr>
          <a:lstStyle/>
          <a:p>
            <a:pPr>
              <a:defRPr sz="1700" b="1">
                <a:solidFill>
                  <a:srgbClr val="E11D48"/>
                </a:solidFill>
              </a:defRPr>
            </a:pPr>
            <a:r>
              <a:t>BÀI HỌC VÀ CAM KẾT CHUẨN AN TOÀN CHO ĐỀ TÀI BTL (WNC.G01):</a:t>
            </a:r>
          </a:p>
          <a:p>
            <a:pPr>
              <a:spcBef>
                <a:spcPts val="1200"/>
              </a:spcBef>
              <a:defRPr sz="1350">
                <a:solidFill>
                  <a:srgbClr val="1E293B"/>
                </a:solidFill>
              </a:defRPr>
            </a:pPr>
            <a:r>
              <a:t>1. Nhận thức an toàn: SQL Injection là lỗ hổng nghiêm trọng ở mức độ CRITICAL (9.8/10 theo CVSS v3.1). Lập trình viên phải luôn coi mọi dữ liệu đầu vào từ người dùng là 'không an toàn'.</a:t>
            </a:r>
          </a:p>
          <a:p>
            <a:pPr>
              <a:spcBef>
                <a:spcPts val="1000"/>
              </a:spcBef>
              <a:defRPr sz="1350">
                <a:solidFill>
                  <a:srgbClr val="1E293B"/>
                </a:solidFill>
              </a:defRPr>
            </a:pPr>
            <a:r>
              <a:t>2. Phòng thủ triệt để: Trong đồ án Website cung cấp dịch vụ tư vấn trực tuyến, nhóm cam kết áp dụng 100% Entity Framework Core Code-First với Parameterized LINQ cho toàn bộ các thao tác đặt lịch, quản lý chuyên gia và đánh giá chất lượng.</a:t>
            </a:r>
          </a:p>
          <a:p>
            <a:pPr>
              <a:spcBef>
                <a:spcPts val="1000"/>
              </a:spcBef>
              <a:defRPr sz="1350">
                <a:solidFill>
                  <a:srgbClr val="1E293B"/>
                </a:solidFill>
              </a:defRPr>
            </a:pPr>
            <a:r>
              <a:t>3. Bảo mật đa tầng (Security View - Buổi 8): Tích hợp chặt chẽ ASP.NET Core Identity để băm mật khẩu, AntiForgeryToken chống CSRF trên toàn bộ form và kiểm soát phân quyền 3 Role (Customer, Specialist, Admin).</a:t>
            </a:r>
          </a:p>
          <a:p>
            <a:pPr>
              <a:spcBef>
                <a:spcPts val="2200"/>
              </a:spcBef>
              <a:defRPr sz="1550" b="1">
                <a:solidFill>
                  <a:srgbClr val="2563EB"/>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